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PowerPoint cannot do a weighted or exclusion-aware draw. This is a spinner, nothing more. If fairness across the year matters, use the HTML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names by clicking each one and typing. Group everything except the hub and the pointer before adding the Spin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names by clicking each one and typing. Group everything except the hub and the pointer before adding the Spin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82296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DELETE THIS SLIDE ONCE YOU'RE SET UP</a:t>
            </a:r>
            <a:endParaRPr lang="en-US" sz="11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6283C"/>
                </a:solidFill>
                <a:latin typeface="Cambria" pitchFamily="34" charset="0"/>
                <a:ea typeface="Cambria" pitchFamily="34" charset="-122"/>
                <a:cs typeface="Cambria" pitchFamily="34" charset="-120"/>
              </a:rPr>
              <a:t>Make the wheels spin — three minutes, once</a:t>
            </a:r>
            <a:endParaRPr lang="en-US" sz="3200" dirty="0"/>
          </a:p>
        </p:txBody>
      </p:sp>
      <p:sp>
        <p:nvSpPr>
          <p:cNvPr id="4" name="Shape 2"/>
          <p:cNvSpPr/>
          <p:nvPr/>
        </p:nvSpPr>
        <p:spPr>
          <a:xfrm>
            <a:off x="566928" y="1389888"/>
            <a:ext cx="11055096" cy="1024128"/>
          </a:xfrm>
          <a:prstGeom prst="roundRect">
            <a:avLst>
              <a:gd name="adj" fmla="val 714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5" name="Shape 3"/>
          <p:cNvSpPr/>
          <p:nvPr/>
        </p:nvSpPr>
        <p:spPr>
          <a:xfrm>
            <a:off x="822960" y="1627632"/>
            <a:ext cx="548640" cy="548640"/>
          </a:xfrm>
          <a:prstGeom prst="ellipse">
            <a:avLst/>
          </a:prstGeom>
          <a:solidFill>
            <a:srgbClr val="16283C"/>
          </a:solidFill>
          <a:ln w="12700">
            <a:solidFill>
              <a:srgbClr val="16283C"/>
            </a:solidFill>
            <a:prstDash val="solid"/>
          </a:ln>
        </p:spPr>
      </p:sp>
      <p:sp>
        <p:nvSpPr>
          <p:cNvPr id="6" name="Text 4"/>
          <p:cNvSpPr/>
          <p:nvPr/>
        </p:nvSpPr>
        <p:spPr>
          <a:xfrm>
            <a:off x="822960" y="16276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72768" y="1490472"/>
            <a:ext cx="2834640" cy="329184"/>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Type your residents' names</a:t>
            </a:r>
            <a:endParaRPr lang="en-US" sz="1450" dirty="0"/>
          </a:p>
        </p:txBody>
      </p:sp>
      <p:sp>
        <p:nvSpPr>
          <p:cNvPr id="8" name="Text 6"/>
          <p:cNvSpPr/>
          <p:nvPr/>
        </p:nvSpPr>
        <p:spPr>
          <a:xfrm>
            <a:off x="1572768" y="1801368"/>
            <a:ext cx="978408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On slides 2 and 3, click any name on the wheel and type over it. The text boxes are already rotated — just replace the words. To change how many wedges there are, tell Claude and it will rebuild the wheel art.</a:t>
            </a:r>
            <a:endParaRPr lang="en-US" sz="1100" dirty="0"/>
          </a:p>
        </p:txBody>
      </p:sp>
      <p:sp>
        <p:nvSpPr>
          <p:cNvPr id="9" name="Shape 7"/>
          <p:cNvSpPr/>
          <p:nvPr/>
        </p:nvSpPr>
        <p:spPr>
          <a:xfrm>
            <a:off x="566928" y="2478024"/>
            <a:ext cx="11055096" cy="1024128"/>
          </a:xfrm>
          <a:prstGeom prst="roundRect">
            <a:avLst>
              <a:gd name="adj" fmla="val 714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0" name="Shape 8"/>
          <p:cNvSpPr/>
          <p:nvPr/>
        </p:nvSpPr>
        <p:spPr>
          <a:xfrm>
            <a:off x="822960" y="2715768"/>
            <a:ext cx="548640" cy="548640"/>
          </a:xfrm>
          <a:prstGeom prst="ellipse">
            <a:avLst/>
          </a:prstGeom>
          <a:solidFill>
            <a:srgbClr val="16283C"/>
          </a:solidFill>
          <a:ln w="12700">
            <a:solidFill>
              <a:srgbClr val="16283C"/>
            </a:solidFill>
            <a:prstDash val="solid"/>
          </a:ln>
        </p:spPr>
      </p:sp>
      <p:sp>
        <p:nvSpPr>
          <p:cNvPr id="11" name="Text 9"/>
          <p:cNvSpPr/>
          <p:nvPr/>
        </p:nvSpPr>
        <p:spPr>
          <a:xfrm>
            <a:off x="822960" y="27157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72768" y="2578608"/>
            <a:ext cx="2834640" cy="329184"/>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Group each wheel</a:t>
            </a:r>
            <a:endParaRPr lang="en-US" sz="1450" dirty="0"/>
          </a:p>
        </p:txBody>
      </p:sp>
      <p:sp>
        <p:nvSpPr>
          <p:cNvPr id="13" name="Text 11"/>
          <p:cNvSpPr/>
          <p:nvPr/>
        </p:nvSpPr>
        <p:spPr>
          <a:xfrm>
            <a:off x="1572768" y="2889504"/>
            <a:ext cx="978408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On slide 2, press Ctrl+A (Cmd+A on Mac), then Ctrl+Shift+G once to release any existing grouping, then click the pointer triangle and the white hub while holding Shift to DESELECT them. Group what's left with Ctrl+G. Repeat on slide 3. The pointer and hub must stay outside the group so they don't spin with it.</a:t>
            </a:r>
            <a:endParaRPr lang="en-US" sz="1100" dirty="0"/>
          </a:p>
        </p:txBody>
      </p:sp>
      <p:sp>
        <p:nvSpPr>
          <p:cNvPr id="14" name="Shape 12"/>
          <p:cNvSpPr/>
          <p:nvPr/>
        </p:nvSpPr>
        <p:spPr>
          <a:xfrm>
            <a:off x="566928" y="3566160"/>
            <a:ext cx="11055096" cy="1024128"/>
          </a:xfrm>
          <a:prstGeom prst="roundRect">
            <a:avLst>
              <a:gd name="adj" fmla="val 714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15" name="Shape 13"/>
          <p:cNvSpPr/>
          <p:nvPr/>
        </p:nvSpPr>
        <p:spPr>
          <a:xfrm>
            <a:off x="822960" y="3803904"/>
            <a:ext cx="548640" cy="548640"/>
          </a:xfrm>
          <a:prstGeom prst="ellipse">
            <a:avLst/>
          </a:prstGeom>
          <a:solidFill>
            <a:srgbClr val="16283C"/>
          </a:solidFill>
          <a:ln w="12700">
            <a:solidFill>
              <a:srgbClr val="16283C"/>
            </a:solidFill>
            <a:prstDash val="solid"/>
          </a:ln>
        </p:spPr>
      </p:sp>
      <p:sp>
        <p:nvSpPr>
          <p:cNvPr id="16" name="Text 14"/>
          <p:cNvSpPr/>
          <p:nvPr/>
        </p:nvSpPr>
        <p:spPr>
          <a:xfrm>
            <a:off x="822960" y="38039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72768" y="3666744"/>
            <a:ext cx="2834640" cy="329184"/>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Add the spin</a:t>
            </a:r>
            <a:endParaRPr lang="en-US" sz="1450" dirty="0"/>
          </a:p>
        </p:txBody>
      </p:sp>
      <p:sp>
        <p:nvSpPr>
          <p:cNvPr id="18" name="Text 16"/>
          <p:cNvSpPr/>
          <p:nvPr/>
        </p:nvSpPr>
        <p:spPr>
          <a:xfrm>
            <a:off x="1572768" y="3977640"/>
            <a:ext cx="978408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With the group selected: Animations tab → Add Animation → Emphasis → Spin. Then Animation Pane → double-click the effect → Timing tab → Duration 1 second, Repeat: Until Next Click. Uncheck "Rewind when done playing" on the Effect tab.</a:t>
            </a:r>
            <a:endParaRPr lang="en-US" sz="1100" dirty="0"/>
          </a:p>
        </p:txBody>
      </p:sp>
      <p:sp>
        <p:nvSpPr>
          <p:cNvPr id="19" name="Shape 17"/>
          <p:cNvSpPr/>
          <p:nvPr/>
        </p:nvSpPr>
        <p:spPr>
          <a:xfrm>
            <a:off x="566928" y="4654296"/>
            <a:ext cx="11055096" cy="1024128"/>
          </a:xfrm>
          <a:prstGeom prst="roundRect">
            <a:avLst>
              <a:gd name="adj" fmla="val 7143"/>
            </a:avLst>
          </a:prstGeom>
          <a:solidFill>
            <a:srgbClr val="EEF2F5"/>
          </a:solidFill>
          <a:ln w="12700">
            <a:solidFill>
              <a:srgbClr val="EEF2F5"/>
            </a:solidFill>
            <a:prstDash val="solid"/>
          </a:ln>
          <a:effectLst>
            <a:outerShdw sx="100000" sy="100000" kx="0" ky="0" algn="bl" rotWithShape="0" blurRad="101600" dist="25400" dir="5400000">
              <a:srgbClr val="9AA7B4">
                <a:alpha val="28000"/>
              </a:srgbClr>
            </a:outerShdw>
          </a:effectLst>
        </p:spPr>
      </p:sp>
      <p:sp>
        <p:nvSpPr>
          <p:cNvPr id="20" name="Shape 18"/>
          <p:cNvSpPr/>
          <p:nvPr/>
        </p:nvSpPr>
        <p:spPr>
          <a:xfrm>
            <a:off x="822960" y="4892040"/>
            <a:ext cx="548640" cy="548640"/>
          </a:xfrm>
          <a:prstGeom prst="ellipse">
            <a:avLst/>
          </a:prstGeom>
          <a:solidFill>
            <a:srgbClr val="16283C"/>
          </a:solidFill>
          <a:ln w="12700">
            <a:solidFill>
              <a:srgbClr val="16283C"/>
            </a:solidFill>
            <a:prstDash val="solid"/>
          </a:ln>
        </p:spPr>
      </p:sp>
      <p:sp>
        <p:nvSpPr>
          <p:cNvPr id="21" name="Text 19"/>
          <p:cNvSpPr/>
          <p:nvPr/>
        </p:nvSpPr>
        <p:spPr>
          <a:xfrm>
            <a:off x="822960" y="48920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72768" y="4754880"/>
            <a:ext cx="2834640" cy="329184"/>
          </a:xfrm>
          <a:prstGeom prst="rect">
            <a:avLst/>
          </a:prstGeom>
          <a:noFill/>
          <a:ln/>
        </p:spPr>
        <p:txBody>
          <a:bodyPr wrap="square" lIns="0" tIns="0" rIns="0" bIns="0" rtlCol="0" anchor="ctr"/>
          <a:lstStyle/>
          <a:p>
            <a:pPr indent="0" marL="0">
              <a:buNone/>
            </a:pPr>
            <a:r>
              <a:rPr lang="en-US" sz="1450" b="1" dirty="0">
                <a:solidFill>
                  <a:srgbClr val="16283C"/>
                </a:solidFill>
                <a:latin typeface="Cambria" pitchFamily="34" charset="0"/>
                <a:ea typeface="Cambria" pitchFamily="34" charset="-122"/>
                <a:cs typeface="Cambria" pitchFamily="34" charset="-120"/>
              </a:rPr>
              <a:t>Run it</a:t>
            </a:r>
            <a:endParaRPr lang="en-US" sz="1450" dirty="0"/>
          </a:p>
        </p:txBody>
      </p:sp>
      <p:sp>
        <p:nvSpPr>
          <p:cNvPr id="23" name="Text 21"/>
          <p:cNvSpPr/>
          <p:nvPr/>
        </p:nvSpPr>
        <p:spPr>
          <a:xfrm>
            <a:off x="1572768" y="5065776"/>
            <a:ext cx="9784080" cy="548640"/>
          </a:xfrm>
          <a:prstGeom prst="rect">
            <a:avLst/>
          </a:prstGeom>
          <a:noFill/>
          <a:ln/>
        </p:spPr>
        <p:txBody>
          <a:bodyPr wrap="square" lIns="0" tIns="0" rIns="0" bIns="0" rtlCol="0" anchor="ctr"/>
          <a:lstStyle/>
          <a:p>
            <a:pPr indent="0" marL="0">
              <a:lnSpc>
                <a:spcPts val="1400"/>
              </a:lnSpc>
              <a:buNone/>
            </a:pPr>
            <a:r>
              <a:rPr lang="en-US" sz="1100" dirty="0">
                <a:solidFill>
                  <a:srgbClr val="3D4855"/>
                </a:solidFill>
                <a:latin typeface="Calibri" pitchFamily="34" charset="0"/>
                <a:ea typeface="Calibri" pitchFamily="34" charset="-122"/>
                <a:cs typeface="Calibri" pitchFamily="34" charset="-120"/>
              </a:rPr>
              <a:t>In Slide Show, click once to start the wheel spinning and click again to stop it. Where it lands depends on when you click, which is what makes it fair. Nobody can time it.</a:t>
            </a:r>
            <a:endParaRPr lang="en-US" sz="1100" dirty="0"/>
          </a:p>
        </p:txBody>
      </p:sp>
      <p:sp>
        <p:nvSpPr>
          <p:cNvPr id="24" name="Shape 22"/>
          <p:cNvSpPr/>
          <p:nvPr/>
        </p:nvSpPr>
        <p:spPr>
          <a:xfrm>
            <a:off x="566928" y="5815584"/>
            <a:ext cx="11055096" cy="914400"/>
          </a:xfrm>
          <a:prstGeom prst="roundRect">
            <a:avLst>
              <a:gd name="adj" fmla="val 8000"/>
            </a:avLst>
          </a:prstGeom>
          <a:solidFill>
            <a:srgbClr val="FBF0DE"/>
          </a:solidFill>
          <a:ln w="12700">
            <a:solidFill>
              <a:srgbClr val="FBF0DE"/>
            </a:solidFill>
            <a:prstDash val="solid"/>
          </a:ln>
          <a:effectLst>
            <a:outerShdw sx="100000" sy="100000" kx="0" ky="0" algn="bl" rotWithShape="0" blurRad="101600" dist="25400" dir="5400000">
              <a:srgbClr val="9AA7B4">
                <a:alpha val="28000"/>
              </a:srgbClr>
            </a:outerShdw>
          </a:effectLst>
        </p:spPr>
      </p:sp>
      <p:sp>
        <p:nvSpPr>
          <p:cNvPr id="25" name="Text 23"/>
          <p:cNvSpPr/>
          <p:nvPr/>
        </p:nvSpPr>
        <p:spPr>
          <a:xfrm>
            <a:off x="868680" y="5961888"/>
            <a:ext cx="1828800" cy="320040"/>
          </a:xfrm>
          <a:prstGeom prst="rect">
            <a:avLst/>
          </a:prstGeom>
          <a:noFill/>
          <a:ln/>
        </p:spPr>
        <p:txBody>
          <a:bodyPr wrap="square" lIns="0" tIns="0" rIns="0" bIns="0" rtlCol="0" anchor="ctr"/>
          <a:lstStyle/>
          <a:p>
            <a:pPr indent="0" marL="0">
              <a:buNone/>
            </a:pPr>
            <a:r>
              <a:rPr lang="en-US" sz="1250" b="1" dirty="0">
                <a:solidFill>
                  <a:srgbClr val="8A6014"/>
                </a:solidFill>
                <a:latin typeface="Calibri" pitchFamily="34" charset="0"/>
                <a:ea typeface="Calibri" pitchFamily="34" charset="-122"/>
                <a:cs typeface="Calibri" pitchFamily="34" charset="-120"/>
              </a:rPr>
              <a:t>Prefer no setup?</a:t>
            </a:r>
            <a:endParaRPr lang="en-US" sz="1250" dirty="0"/>
          </a:p>
        </p:txBody>
      </p:sp>
      <p:sp>
        <p:nvSpPr>
          <p:cNvPr id="26" name="Text 24"/>
          <p:cNvSpPr/>
          <p:nvPr/>
        </p:nvSpPr>
        <p:spPr>
          <a:xfrm>
            <a:off x="2743200" y="5961888"/>
            <a:ext cx="8595360" cy="621792"/>
          </a:xfrm>
          <a:prstGeom prst="rect">
            <a:avLst/>
          </a:prstGeom>
          <a:noFill/>
          <a:ln/>
        </p:spPr>
        <p:txBody>
          <a:bodyPr wrap="square" lIns="0" tIns="0" rIns="0" bIns="0" rtlCol="0" anchor="ctr"/>
          <a:lstStyle/>
          <a:p>
            <a:pPr indent="0" marL="0">
              <a:lnSpc>
                <a:spcPts val="1600"/>
              </a:lnSpc>
              <a:buNone/>
            </a:pPr>
            <a:r>
              <a:rPr lang="en-US" sz="1150" dirty="0">
                <a:solidFill>
                  <a:srgbClr val="4A3520"/>
                </a:solidFill>
                <a:latin typeface="Calibri" pitchFamily="34" charset="0"/>
                <a:ea typeface="Calibri" pitchFamily="34" charset="-122"/>
                <a:cs typeface="Calibri" pitchFamily="34" charset="-120"/>
              </a:rPr>
              <a:t>The browser version (discussant-draw.html) needs no configuration, strikes off names so nobody is drawn twice in a cycle, and lets you bench whoever is post-call. Open it in a tab and share that window instead.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MORNING REPORT · FIRST PASS</a:t>
            </a:r>
            <a:endParaRPr lang="en-US" sz="1100" dirty="0"/>
          </a:p>
        </p:txBody>
      </p:sp>
      <p:sp>
        <p:nvSpPr>
          <p:cNvPr id="3" name="Text 1"/>
          <p:cNvSpPr/>
          <p:nvPr/>
        </p:nvSpPr>
        <p:spPr>
          <a:xfrm>
            <a:off x="548640" y="530352"/>
            <a:ext cx="7680960" cy="566928"/>
          </a:xfrm>
          <a:prstGeom prst="rect">
            <a:avLst/>
          </a:prstGeom>
          <a:noFill/>
          <a:ln/>
        </p:spPr>
        <p:txBody>
          <a:bodyPr wrap="square" lIns="0" tIns="0" rIns="0" bIns="0" rtlCol="0" anchor="ctr"/>
          <a:lstStyle/>
          <a:p>
            <a:pPr indent="0" marL="0">
              <a:buNone/>
            </a:pPr>
            <a:r>
              <a:rPr lang="en-US" sz="3000" b="1" dirty="0">
                <a:solidFill>
                  <a:srgbClr val="16283C"/>
                </a:solidFill>
                <a:latin typeface="Cambria" pitchFamily="34" charset="0"/>
                <a:ea typeface="Cambria" pitchFamily="34" charset="-122"/>
                <a:cs typeface="Cambria" pitchFamily="34" charset="-120"/>
              </a:rPr>
              <a:t>PGY-1 discussant</a:t>
            </a:r>
            <a:endParaRPr lang="en-US" sz="3000" dirty="0"/>
          </a:p>
        </p:txBody>
      </p:sp>
      <p:sp>
        <p:nvSpPr>
          <p:cNvPr id="4" name="Text 2"/>
          <p:cNvSpPr/>
          <p:nvPr/>
        </p:nvSpPr>
        <p:spPr>
          <a:xfrm>
            <a:off x="566928" y="1115568"/>
            <a:ext cx="5074920" cy="548640"/>
          </a:xfrm>
          <a:prstGeom prst="rect">
            <a:avLst/>
          </a:prstGeom>
          <a:noFill/>
          <a:ln/>
        </p:spPr>
        <p:txBody>
          <a:bodyPr wrap="square" lIns="0" tIns="0" rIns="0" bIns="0" rtlCol="0" anchor="ctr"/>
          <a:lstStyle/>
          <a:p>
            <a:pPr indent="0" marL="0">
              <a:buNone/>
            </a:pPr>
            <a:r>
              <a:rPr lang="en-US" sz="1300" dirty="0">
                <a:solidFill>
                  <a:srgbClr val="5F6B78"/>
                </a:solidFill>
                <a:latin typeface="Calibri" pitchFamily="34" charset="0"/>
                <a:ea typeface="Calibri" pitchFamily="34" charset="-122"/>
                <a:cs typeface="Calibri" pitchFamily="34" charset="-120"/>
              </a:rPr>
              <a:t>Problem representation, three to four diagnoses, the can't-miss. Uninterrupted.</a:t>
            </a:r>
            <a:endParaRPr lang="en-US" sz="1300" dirty="0"/>
          </a:p>
        </p:txBody>
      </p:sp>
      <p:sp>
        <p:nvSpPr>
          <p:cNvPr id="5" name="Shape 3"/>
          <p:cNvSpPr/>
          <p:nvPr/>
        </p:nvSpPr>
        <p:spPr>
          <a:xfrm>
            <a:off x="9646920" y="566928"/>
            <a:ext cx="1975104" cy="457200"/>
          </a:xfrm>
          <a:prstGeom prst="roundRect">
            <a:avLst>
              <a:gd name="adj" fmla="val 12000"/>
            </a:avLst>
          </a:prstGeom>
          <a:solidFill>
            <a:srgbClr val="16283C"/>
          </a:solidFill>
          <a:ln w="12700">
            <a:solidFill>
              <a:srgbClr val="16283C"/>
            </a:solidFill>
            <a:prstDash val="solid"/>
          </a:ln>
        </p:spPr>
      </p:sp>
      <p:sp>
        <p:nvSpPr>
          <p:cNvPr id="6" name="Text 4"/>
          <p:cNvSpPr/>
          <p:nvPr/>
        </p:nvSpPr>
        <p:spPr>
          <a:xfrm>
            <a:off x="9646920" y="566928"/>
            <a:ext cx="197510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0:07 — 4 MIN</a:t>
            </a:r>
            <a:endParaRPr lang="en-US" sz="1200" dirty="0"/>
          </a:p>
        </p:txBody>
      </p:sp>
      <p:pic>
        <p:nvPicPr>
          <p:cNvPr id="7" name="Image 0" descr="preencoded.png">    </p:cNvPr>
          <p:cNvPicPr>
            <a:picLocks noChangeAspect="1"/>
          </p:cNvPicPr>
          <p:nvPr/>
        </p:nvPicPr>
        <p:blipFill>
          <a:blip r:embed="rId1"/>
          <a:stretch>
            <a:fillRect/>
          </a:stretch>
        </p:blipFill>
        <p:spPr>
          <a:xfrm>
            <a:off x="3937864" y="1810512"/>
            <a:ext cx="4315968" cy="4315968"/>
          </a:xfrm>
          <a:prstGeom prst="rect">
            <a:avLst/>
          </a:prstGeom>
        </p:spPr>
      </p:pic>
      <p:sp>
        <p:nvSpPr>
          <p:cNvPr id="8" name="Text 5"/>
          <p:cNvSpPr/>
          <p:nvPr/>
        </p:nvSpPr>
        <p:spPr>
          <a:xfrm rot="-4050000">
            <a:off x="5850678" y="2635106"/>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Aisha Rahman</a:t>
            </a:r>
            <a:endParaRPr lang="en-US" sz="1150" dirty="0"/>
          </a:p>
        </p:txBody>
      </p:sp>
      <p:sp>
        <p:nvSpPr>
          <p:cNvPr id="9" name="Text 6"/>
          <p:cNvSpPr/>
          <p:nvPr/>
        </p:nvSpPr>
        <p:spPr>
          <a:xfrm rot="-1350000">
            <a:off x="6551414" y="3335841"/>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Ben Ortiz</a:t>
            </a:r>
            <a:endParaRPr lang="en-US" sz="1150" dirty="0"/>
          </a:p>
        </p:txBody>
      </p:sp>
      <p:sp>
        <p:nvSpPr>
          <p:cNvPr id="10" name="Text 7"/>
          <p:cNvSpPr/>
          <p:nvPr/>
        </p:nvSpPr>
        <p:spPr>
          <a:xfrm rot="1350000">
            <a:off x="6551414" y="4326831"/>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Chloe Nguyen</a:t>
            </a:r>
            <a:endParaRPr lang="en-US" sz="1150" dirty="0"/>
          </a:p>
        </p:txBody>
      </p:sp>
      <p:sp>
        <p:nvSpPr>
          <p:cNvPr id="11" name="Text 8"/>
          <p:cNvSpPr/>
          <p:nvPr/>
        </p:nvSpPr>
        <p:spPr>
          <a:xfrm rot="4050000">
            <a:off x="5850678" y="5027566"/>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Devon Carter</a:t>
            </a:r>
            <a:endParaRPr lang="en-US" sz="1150" dirty="0"/>
          </a:p>
        </p:txBody>
      </p:sp>
      <p:sp>
        <p:nvSpPr>
          <p:cNvPr id="12" name="Text 9"/>
          <p:cNvSpPr/>
          <p:nvPr/>
        </p:nvSpPr>
        <p:spPr>
          <a:xfrm rot="17550000">
            <a:off x="4859689" y="5027566"/>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Elena Sokolov</a:t>
            </a:r>
            <a:endParaRPr lang="en-US" sz="1150" dirty="0"/>
          </a:p>
        </p:txBody>
      </p:sp>
      <p:sp>
        <p:nvSpPr>
          <p:cNvPr id="13" name="Text 10"/>
          <p:cNvSpPr/>
          <p:nvPr/>
        </p:nvSpPr>
        <p:spPr>
          <a:xfrm rot="20250000">
            <a:off x="4158953" y="4326831"/>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Femi Adeyemi</a:t>
            </a:r>
            <a:endParaRPr lang="en-US" sz="1150" dirty="0"/>
          </a:p>
        </p:txBody>
      </p:sp>
      <p:sp>
        <p:nvSpPr>
          <p:cNvPr id="14" name="Text 11"/>
          <p:cNvSpPr/>
          <p:nvPr/>
        </p:nvSpPr>
        <p:spPr>
          <a:xfrm rot="1350000">
            <a:off x="4158953" y="3335841"/>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Grace Lin</a:t>
            </a:r>
            <a:endParaRPr lang="en-US" sz="1150" dirty="0"/>
          </a:p>
        </p:txBody>
      </p:sp>
      <p:sp>
        <p:nvSpPr>
          <p:cNvPr id="15" name="Text 12"/>
          <p:cNvSpPr/>
          <p:nvPr/>
        </p:nvSpPr>
        <p:spPr>
          <a:xfrm rot="4050000">
            <a:off x="4859689" y="2635106"/>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Hassan Iqbal</a:t>
            </a:r>
            <a:endParaRPr lang="en-US" sz="1150" dirty="0"/>
          </a:p>
        </p:txBody>
      </p:sp>
      <p:sp>
        <p:nvSpPr>
          <p:cNvPr id="16" name="Shape 13"/>
          <p:cNvSpPr/>
          <p:nvPr/>
        </p:nvSpPr>
        <p:spPr>
          <a:xfrm>
            <a:off x="5620360" y="3493008"/>
            <a:ext cx="950976" cy="950976"/>
          </a:xfrm>
          <a:prstGeom prst="ellipse">
            <a:avLst/>
          </a:prstGeom>
          <a:solidFill>
            <a:srgbClr val="FFFFFF"/>
          </a:solidFill>
          <a:ln w="19050">
            <a:solidFill>
              <a:srgbClr val="D8E0E7"/>
            </a:solidFill>
            <a:prstDash val="solid"/>
          </a:ln>
        </p:spPr>
      </p:sp>
      <p:sp>
        <p:nvSpPr>
          <p:cNvPr id="17" name="Text 14"/>
          <p:cNvSpPr/>
          <p:nvPr/>
        </p:nvSpPr>
        <p:spPr>
          <a:xfrm>
            <a:off x="5620360" y="3493008"/>
            <a:ext cx="950976" cy="950976"/>
          </a:xfrm>
          <a:prstGeom prst="rect">
            <a:avLst/>
          </a:prstGeom>
          <a:noFill/>
          <a:ln/>
        </p:spPr>
        <p:txBody>
          <a:bodyPr wrap="square" lIns="0" tIns="0" rIns="0" bIns="0" rtlCol="0" anchor="ctr"/>
          <a:lstStyle/>
          <a:p>
            <a:pPr algn="ctr" indent="0" marL="0">
              <a:buNone/>
            </a:pPr>
            <a:r>
              <a:rPr lang="en-US" sz="1500" b="1" dirty="0">
                <a:solidFill>
                  <a:srgbClr val="16283C"/>
                </a:solidFill>
                <a:latin typeface="Cambria" pitchFamily="34" charset="0"/>
                <a:ea typeface="Cambria" pitchFamily="34" charset="-122"/>
                <a:cs typeface="Cambria" pitchFamily="34" charset="-120"/>
              </a:rPr>
              <a:t>PGY-1</a:t>
            </a:r>
            <a:endParaRPr lang="en-US" sz="1500" dirty="0"/>
          </a:p>
        </p:txBody>
      </p:sp>
      <p:sp>
        <p:nvSpPr>
          <p:cNvPr id="18" name="Shape 15"/>
          <p:cNvSpPr/>
          <p:nvPr/>
        </p:nvSpPr>
        <p:spPr>
          <a:xfrm rot="10800000">
            <a:off x="5894680" y="1499616"/>
            <a:ext cx="402336" cy="384048"/>
          </a:xfrm>
          <a:prstGeom prst="triangle">
            <a:avLst/>
          </a:prstGeom>
          <a:solidFill>
            <a:srgbClr val="16283C"/>
          </a:solidFill>
          <a:ln w="12700">
            <a:solidFill>
              <a:srgbClr val="16283C"/>
            </a:solidFill>
            <a:prstDash val="solid"/>
          </a:ln>
        </p:spPr>
      </p:sp>
      <p:sp>
        <p:nvSpPr>
          <p:cNvPr id="19" name="Text 16"/>
          <p:cNvSpPr/>
          <p:nvPr/>
        </p:nvSpPr>
        <p:spPr>
          <a:xfrm>
            <a:off x="566928" y="6327648"/>
            <a:ext cx="11055096" cy="320040"/>
          </a:xfrm>
          <a:prstGeom prst="rect">
            <a:avLst/>
          </a:prstGeom>
          <a:noFill/>
          <a:ln/>
        </p:spPr>
        <p:txBody>
          <a:bodyPr wrap="square" lIns="0" tIns="0" rIns="0" bIns="0" rtlCol="0" anchor="ctr"/>
          <a:lstStyle/>
          <a:p>
            <a:pPr indent="0" marL="0">
              <a:buNone/>
            </a:pPr>
            <a:r>
              <a:rPr lang="en-US" sz="1100" i="1" dirty="0">
                <a:solidFill>
                  <a:srgbClr val="5F6B78"/>
                </a:solidFill>
                <a:latin typeface="Calibri" pitchFamily="34" charset="0"/>
                <a:ea typeface="Calibri" pitchFamily="34" charset="-122"/>
                <a:cs typeface="Calibri" pitchFamily="34" charset="-120"/>
              </a:rPr>
              <a:t>Click once to spin, once more to stop. Draw the day before if you want the discussant to prepare from the one-liner.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92608"/>
            <a:ext cx="7315200" cy="256032"/>
          </a:xfrm>
          <a:prstGeom prst="rect">
            <a:avLst/>
          </a:prstGeom>
          <a:noFill/>
          <a:ln/>
        </p:spPr>
        <p:txBody>
          <a:bodyPr wrap="square" lIns="0" tIns="0" rIns="0" bIns="0"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MORNING REPORT · SECOND PASS</a:t>
            </a:r>
            <a:endParaRPr lang="en-US" sz="1100" dirty="0"/>
          </a:p>
        </p:txBody>
      </p:sp>
      <p:sp>
        <p:nvSpPr>
          <p:cNvPr id="3" name="Text 1"/>
          <p:cNvSpPr/>
          <p:nvPr/>
        </p:nvSpPr>
        <p:spPr>
          <a:xfrm>
            <a:off x="548640" y="530352"/>
            <a:ext cx="7680960" cy="566928"/>
          </a:xfrm>
          <a:prstGeom prst="rect">
            <a:avLst/>
          </a:prstGeom>
          <a:noFill/>
          <a:ln/>
        </p:spPr>
        <p:txBody>
          <a:bodyPr wrap="square" lIns="0" tIns="0" rIns="0" bIns="0" rtlCol="0" anchor="ctr"/>
          <a:lstStyle/>
          <a:p>
            <a:pPr indent="0" marL="0">
              <a:buNone/>
            </a:pPr>
            <a:r>
              <a:rPr lang="en-US" sz="3000" b="1" dirty="0">
                <a:solidFill>
                  <a:srgbClr val="16283C"/>
                </a:solidFill>
                <a:latin typeface="Cambria" pitchFamily="34" charset="0"/>
                <a:ea typeface="Cambria" pitchFamily="34" charset="-122"/>
                <a:cs typeface="Cambria" pitchFamily="34" charset="-120"/>
              </a:rPr>
              <a:t>Senior discussant</a:t>
            </a:r>
            <a:endParaRPr lang="en-US" sz="3000" dirty="0"/>
          </a:p>
        </p:txBody>
      </p:sp>
      <p:sp>
        <p:nvSpPr>
          <p:cNvPr id="4" name="Text 2"/>
          <p:cNvSpPr/>
          <p:nvPr/>
        </p:nvSpPr>
        <p:spPr>
          <a:xfrm>
            <a:off x="566928" y="1115568"/>
            <a:ext cx="5074920" cy="548640"/>
          </a:xfrm>
          <a:prstGeom prst="rect">
            <a:avLst/>
          </a:prstGeom>
          <a:noFill/>
          <a:ln/>
        </p:spPr>
        <p:txBody>
          <a:bodyPr wrap="square" lIns="0" tIns="0" rIns="0" bIns="0" rtlCol="0" anchor="ctr"/>
          <a:lstStyle/>
          <a:p>
            <a:pPr indent="0" marL="0">
              <a:buNone/>
            </a:pPr>
            <a:r>
              <a:rPr lang="en-US" sz="1300" dirty="0">
                <a:solidFill>
                  <a:srgbClr val="5F6B78"/>
                </a:solidFill>
                <a:latin typeface="Calibri" pitchFamily="34" charset="0"/>
                <a:ea typeface="Calibri" pitchFamily="34" charset="-122"/>
                <a:cs typeface="Calibri" pitchFamily="34" charset="-120"/>
              </a:rPr>
              <a:t>Framework, explicit pruning, the discriminating test, and what would change their mind.</a:t>
            </a:r>
            <a:endParaRPr lang="en-US" sz="1300" dirty="0"/>
          </a:p>
        </p:txBody>
      </p:sp>
      <p:sp>
        <p:nvSpPr>
          <p:cNvPr id="5" name="Shape 3"/>
          <p:cNvSpPr/>
          <p:nvPr/>
        </p:nvSpPr>
        <p:spPr>
          <a:xfrm>
            <a:off x="9646920" y="566928"/>
            <a:ext cx="1975104" cy="457200"/>
          </a:xfrm>
          <a:prstGeom prst="roundRect">
            <a:avLst>
              <a:gd name="adj" fmla="val 12000"/>
            </a:avLst>
          </a:prstGeom>
          <a:solidFill>
            <a:srgbClr val="2E7D8F"/>
          </a:solidFill>
          <a:ln w="12700">
            <a:solidFill>
              <a:srgbClr val="2E7D8F"/>
            </a:solidFill>
            <a:prstDash val="solid"/>
          </a:ln>
        </p:spPr>
      </p:sp>
      <p:sp>
        <p:nvSpPr>
          <p:cNvPr id="6" name="Text 4"/>
          <p:cNvSpPr/>
          <p:nvPr/>
        </p:nvSpPr>
        <p:spPr>
          <a:xfrm>
            <a:off x="9646920" y="566928"/>
            <a:ext cx="1975104"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0:11 — 5 MIN</a:t>
            </a:r>
            <a:endParaRPr lang="en-US" sz="1200" dirty="0"/>
          </a:p>
        </p:txBody>
      </p:sp>
      <p:pic>
        <p:nvPicPr>
          <p:cNvPr id="7" name="Image 0" descr="preencoded.png">    </p:cNvPr>
          <p:cNvPicPr>
            <a:picLocks noChangeAspect="1"/>
          </p:cNvPicPr>
          <p:nvPr/>
        </p:nvPicPr>
        <p:blipFill>
          <a:blip r:embed="rId1"/>
          <a:stretch>
            <a:fillRect/>
          </a:stretch>
        </p:blipFill>
        <p:spPr>
          <a:xfrm>
            <a:off x="3937864" y="1810512"/>
            <a:ext cx="4315968" cy="4315968"/>
          </a:xfrm>
          <a:prstGeom prst="rect">
            <a:avLst/>
          </a:prstGeom>
        </p:spPr>
      </p:pic>
      <p:sp>
        <p:nvSpPr>
          <p:cNvPr id="8" name="Text 5"/>
          <p:cNvSpPr/>
          <p:nvPr/>
        </p:nvSpPr>
        <p:spPr>
          <a:xfrm rot="-3600000">
            <a:off x="6002579" y="2710015"/>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Priya Menon</a:t>
            </a:r>
            <a:endParaRPr lang="en-US" sz="1150" dirty="0"/>
          </a:p>
        </p:txBody>
      </p:sp>
      <p:sp>
        <p:nvSpPr>
          <p:cNvPr id="9" name="Text 6"/>
          <p:cNvSpPr/>
          <p:nvPr/>
        </p:nvSpPr>
        <p:spPr>
          <a:xfrm>
            <a:off x="6649974" y="3831336"/>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Marcus Webb</a:t>
            </a:r>
            <a:endParaRPr lang="en-US" sz="1150" dirty="0"/>
          </a:p>
        </p:txBody>
      </p:sp>
      <p:sp>
        <p:nvSpPr>
          <p:cNvPr id="10" name="Text 7"/>
          <p:cNvSpPr/>
          <p:nvPr/>
        </p:nvSpPr>
        <p:spPr>
          <a:xfrm rot="3600000">
            <a:off x="6002579" y="4952657"/>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Sofia Delgado</a:t>
            </a:r>
            <a:endParaRPr lang="en-US" sz="1150" dirty="0"/>
          </a:p>
        </p:txBody>
      </p:sp>
      <p:sp>
        <p:nvSpPr>
          <p:cNvPr id="11" name="Text 8"/>
          <p:cNvSpPr/>
          <p:nvPr/>
        </p:nvSpPr>
        <p:spPr>
          <a:xfrm rot="18000000">
            <a:off x="4707788" y="4952657"/>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Tobias Klein</a:t>
            </a:r>
            <a:endParaRPr lang="en-US" sz="1150" dirty="0"/>
          </a:p>
        </p:txBody>
      </p:sp>
      <p:sp>
        <p:nvSpPr>
          <p:cNvPr id="12" name="Text 9"/>
          <p:cNvSpPr/>
          <p:nvPr/>
        </p:nvSpPr>
        <p:spPr>
          <a:xfrm rot="21600000">
            <a:off x="4060393" y="3831336"/>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Nadia Haddad</a:t>
            </a:r>
            <a:endParaRPr lang="en-US" sz="1150" dirty="0"/>
          </a:p>
        </p:txBody>
      </p:sp>
      <p:sp>
        <p:nvSpPr>
          <p:cNvPr id="13" name="Text 10"/>
          <p:cNvSpPr/>
          <p:nvPr/>
        </p:nvSpPr>
        <p:spPr>
          <a:xfrm rot="3600000">
            <a:off x="4707788" y="2710015"/>
            <a:ext cx="1481328"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Jonah Pierce</a:t>
            </a:r>
            <a:endParaRPr lang="en-US" sz="1150" dirty="0"/>
          </a:p>
        </p:txBody>
      </p:sp>
      <p:sp>
        <p:nvSpPr>
          <p:cNvPr id="14" name="Shape 11"/>
          <p:cNvSpPr/>
          <p:nvPr/>
        </p:nvSpPr>
        <p:spPr>
          <a:xfrm>
            <a:off x="5620360" y="3493008"/>
            <a:ext cx="950976" cy="950976"/>
          </a:xfrm>
          <a:prstGeom prst="ellipse">
            <a:avLst/>
          </a:prstGeom>
          <a:solidFill>
            <a:srgbClr val="FFFFFF"/>
          </a:solidFill>
          <a:ln w="19050">
            <a:solidFill>
              <a:srgbClr val="D8E0E7"/>
            </a:solidFill>
            <a:prstDash val="solid"/>
          </a:ln>
        </p:spPr>
      </p:sp>
      <p:sp>
        <p:nvSpPr>
          <p:cNvPr id="15" name="Text 12"/>
          <p:cNvSpPr/>
          <p:nvPr/>
        </p:nvSpPr>
        <p:spPr>
          <a:xfrm>
            <a:off x="5620360" y="3493008"/>
            <a:ext cx="950976" cy="950976"/>
          </a:xfrm>
          <a:prstGeom prst="rect">
            <a:avLst/>
          </a:prstGeom>
          <a:noFill/>
          <a:ln/>
        </p:spPr>
        <p:txBody>
          <a:bodyPr wrap="square" lIns="0" tIns="0" rIns="0" bIns="0" rtlCol="0" anchor="ctr"/>
          <a:lstStyle/>
          <a:p>
            <a:pPr algn="ctr" indent="0" marL="0">
              <a:buNone/>
            </a:pPr>
            <a:r>
              <a:rPr lang="en-US" sz="1500" b="1" dirty="0">
                <a:solidFill>
                  <a:srgbClr val="16283C"/>
                </a:solidFill>
                <a:latin typeface="Cambria" pitchFamily="34" charset="0"/>
                <a:ea typeface="Cambria" pitchFamily="34" charset="-122"/>
                <a:cs typeface="Cambria" pitchFamily="34" charset="-120"/>
              </a:rPr>
              <a:t>SR</a:t>
            </a:r>
            <a:endParaRPr lang="en-US" sz="1500" dirty="0"/>
          </a:p>
        </p:txBody>
      </p:sp>
      <p:sp>
        <p:nvSpPr>
          <p:cNvPr id="16" name="Shape 13"/>
          <p:cNvSpPr/>
          <p:nvPr/>
        </p:nvSpPr>
        <p:spPr>
          <a:xfrm rot="10800000">
            <a:off x="5894680" y="1499616"/>
            <a:ext cx="402336" cy="384048"/>
          </a:xfrm>
          <a:prstGeom prst="triangle">
            <a:avLst/>
          </a:prstGeom>
          <a:solidFill>
            <a:srgbClr val="2E7D8F"/>
          </a:solidFill>
          <a:ln w="12700">
            <a:solidFill>
              <a:srgbClr val="2E7D8F"/>
            </a:solidFill>
            <a:prstDash val="solid"/>
          </a:ln>
        </p:spPr>
      </p:sp>
      <p:sp>
        <p:nvSpPr>
          <p:cNvPr id="17" name="Text 14"/>
          <p:cNvSpPr/>
          <p:nvPr/>
        </p:nvSpPr>
        <p:spPr>
          <a:xfrm>
            <a:off x="566928" y="6327648"/>
            <a:ext cx="11055096" cy="320040"/>
          </a:xfrm>
          <a:prstGeom prst="rect">
            <a:avLst/>
          </a:prstGeom>
          <a:noFill/>
          <a:ln/>
        </p:spPr>
        <p:txBody>
          <a:bodyPr wrap="square" lIns="0" tIns="0" rIns="0" bIns="0" rtlCol="0" anchor="ctr"/>
          <a:lstStyle/>
          <a:p>
            <a:pPr indent="0" marL="0">
              <a:buNone/>
            </a:pPr>
            <a:r>
              <a:rPr lang="en-US" sz="1100" i="1" dirty="0">
                <a:solidFill>
                  <a:srgbClr val="5F6B78"/>
                </a:solidFill>
                <a:latin typeface="Calibri" pitchFamily="34" charset="0"/>
                <a:ea typeface="Calibri" pitchFamily="34" charset="-122"/>
                <a:cs typeface="Calibri" pitchFamily="34" charset="-120"/>
              </a:rPr>
              <a:t>Click once to spin, once more to stop. Draw the day before if you want the discussant to prepare from the one-liner.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2026-08-18T04:53:33Z</dcterms:created>
  <dcterms:modified xsi:type="dcterms:W3CDTF">2026-08-18T04:53:33Z</dcterms:modified>
</cp:coreProperties>
</file>