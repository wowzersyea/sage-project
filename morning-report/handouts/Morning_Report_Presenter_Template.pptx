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2" d="100"/>
          <a:sy n="112" d="100"/>
        </p:scale>
        <p:origin x="5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8771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 the one-liner to both discussants 24 hours ahead. Send the objective to the whiteboard scribe. Test the screen-share handoff once before the day of.</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This slide is up before anyone joins. The facilitator names the four roles and reads the objective aloud. That objective is the contract for the session and the thing faculty ties back to at the end.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not with demographics. Drop the group into the most challenging moment of the patient's narrative — the ED call, the abnormal gas, the child who looked well an hour ago. Keep a poker face: no tone or pacing tells.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screen. If it needs two, some of it belongs in the second block or does not belong at all. Answer the questions asked, volunteer nothing. Hand the share to the scribe when the facilitator calls 0:07.</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content-free. Its only job is to make the handoff to the board unambiguous and to buy the group ten seconds of silence. Let the silence run. Do not fill it, and do not let faculty fill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0:16 — The scribe strikes refuted items in red as the group reacts. Draw a line across the board here: everything above it was reasoning without these results. Paste imaging in place of the table row if a picture is the point.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handoff. This is where the red strike-throughs happen and where the board earns its keep. Faculty comes in at 0:19 with one point, not a lecture.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amber row is the one that matters. Naming the reasoning error — not the diagnosis — is the thing residents carry to the next patient. Ask two people by name what they would have needed to see earlier.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0:24 — Read the points aloud, tied back to the objective. The scribe exports the board and posts it. Send the one-liner, diagnosis, takeaways and board question to the case bank the same day — that is what the six-month review game runs 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292608"/>
            <a:ext cx="8229600" cy="256032"/>
          </a:xfrm>
          <a:prstGeom prst="rect">
            <a:avLst/>
          </a:prstGeom>
          <a:noFill/>
          <a:ln/>
        </p:spPr>
        <p:txBody>
          <a:bodyPr wrap="square" lIns="0" tIns="0" rIns="0" bIns="0" rtlCol="0" anchor="ctr"/>
          <a:lstStyle/>
          <a:p>
            <a:pPr marL="0" indent="0">
              <a:buNone/>
            </a:pPr>
            <a:r>
              <a:rPr lang="en-US" sz="1100" b="1" kern="0" spc="200" dirty="0">
                <a:solidFill>
                  <a:srgbClr val="E8A33D"/>
                </a:solidFill>
                <a:latin typeface="Calibri" pitchFamily="34" charset="0"/>
                <a:ea typeface="Calibri" pitchFamily="34" charset="-122"/>
                <a:cs typeface="Calibri" pitchFamily="34" charset="-120"/>
              </a:rPr>
              <a:t>DELETE THIS SLIDE BEFORE YOU PRESENT</a:t>
            </a:r>
            <a:endParaRPr lang="en-US" sz="1100" dirty="0"/>
          </a:p>
        </p:txBody>
      </p:sp>
      <p:sp>
        <p:nvSpPr>
          <p:cNvPr id="3" name="Text 1"/>
          <p:cNvSpPr/>
          <p:nvPr/>
        </p:nvSpPr>
        <p:spPr>
          <a:xfrm>
            <a:off x="548640" y="548640"/>
            <a:ext cx="11064240" cy="658368"/>
          </a:xfrm>
          <a:prstGeom prst="rect">
            <a:avLst/>
          </a:prstGeom>
          <a:noFill/>
          <a:ln/>
        </p:spPr>
        <p:txBody>
          <a:bodyPr wrap="square" lIns="0" tIns="0" rIns="0" bIns="0" rtlCol="0" anchor="ctr"/>
          <a:lstStyle/>
          <a:p>
            <a:pPr marL="0" indent="0">
              <a:buNone/>
            </a:pPr>
            <a:r>
              <a:rPr lang="en-US" sz="3100" b="1" dirty="0">
                <a:solidFill>
                  <a:srgbClr val="16283C"/>
                </a:solidFill>
                <a:latin typeface="Cambria" pitchFamily="34" charset="0"/>
                <a:ea typeface="Cambria" pitchFamily="34" charset="-122"/>
                <a:cs typeface="Cambria" pitchFamily="34" charset="-120"/>
              </a:rPr>
              <a:t>How to use this template</a:t>
            </a:r>
            <a:endParaRPr lang="en-US" sz="3100" dirty="0"/>
          </a:p>
        </p:txBody>
      </p:sp>
      <p:sp>
        <p:nvSpPr>
          <p:cNvPr id="4" name="Text 2"/>
          <p:cNvSpPr/>
          <p:nvPr/>
        </p:nvSpPr>
        <p:spPr>
          <a:xfrm>
            <a:off x="566928" y="1225296"/>
            <a:ext cx="11055096" cy="365760"/>
          </a:xfrm>
          <a:prstGeom prst="rect">
            <a:avLst/>
          </a:prstGeom>
          <a:noFill/>
          <a:ln/>
        </p:spPr>
        <p:txBody>
          <a:bodyPr wrap="square" lIns="0" tIns="0" rIns="0" bIns="0" rtlCol="0" anchor="ctr"/>
          <a:lstStyle/>
          <a:p>
            <a:pPr marL="0" indent="0">
              <a:buNone/>
            </a:pPr>
            <a:r>
              <a:rPr lang="en-US" sz="1300" i="1" dirty="0">
                <a:solidFill>
                  <a:srgbClr val="5F6B78"/>
                </a:solidFill>
                <a:latin typeface="Calibri" pitchFamily="34" charset="0"/>
                <a:ea typeface="Calibri" pitchFamily="34" charset="-122"/>
                <a:cs typeface="Calibri" pitchFamily="34" charset="-120"/>
              </a:rPr>
              <a:t>Eight slides. Type over the bracketed text. Do not add slides between the two PAUSE slides — that is where the reasoning happens, and every extra slide steals from it.</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3621024"/>
        </p:xfrm>
        <a:graphic>
          <a:graphicData uri="http://schemas.openxmlformats.org/drawingml/2006/table">
            <a:tbl>
              <a:tblPr/>
              <a:tblGrid>
                <a:gridCol w="4572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7306056">
                  <a:extLst>
                    <a:ext uri="{9D8B030D-6E8A-4147-A177-3AD203B41FA5}">
                      <a16:colId xmlns:a16="http://schemas.microsoft.com/office/drawing/2014/main" val="20003"/>
                    </a:ext>
                  </a:extLst>
                </a:gridCol>
              </a:tblGrid>
              <a:tr h="402336">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16283C"/>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SLIDE</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16283C"/>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WHEN</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16283C"/>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WHAT IT DOES</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16283C"/>
                    </a:solidFill>
                  </a:tcPr>
                </a:tc>
                <a:extLst>
                  <a:ext uri="{0D108BD9-81ED-4DB2-BD59-A6C34878D82A}">
                    <a16:rowId xmlns:a16="http://schemas.microsoft.com/office/drawing/2014/main" val="10000"/>
                  </a:ext>
                </a:extLst>
              </a:tr>
              <a:tr h="402336">
                <a:tc>
                  <a:txBody>
                    <a:bodyPr/>
                    <a:lstStyle/>
                    <a:p>
                      <a:pPr marL="0" indent="0" algn="ctr">
                        <a:buNone/>
                      </a:pPr>
                      <a:r>
                        <a:rPr lang="en-US" sz="1050" b="1" dirty="0">
                          <a:solidFill>
                            <a:srgbClr val="2E7D8F"/>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marL="0" indent="0">
                        <a:buNone/>
                      </a:pPr>
                      <a:r>
                        <a:rPr lang="en-US" sz="1050" b="1" dirty="0">
                          <a:solidFill>
                            <a:srgbClr val="16283C"/>
                          </a:solidFill>
                          <a:latin typeface="Calibri" pitchFamily="34" charset="0"/>
                          <a:ea typeface="Calibri" pitchFamily="34" charset="-122"/>
                          <a:cs typeface="Calibri" pitchFamily="34" charset="-120"/>
                        </a:rPr>
                        <a:t>Cover</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marL="0" indent="0">
                        <a:buNone/>
                      </a:pPr>
                      <a:r>
                        <a:rPr lang="en-US" sz="1050" dirty="0">
                          <a:solidFill>
                            <a:srgbClr val="5F6B78"/>
                          </a:solidFill>
                          <a:latin typeface="Calibri" pitchFamily="34" charset="0"/>
                          <a:ea typeface="Calibri" pitchFamily="34" charset="-122"/>
                          <a:cs typeface="Calibri" pitchFamily="34" charset="-120"/>
                        </a:rPr>
                        <a:t>0:00</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marL="0" indent="0">
                        <a:buNone/>
                      </a:pPr>
                      <a:r>
                        <a:rPr lang="en-US" sz="1050" dirty="0">
                          <a:solidFill>
                            <a:srgbClr val="3D4855"/>
                          </a:solidFill>
                          <a:latin typeface="Calibri" pitchFamily="34" charset="0"/>
                          <a:ea typeface="Calibri" pitchFamily="34" charset="-122"/>
                          <a:cs typeface="Calibri" pitchFamily="34" charset="-120"/>
                        </a:rPr>
                        <a:t>Up before anyone joins. Read the objective aloud.</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ctr">
                        <a:buNone/>
                      </a:pPr>
                      <a:r>
                        <a:rPr lang="en-US" sz="1050" b="1" dirty="0">
                          <a:solidFill>
                            <a:srgbClr val="2E7D8F"/>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marL="0" indent="0">
                        <a:buNone/>
                      </a:pPr>
                      <a:r>
                        <a:rPr lang="en-US" sz="1050" b="1" dirty="0">
                          <a:solidFill>
                            <a:srgbClr val="16283C"/>
                          </a:solidFill>
                          <a:latin typeface="Calibri" pitchFamily="34" charset="0"/>
                          <a:ea typeface="Calibri" pitchFamily="34" charset="-122"/>
                          <a:cs typeface="Calibri" pitchFamily="34" charset="-120"/>
                        </a:rPr>
                        <a:t>The hook</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marL="0" indent="0">
                        <a:buNone/>
                      </a:pPr>
                      <a:r>
                        <a:rPr lang="en-US" sz="1050" dirty="0">
                          <a:solidFill>
                            <a:srgbClr val="5F6B78"/>
                          </a:solidFill>
                          <a:latin typeface="Calibri" pitchFamily="34" charset="0"/>
                          <a:ea typeface="Calibri" pitchFamily="34" charset="-122"/>
                          <a:cs typeface="Calibri" pitchFamily="34" charset="-120"/>
                        </a:rPr>
                        <a:t>0:01</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marL="0" indent="0">
                        <a:buNone/>
                      </a:pPr>
                      <a:r>
                        <a:rPr lang="en-US" sz="1050" dirty="0">
                          <a:solidFill>
                            <a:srgbClr val="3D4855"/>
                          </a:solidFill>
                          <a:latin typeface="Calibri" pitchFamily="34" charset="0"/>
                          <a:ea typeface="Calibri" pitchFamily="34" charset="-122"/>
                          <a:cs typeface="Calibri" pitchFamily="34" charset="-120"/>
                        </a:rPr>
                        <a:t>One-liner plus one provocative datum. Then stop.</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402336">
                <a:tc>
                  <a:txBody>
                    <a:bodyPr/>
                    <a:lstStyle/>
                    <a:p>
                      <a:pPr marL="0" indent="0" algn="ctr">
                        <a:buNone/>
                      </a:pPr>
                      <a:r>
                        <a:rPr lang="en-US" sz="1050" b="1" dirty="0">
                          <a:solidFill>
                            <a:srgbClr val="2E7D8F"/>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marL="0" indent="0">
                        <a:buNone/>
                      </a:pPr>
                      <a:r>
                        <a:rPr lang="en-US" sz="1050" b="1" dirty="0">
                          <a:solidFill>
                            <a:srgbClr val="16283C"/>
                          </a:solidFill>
                          <a:latin typeface="Calibri" pitchFamily="34" charset="0"/>
                          <a:ea typeface="Calibri" pitchFamily="34" charset="-122"/>
                          <a:cs typeface="Calibri" pitchFamily="34" charset="-120"/>
                        </a:rPr>
                        <a:t>History + exam</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marL="0" indent="0">
                        <a:buNone/>
                      </a:pPr>
                      <a:r>
                        <a:rPr lang="en-US" sz="1050" dirty="0">
                          <a:solidFill>
                            <a:srgbClr val="5F6B78"/>
                          </a:solidFill>
                          <a:latin typeface="Calibri" pitchFamily="34" charset="0"/>
                          <a:ea typeface="Calibri" pitchFamily="34" charset="-122"/>
                          <a:cs typeface="Calibri" pitchFamily="34" charset="-120"/>
                        </a:rPr>
                        <a:t>0:03</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marL="0" indent="0">
                        <a:buNone/>
                      </a:pPr>
                      <a:r>
                        <a:rPr lang="en-US" sz="1050" dirty="0">
                          <a:solidFill>
                            <a:srgbClr val="3D4855"/>
                          </a:solidFill>
                          <a:latin typeface="Calibri" pitchFamily="34" charset="0"/>
                          <a:ea typeface="Calibri" pitchFamily="34" charset="-122"/>
                          <a:cs typeface="Calibri" pitchFamily="34" charset="-120"/>
                        </a:rPr>
                        <a:t>One screen. No labs, no imaging.</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lgn="ctr">
                        <a:buNone/>
                      </a:pPr>
                      <a:r>
                        <a:rPr lang="en-US" sz="1050" b="1" dirty="0">
                          <a:solidFill>
                            <a:srgbClr val="2E7D8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marL="0" indent="0">
                        <a:buNone/>
                      </a:pPr>
                      <a:r>
                        <a:rPr lang="en-US" sz="1050" b="1" dirty="0">
                          <a:solidFill>
                            <a:srgbClr val="16283C"/>
                          </a:solidFill>
                          <a:latin typeface="Calibri" pitchFamily="34" charset="0"/>
                          <a:ea typeface="Calibri" pitchFamily="34" charset="-122"/>
                          <a:cs typeface="Calibri" pitchFamily="34" charset="-120"/>
                        </a:rPr>
                        <a:t>PAUSE</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marL="0" indent="0">
                        <a:buNone/>
                      </a:pPr>
                      <a:r>
                        <a:rPr lang="en-US" sz="1050" dirty="0">
                          <a:solidFill>
                            <a:srgbClr val="5F6B78"/>
                          </a:solidFill>
                          <a:latin typeface="Calibri" pitchFamily="34" charset="0"/>
                          <a:ea typeface="Calibri" pitchFamily="34" charset="-122"/>
                          <a:cs typeface="Calibri" pitchFamily="34" charset="-120"/>
                        </a:rPr>
                        <a:t>0:07</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marL="0" indent="0">
                        <a:buNone/>
                      </a:pPr>
                      <a:r>
                        <a:rPr lang="en-US" sz="1050" dirty="0">
                          <a:solidFill>
                            <a:srgbClr val="3D4855"/>
                          </a:solidFill>
                          <a:latin typeface="Calibri" pitchFamily="34" charset="0"/>
                          <a:ea typeface="Calibri" pitchFamily="34" charset="-122"/>
                          <a:cs typeface="Calibri" pitchFamily="34" charset="-120"/>
                        </a:rPr>
                        <a:t>Blank by design. Hand the share to the scribe.</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402336">
                <a:tc>
                  <a:txBody>
                    <a:bodyPr/>
                    <a:lstStyle/>
                    <a:p>
                      <a:pPr marL="0" indent="0" algn="ctr">
                        <a:buNone/>
                      </a:pPr>
                      <a:r>
                        <a:rPr lang="en-US" sz="1050" b="1" dirty="0">
                          <a:solidFill>
                            <a:srgbClr val="2E7D8F"/>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marL="0" indent="0">
                        <a:buNone/>
                      </a:pPr>
                      <a:r>
                        <a:rPr lang="en-US" sz="1050" b="1" dirty="0">
                          <a:solidFill>
                            <a:srgbClr val="16283C"/>
                          </a:solidFill>
                          <a:latin typeface="Calibri" pitchFamily="34" charset="0"/>
                          <a:ea typeface="Calibri" pitchFamily="34" charset="-122"/>
                          <a:cs typeface="Calibri" pitchFamily="34" charset="-120"/>
                        </a:rPr>
                        <a:t>Labs + imaging</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marL="0" indent="0">
                        <a:buNone/>
                      </a:pPr>
                      <a:r>
                        <a:rPr lang="en-US" sz="1050" dirty="0">
                          <a:solidFill>
                            <a:srgbClr val="5F6B78"/>
                          </a:solidFill>
                          <a:latin typeface="Calibri" pitchFamily="34" charset="0"/>
                          <a:ea typeface="Calibri" pitchFamily="34" charset="-122"/>
                          <a:cs typeface="Calibri" pitchFamily="34" charset="-120"/>
                        </a:rPr>
                        <a:t>0:16</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marL="0" indent="0">
                        <a:buNone/>
                      </a:pPr>
                      <a:r>
                        <a:rPr lang="en-US" sz="1050" dirty="0">
                          <a:solidFill>
                            <a:srgbClr val="3D4855"/>
                          </a:solidFill>
                          <a:latin typeface="Calibri" pitchFamily="34" charset="0"/>
                          <a:ea typeface="Calibri" pitchFamily="34" charset="-122"/>
                          <a:cs typeface="Calibri" pitchFamily="34" charset="-120"/>
                        </a:rPr>
                        <a:t>One screen. Released only after both passes.</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lgn="ctr">
                        <a:buNone/>
                      </a:pPr>
                      <a:r>
                        <a:rPr lang="en-US" sz="1050" b="1" dirty="0">
                          <a:solidFill>
                            <a:srgbClr val="2E7D8F"/>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marL="0" indent="0">
                        <a:buNone/>
                      </a:pPr>
                      <a:r>
                        <a:rPr lang="en-US" sz="1050" b="1" dirty="0">
                          <a:solidFill>
                            <a:srgbClr val="16283C"/>
                          </a:solidFill>
                          <a:latin typeface="Calibri" pitchFamily="34" charset="0"/>
                          <a:ea typeface="Calibri" pitchFamily="34" charset="-122"/>
                          <a:cs typeface="Calibri" pitchFamily="34" charset="-120"/>
                        </a:rPr>
                        <a:t>PAUSE</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marL="0" indent="0">
                        <a:buNone/>
                      </a:pPr>
                      <a:r>
                        <a:rPr lang="en-US" sz="1050" dirty="0">
                          <a:solidFill>
                            <a:srgbClr val="5F6B78"/>
                          </a:solidFill>
                          <a:latin typeface="Calibri" pitchFamily="34" charset="0"/>
                          <a:ea typeface="Calibri" pitchFamily="34" charset="-122"/>
                          <a:cs typeface="Calibri" pitchFamily="34" charset="-120"/>
                        </a:rPr>
                        <a:t>0:18</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marL="0" indent="0">
                        <a:buNone/>
                      </a:pPr>
                      <a:r>
                        <a:rPr lang="en-US" sz="1050" dirty="0">
                          <a:solidFill>
                            <a:srgbClr val="3D4855"/>
                          </a:solidFill>
                          <a:latin typeface="Calibri" pitchFamily="34" charset="0"/>
                          <a:ea typeface="Calibri" pitchFamily="34" charset="-122"/>
                          <a:cs typeface="Calibri" pitchFamily="34" charset="-120"/>
                        </a:rPr>
                        <a:t>“What changed?” Second handoff to the board.</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r h="402336">
                <a:tc>
                  <a:txBody>
                    <a:bodyPr/>
                    <a:lstStyle/>
                    <a:p>
                      <a:pPr marL="0" indent="0" algn="ctr">
                        <a:buNone/>
                      </a:pPr>
                      <a:r>
                        <a:rPr lang="en-US" sz="1050" b="1" dirty="0">
                          <a:solidFill>
                            <a:srgbClr val="2E7D8F"/>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marL="0" indent="0">
                        <a:buNone/>
                      </a:pPr>
                      <a:r>
                        <a:rPr lang="en-US" sz="1050" b="1" dirty="0">
                          <a:solidFill>
                            <a:srgbClr val="16283C"/>
                          </a:solidFill>
                          <a:latin typeface="Calibri" pitchFamily="34" charset="0"/>
                          <a:ea typeface="Calibri" pitchFamily="34" charset="-122"/>
                          <a:cs typeface="Calibri" pitchFamily="34" charset="-120"/>
                        </a:rPr>
                        <a:t>Reveal</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marL="0" indent="0">
                        <a:buNone/>
                      </a:pPr>
                      <a:r>
                        <a:rPr lang="en-US" sz="1050" dirty="0">
                          <a:solidFill>
                            <a:srgbClr val="5F6B78"/>
                          </a:solidFill>
                          <a:latin typeface="Calibri" pitchFamily="34" charset="0"/>
                          <a:ea typeface="Calibri" pitchFamily="34" charset="-122"/>
                          <a:cs typeface="Calibri" pitchFamily="34" charset="-120"/>
                        </a:rPr>
                        <a:t>0:22</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marL="0" indent="0">
                        <a:buNone/>
                      </a:pPr>
                      <a:r>
                        <a:rPr lang="en-US" sz="1050" dirty="0">
                          <a:solidFill>
                            <a:srgbClr val="3D4855"/>
                          </a:solidFill>
                          <a:latin typeface="Calibri" pitchFamily="34" charset="0"/>
                          <a:ea typeface="Calibri" pitchFamily="34" charset="-122"/>
                          <a:cs typeface="Calibri" pitchFamily="34" charset="-120"/>
                        </a:rPr>
                        <a:t>Diagnosis, course, and what was missed — and why.</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02336">
                <a:tc>
                  <a:txBody>
                    <a:bodyPr/>
                    <a:lstStyle/>
                    <a:p>
                      <a:pPr marL="0" indent="0" algn="ctr">
                        <a:buNone/>
                      </a:pPr>
                      <a:r>
                        <a:rPr lang="en-US" sz="1050" b="1" dirty="0">
                          <a:solidFill>
                            <a:srgbClr val="2E7D8F"/>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marL="0" indent="0">
                        <a:buNone/>
                      </a:pPr>
                      <a:r>
                        <a:rPr lang="en-US" sz="1050" b="1" dirty="0">
                          <a:solidFill>
                            <a:srgbClr val="16283C"/>
                          </a:solidFill>
                          <a:latin typeface="Calibri" pitchFamily="34" charset="0"/>
                          <a:ea typeface="Calibri" pitchFamily="34" charset="-122"/>
                          <a:cs typeface="Calibri" pitchFamily="34" charset="-120"/>
                        </a:rPr>
                        <a:t>Take-home</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marL="0" indent="0">
                        <a:buNone/>
                      </a:pPr>
                      <a:r>
                        <a:rPr lang="en-US" sz="1050" dirty="0">
                          <a:solidFill>
                            <a:srgbClr val="5F6B78"/>
                          </a:solidFill>
                          <a:latin typeface="Calibri" pitchFamily="34" charset="0"/>
                          <a:ea typeface="Calibri" pitchFamily="34" charset="-122"/>
                          <a:cs typeface="Calibri" pitchFamily="34" charset="-120"/>
                        </a:rPr>
                        <a:t>0:24</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marL="0" indent="0">
                        <a:buNone/>
                      </a:pPr>
                      <a:r>
                        <a:rPr lang="en-US" sz="1050" dirty="0">
                          <a:solidFill>
                            <a:srgbClr val="3D4855"/>
                          </a:solidFill>
                          <a:latin typeface="Calibri" pitchFamily="34" charset="0"/>
                          <a:ea typeface="Calibri" pitchFamily="34" charset="-122"/>
                          <a:cs typeface="Calibri" pitchFamily="34" charset="-120"/>
                        </a:rPr>
                        <a:t>Two or three big-picture points. Board question posted after.</a:t>
                      </a:r>
                      <a:endParaRPr lang="en-US" sz="1050" dirty="0">
                        <a:latin typeface="Calibri" charset="0"/>
                        <a:ea typeface="Calibri" charset="0"/>
                        <a:cs typeface="Calibri" charset="0"/>
                      </a:endParaRPr>
                    </a:p>
                  </a:txBody>
                  <a:tcPr marL="63500" marR="63500" marT="63500" marB="635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extLst>
                  <a:ext uri="{0D108BD9-81ED-4DB2-BD59-A6C34878D82A}">
                    <a16:rowId xmlns:a16="http://schemas.microsoft.com/office/drawing/2014/main" val="10008"/>
                  </a:ext>
                </a:extLst>
              </a:tr>
            </a:tbl>
          </a:graphicData>
        </a:graphic>
      </p:graphicFrame>
      <p:sp>
        <p:nvSpPr>
          <p:cNvPr id="6" name="Shape 3"/>
          <p:cNvSpPr/>
          <p:nvPr/>
        </p:nvSpPr>
        <p:spPr>
          <a:xfrm>
            <a:off x="566928" y="5532120"/>
            <a:ext cx="11055096" cy="914400"/>
          </a:xfrm>
          <a:prstGeom prst="roundRect">
            <a:avLst>
              <a:gd name="adj" fmla="val 8000"/>
            </a:avLst>
          </a:prstGeom>
          <a:solidFill>
            <a:srgbClr val="FBF0DE"/>
          </a:solidFill>
          <a:ln w="12700">
            <a:solidFill>
              <a:srgbClr val="FBF0DE"/>
            </a:solidFill>
            <a:prstDash val="solid"/>
          </a:ln>
          <a:effectLst>
            <a:outerShdw blurRad="101600" dist="25400" dir="5400000" algn="bl" rotWithShape="0">
              <a:srgbClr val="9AA7B4">
                <a:alpha val="28000"/>
              </a:srgbClr>
            </a:outerShdw>
          </a:effectLst>
        </p:spPr>
        <p:txBody>
          <a:bodyPr/>
          <a:lstStyle/>
          <a:p>
            <a:endParaRPr lang="en-US"/>
          </a:p>
        </p:txBody>
      </p:sp>
      <p:sp>
        <p:nvSpPr>
          <p:cNvPr id="7" name="Text 4"/>
          <p:cNvSpPr/>
          <p:nvPr/>
        </p:nvSpPr>
        <p:spPr>
          <a:xfrm>
            <a:off x="868680" y="5532120"/>
            <a:ext cx="1234440" cy="914400"/>
          </a:xfrm>
          <a:prstGeom prst="rect">
            <a:avLst/>
          </a:prstGeom>
          <a:noFill/>
          <a:ln/>
        </p:spPr>
        <p:txBody>
          <a:bodyPr wrap="square" lIns="0" tIns="0" rIns="0" bIns="0" rtlCol="0" anchor="ctr"/>
          <a:lstStyle/>
          <a:p>
            <a:pPr marL="0" indent="0">
              <a:buNone/>
            </a:pPr>
            <a:r>
              <a:rPr lang="en-US" sz="1250" b="1" dirty="0">
                <a:solidFill>
                  <a:srgbClr val="8A6014"/>
                </a:solidFill>
                <a:latin typeface="Calibri" pitchFamily="34" charset="0"/>
                <a:ea typeface="Calibri" pitchFamily="34" charset="-122"/>
                <a:cs typeface="Calibri" pitchFamily="34" charset="-120"/>
              </a:rPr>
              <a:t>Three rules:</a:t>
            </a:r>
            <a:endParaRPr lang="en-US" sz="1250" dirty="0"/>
          </a:p>
        </p:txBody>
      </p:sp>
      <p:sp>
        <p:nvSpPr>
          <p:cNvPr id="8" name="Text 5"/>
          <p:cNvSpPr/>
          <p:nvPr/>
        </p:nvSpPr>
        <p:spPr>
          <a:xfrm>
            <a:off x="2194560" y="5532120"/>
            <a:ext cx="9098280" cy="914400"/>
          </a:xfrm>
          <a:prstGeom prst="rect">
            <a:avLst/>
          </a:prstGeom>
          <a:noFill/>
          <a:ln/>
        </p:spPr>
        <p:txBody>
          <a:bodyPr wrap="square" lIns="0" tIns="0" rIns="0" bIns="0" rtlCol="0" anchor="ctr"/>
          <a:lstStyle/>
          <a:p>
            <a:pPr marL="0" indent="0">
              <a:lnSpc>
                <a:spcPts val="1600"/>
              </a:lnSpc>
              <a:buNone/>
            </a:pPr>
            <a:r>
              <a:rPr lang="en-US" sz="1200" dirty="0">
                <a:solidFill>
                  <a:srgbClr val="4A3520"/>
                </a:solidFill>
                <a:latin typeface="Calibri" pitchFamily="34" charset="0"/>
                <a:ea typeface="Calibri" pitchFamily="34" charset="-122"/>
                <a:cs typeface="Calibri" pitchFamily="34" charset="-120"/>
              </a:rPr>
              <a:t>No PHI — no MRN, no dates of service, no burned-in identifiers on images.   ·   Eight slides is the ceiling; six is better.   ·   History and exam come before the first pass; labs and imaging wait until after it.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283C"/>
        </a:solidFill>
        <a:effectLst/>
      </p:bgPr>
    </p:bg>
    <p:spTree>
      <p:nvGrpSpPr>
        <p:cNvPr id="1" name=""/>
        <p:cNvGrpSpPr/>
        <p:nvPr/>
      </p:nvGrpSpPr>
      <p:grpSpPr>
        <a:xfrm>
          <a:off x="0" y="0"/>
          <a:ext cx="0" cy="0"/>
          <a:chOff x="0" y="0"/>
          <a:chExt cx="0" cy="0"/>
        </a:xfrm>
      </p:grpSpPr>
      <p:sp>
        <p:nvSpPr>
          <p:cNvPr id="2" name="Shape 0"/>
          <p:cNvSpPr/>
          <p:nvPr/>
        </p:nvSpPr>
        <p:spPr>
          <a:xfrm>
            <a:off x="10424160" y="-1005840"/>
            <a:ext cx="3108960" cy="3108960"/>
          </a:xfrm>
          <a:prstGeom prst="ellipse">
            <a:avLst/>
          </a:prstGeom>
          <a:solidFill>
            <a:srgbClr val="24405E"/>
          </a:solidFill>
          <a:ln w="12700">
            <a:solidFill>
              <a:srgbClr val="24405E"/>
            </a:solidFill>
            <a:prstDash val="solid"/>
          </a:ln>
        </p:spPr>
        <p:txBody>
          <a:bodyPr/>
          <a:lstStyle/>
          <a:p>
            <a:endParaRPr lang="en-US"/>
          </a:p>
        </p:txBody>
      </p:sp>
      <p:sp>
        <p:nvSpPr>
          <p:cNvPr id="3" name="Text 1"/>
          <p:cNvSpPr/>
          <p:nvPr/>
        </p:nvSpPr>
        <p:spPr>
          <a:xfrm>
            <a:off x="822960" y="1371600"/>
            <a:ext cx="7315200" cy="292608"/>
          </a:xfrm>
          <a:prstGeom prst="rect">
            <a:avLst/>
          </a:prstGeom>
          <a:noFill/>
          <a:ln/>
        </p:spPr>
        <p:txBody>
          <a:bodyPr wrap="square" lIns="0" tIns="0" rIns="0" bIns="0" rtlCol="0" anchor="ctr"/>
          <a:lstStyle/>
          <a:p>
            <a:pPr marL="0" indent="0">
              <a:buNone/>
            </a:pPr>
            <a:r>
              <a:rPr lang="en-US" sz="1200" b="1" kern="0" spc="250" dirty="0">
                <a:solidFill>
                  <a:srgbClr val="E8A33D"/>
                </a:solidFill>
                <a:latin typeface="Calibri" pitchFamily="34" charset="0"/>
                <a:ea typeface="Calibri" pitchFamily="34" charset="-122"/>
                <a:cs typeface="Calibri" pitchFamily="34" charset="-120"/>
              </a:rPr>
              <a:t>PEDIATRIC MORNING REPORT</a:t>
            </a:r>
            <a:endParaRPr lang="en-US" sz="1200" dirty="0"/>
          </a:p>
        </p:txBody>
      </p:sp>
      <p:sp>
        <p:nvSpPr>
          <p:cNvPr id="4" name="Text 2"/>
          <p:cNvSpPr/>
          <p:nvPr/>
        </p:nvSpPr>
        <p:spPr>
          <a:xfrm>
            <a:off x="822960" y="1783080"/>
            <a:ext cx="9692640" cy="86868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[Case title — the syndrome, not the diagnosis]</a:t>
            </a:r>
            <a:endParaRPr lang="en-US" sz="3400" dirty="0"/>
          </a:p>
        </p:txBody>
      </p:sp>
      <p:sp>
        <p:nvSpPr>
          <p:cNvPr id="5" name="Text 3"/>
          <p:cNvSpPr/>
          <p:nvPr/>
        </p:nvSpPr>
        <p:spPr>
          <a:xfrm>
            <a:off x="822960" y="2670048"/>
            <a:ext cx="7315200" cy="365760"/>
          </a:xfrm>
          <a:prstGeom prst="rect">
            <a:avLst/>
          </a:prstGeom>
          <a:noFill/>
          <a:ln/>
        </p:spPr>
        <p:txBody>
          <a:bodyPr wrap="square" lIns="0" tIns="0" rIns="0" bIns="0" rtlCol="0" anchor="ctr"/>
          <a:lstStyle/>
          <a:p>
            <a:pPr marL="0" indent="0">
              <a:buNone/>
            </a:pPr>
            <a:r>
              <a:rPr lang="en-US" sz="1400" dirty="0">
                <a:solidFill>
                  <a:srgbClr val="BFD0E0"/>
                </a:solidFill>
                <a:latin typeface="Calibri" pitchFamily="34" charset="0"/>
                <a:ea typeface="Calibri" pitchFamily="34" charset="-122"/>
                <a:cs typeface="Calibri" pitchFamily="34" charset="-120"/>
              </a:rPr>
              <a:t>Case ID PEDS-MR-##   ·   [Date]   ·   [Site]</a:t>
            </a:r>
            <a:endParaRPr lang="en-US" sz="1400" dirty="0"/>
          </a:p>
        </p:txBody>
      </p:sp>
      <p:sp>
        <p:nvSpPr>
          <p:cNvPr id="10" name="Shape 8"/>
          <p:cNvSpPr/>
          <p:nvPr/>
        </p:nvSpPr>
        <p:spPr>
          <a:xfrm>
            <a:off x="822960" y="5440680"/>
            <a:ext cx="5486400" cy="603504"/>
          </a:xfrm>
          <a:prstGeom prst="roundRect">
            <a:avLst>
              <a:gd name="adj" fmla="val 9091"/>
            </a:avLst>
          </a:prstGeom>
          <a:solidFill>
            <a:srgbClr val="24405E"/>
          </a:solidFill>
          <a:ln w="12700">
            <a:solidFill>
              <a:srgbClr val="24405E"/>
            </a:solidFill>
            <a:prstDash val="solid"/>
          </a:ln>
        </p:spPr>
        <p:txBody>
          <a:bodyPr/>
          <a:lstStyle/>
          <a:p>
            <a:endParaRPr lang="en-US"/>
          </a:p>
        </p:txBody>
      </p:sp>
      <p:sp>
        <p:nvSpPr>
          <p:cNvPr id="11" name="Text 9"/>
          <p:cNvSpPr/>
          <p:nvPr/>
        </p:nvSpPr>
        <p:spPr>
          <a:xfrm>
            <a:off x="1005840" y="5440680"/>
            <a:ext cx="5120640" cy="603504"/>
          </a:xfrm>
          <a:prstGeom prst="rect">
            <a:avLst/>
          </a:prstGeom>
          <a:noFill/>
          <a:ln/>
        </p:spPr>
        <p:txBody>
          <a:bodyPr wrap="square" lIns="0" tIns="0" rIns="0" bIns="0" rtlCol="0" anchor="ctr"/>
          <a:lstStyle/>
          <a:p>
            <a:pPr marL="0" indent="0">
              <a:buNone/>
            </a:pPr>
            <a:r>
              <a:rPr lang="en-US" sz="1100" b="1" dirty="0">
                <a:solidFill>
                  <a:srgbClr val="E8A33D"/>
                </a:solidFill>
                <a:latin typeface="Calibri" pitchFamily="34" charset="0"/>
                <a:ea typeface="Calibri" pitchFamily="34" charset="-122"/>
                <a:cs typeface="Calibri" pitchFamily="34" charset="-120"/>
              </a:rPr>
              <a:t>No PHI. No MRN. No dates of service. No burned-in identifiers.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292608"/>
            <a:ext cx="8229600" cy="256032"/>
          </a:xfrm>
          <a:prstGeom prst="rect">
            <a:avLst/>
          </a:prstGeom>
          <a:noFill/>
          <a:ln/>
        </p:spPr>
        <p:txBody>
          <a:bodyPr wrap="square" lIns="0" tIns="0" rIns="0" bIns="0" rtlCol="0" anchor="ctr"/>
          <a:lstStyle/>
          <a:p>
            <a:pPr marL="0" indent="0">
              <a:buNone/>
            </a:pPr>
            <a:r>
              <a:rPr lang="en-US" sz="1100" b="1" kern="0" spc="200" dirty="0">
                <a:solidFill>
                  <a:srgbClr val="E8A33D"/>
                </a:solidFill>
                <a:latin typeface="Calibri" pitchFamily="34" charset="0"/>
                <a:ea typeface="Calibri" pitchFamily="34" charset="-122"/>
                <a:cs typeface="Calibri" pitchFamily="34" charset="-120"/>
              </a:rPr>
              <a:t>THE HOOK</a:t>
            </a:r>
            <a:endParaRPr lang="en-US" sz="1100" dirty="0"/>
          </a:p>
        </p:txBody>
      </p:sp>
      <p:sp>
        <p:nvSpPr>
          <p:cNvPr id="3" name="Shape 1"/>
          <p:cNvSpPr/>
          <p:nvPr/>
        </p:nvSpPr>
        <p:spPr>
          <a:xfrm>
            <a:off x="9829800" y="256032"/>
            <a:ext cx="1792224" cy="384048"/>
          </a:xfrm>
          <a:prstGeom prst="roundRect">
            <a:avLst>
              <a:gd name="adj" fmla="val 11905"/>
            </a:avLst>
          </a:prstGeom>
          <a:solidFill>
            <a:srgbClr val="16283C"/>
          </a:solidFill>
          <a:ln w="12700">
            <a:solidFill>
              <a:srgbClr val="16283C"/>
            </a:solidFill>
            <a:prstDash val="solid"/>
          </a:ln>
        </p:spPr>
        <p:txBody>
          <a:bodyPr/>
          <a:lstStyle/>
          <a:p>
            <a:endParaRPr lang="en-US"/>
          </a:p>
        </p:txBody>
      </p:sp>
      <p:sp>
        <p:nvSpPr>
          <p:cNvPr id="4" name="Text 2"/>
          <p:cNvSpPr/>
          <p:nvPr/>
        </p:nvSpPr>
        <p:spPr>
          <a:xfrm>
            <a:off x="9829800" y="256032"/>
            <a:ext cx="1792224"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0:01 — 2 MIN</a:t>
            </a:r>
            <a:endParaRPr lang="en-US" sz="1050" dirty="0"/>
          </a:p>
        </p:txBody>
      </p:sp>
      <p:sp>
        <p:nvSpPr>
          <p:cNvPr id="5" name="Text 3"/>
          <p:cNvSpPr/>
          <p:nvPr/>
        </p:nvSpPr>
        <p:spPr>
          <a:xfrm>
            <a:off x="822960" y="1234440"/>
            <a:ext cx="10515600" cy="1371600"/>
          </a:xfrm>
          <a:prstGeom prst="rect">
            <a:avLst/>
          </a:prstGeom>
          <a:noFill/>
          <a:ln/>
        </p:spPr>
        <p:txBody>
          <a:bodyPr wrap="square" lIns="0" tIns="0" rIns="0" bIns="0" rtlCol="0" anchor="ctr"/>
          <a:lstStyle/>
          <a:p>
            <a:pPr marL="0" indent="0">
              <a:lnSpc>
                <a:spcPts val="4400"/>
              </a:lnSpc>
              <a:buNone/>
            </a:pPr>
            <a:r>
              <a:rPr lang="en-US" sz="3200" b="1" dirty="0">
                <a:solidFill>
                  <a:srgbClr val="16283C"/>
                </a:solidFill>
                <a:latin typeface="Cambria" pitchFamily="34" charset="0"/>
                <a:ea typeface="Cambria" pitchFamily="34" charset="-122"/>
                <a:cs typeface="Cambria" pitchFamily="34" charset="-120"/>
              </a:rPr>
              <a:t>[Age] [sex] with [relevant background]</a:t>
            </a:r>
            <a:endParaRPr lang="en-US" sz="3200" dirty="0"/>
          </a:p>
          <a:p>
            <a:pPr marL="0" indent="0">
              <a:lnSpc>
                <a:spcPts val="4400"/>
              </a:lnSpc>
              <a:buNone/>
            </a:pPr>
            <a:r>
              <a:rPr lang="en-US" sz="3200" b="1" dirty="0">
                <a:solidFill>
                  <a:srgbClr val="16283C"/>
                </a:solidFill>
                <a:latin typeface="Cambria" pitchFamily="34" charset="0"/>
                <a:ea typeface="Cambria" pitchFamily="34" charset="-122"/>
                <a:cs typeface="Cambria" pitchFamily="34" charset="-120"/>
              </a:rPr>
              <a:t>presents with [chief complaint] for [duration].</a:t>
            </a:r>
            <a:endParaRPr lang="en-US" sz="3200" dirty="0"/>
          </a:p>
        </p:txBody>
      </p:sp>
      <p:sp>
        <p:nvSpPr>
          <p:cNvPr id="6" name="Shape 4"/>
          <p:cNvSpPr/>
          <p:nvPr/>
        </p:nvSpPr>
        <p:spPr>
          <a:xfrm>
            <a:off x="822960" y="2880360"/>
            <a:ext cx="10515600" cy="1417320"/>
          </a:xfrm>
          <a:prstGeom prst="roundRect">
            <a:avLst>
              <a:gd name="adj" fmla="val 5161"/>
            </a:avLst>
          </a:prstGeom>
          <a:solidFill>
            <a:srgbClr val="FBF0DE"/>
          </a:solidFill>
          <a:ln w="12700">
            <a:solidFill>
              <a:srgbClr val="FBF0DE"/>
            </a:solidFill>
            <a:prstDash val="solid"/>
          </a:ln>
          <a:effectLst>
            <a:outerShdw blurRad="101600" dist="25400" dir="5400000" algn="bl" rotWithShape="0">
              <a:srgbClr val="9AA7B4">
                <a:alpha val="28000"/>
              </a:srgbClr>
            </a:outerShdw>
          </a:effectLst>
        </p:spPr>
        <p:txBody>
          <a:bodyPr/>
          <a:lstStyle/>
          <a:p>
            <a:endParaRPr lang="en-US"/>
          </a:p>
        </p:txBody>
      </p:sp>
      <p:sp>
        <p:nvSpPr>
          <p:cNvPr id="7" name="Text 5"/>
          <p:cNvSpPr/>
          <p:nvPr/>
        </p:nvSpPr>
        <p:spPr>
          <a:xfrm>
            <a:off x="1143000" y="2880360"/>
            <a:ext cx="9875520" cy="1417320"/>
          </a:xfrm>
          <a:prstGeom prst="rect">
            <a:avLst/>
          </a:prstGeom>
          <a:noFill/>
          <a:ln/>
        </p:spPr>
        <p:txBody>
          <a:bodyPr wrap="square" lIns="0" tIns="0" rIns="0" bIns="0" rtlCol="0" anchor="ctr"/>
          <a:lstStyle/>
          <a:p>
            <a:pPr marL="0" indent="0">
              <a:lnSpc>
                <a:spcPts val="2600"/>
              </a:lnSpc>
              <a:buNone/>
            </a:pPr>
            <a:r>
              <a:rPr lang="en-US" sz="1900" i="1" dirty="0">
                <a:solidFill>
                  <a:srgbClr val="4A3520"/>
                </a:solidFill>
                <a:latin typeface="Cambria" pitchFamily="34" charset="0"/>
                <a:ea typeface="Cambria" pitchFamily="34" charset="-122"/>
                <a:cs typeface="Cambria" pitchFamily="34" charset="-120"/>
              </a:rPr>
              <a:t>[One provocative datum — the vital sign, the exam finding, or the image that made this case worth 25 minutes]</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292608"/>
            <a:ext cx="8229600" cy="256032"/>
          </a:xfrm>
          <a:prstGeom prst="rect">
            <a:avLst/>
          </a:prstGeom>
          <a:noFill/>
          <a:ln/>
        </p:spPr>
        <p:txBody>
          <a:bodyPr wrap="square" lIns="0" tIns="0" rIns="0" bIns="0" rtlCol="0" anchor="ctr"/>
          <a:lstStyle/>
          <a:p>
            <a:pPr marL="0" indent="0">
              <a:buNone/>
            </a:pPr>
            <a:r>
              <a:rPr lang="en-US" sz="1100" b="1" kern="0" spc="200" dirty="0">
                <a:solidFill>
                  <a:srgbClr val="E8A33D"/>
                </a:solidFill>
                <a:latin typeface="Calibri" pitchFamily="34" charset="0"/>
                <a:ea typeface="Calibri" pitchFamily="34" charset="-122"/>
                <a:cs typeface="Calibri" pitchFamily="34" charset="-120"/>
              </a:rPr>
              <a:t>DATA BLOCK 1  ·  HISTORY AND EXAM</a:t>
            </a:r>
            <a:endParaRPr lang="en-US" sz="1100" dirty="0"/>
          </a:p>
        </p:txBody>
      </p:sp>
      <p:sp>
        <p:nvSpPr>
          <p:cNvPr id="3" name="Shape 1"/>
          <p:cNvSpPr/>
          <p:nvPr/>
        </p:nvSpPr>
        <p:spPr>
          <a:xfrm>
            <a:off x="9829800" y="256032"/>
            <a:ext cx="1792224" cy="384048"/>
          </a:xfrm>
          <a:prstGeom prst="roundRect">
            <a:avLst>
              <a:gd name="adj" fmla="val 11905"/>
            </a:avLst>
          </a:prstGeom>
          <a:solidFill>
            <a:srgbClr val="16283C"/>
          </a:solidFill>
          <a:ln w="12700">
            <a:solidFill>
              <a:srgbClr val="16283C"/>
            </a:solidFill>
            <a:prstDash val="solid"/>
          </a:ln>
        </p:spPr>
        <p:txBody>
          <a:bodyPr/>
          <a:lstStyle/>
          <a:p>
            <a:endParaRPr lang="en-US"/>
          </a:p>
        </p:txBody>
      </p:sp>
      <p:sp>
        <p:nvSpPr>
          <p:cNvPr id="4" name="Text 2"/>
          <p:cNvSpPr/>
          <p:nvPr/>
        </p:nvSpPr>
        <p:spPr>
          <a:xfrm>
            <a:off x="9829800" y="256032"/>
            <a:ext cx="1792224"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0:03 — 4 MIN</a:t>
            </a:r>
            <a:endParaRPr lang="en-US" sz="1050" dirty="0"/>
          </a:p>
        </p:txBody>
      </p:sp>
      <p:sp>
        <p:nvSpPr>
          <p:cNvPr id="5" name="Text 3"/>
          <p:cNvSpPr/>
          <p:nvPr/>
        </p:nvSpPr>
        <p:spPr>
          <a:xfrm>
            <a:off x="548640" y="530352"/>
            <a:ext cx="8686800" cy="548640"/>
          </a:xfrm>
          <a:prstGeom prst="rect">
            <a:avLst/>
          </a:prstGeom>
          <a:noFill/>
          <a:ln/>
        </p:spPr>
        <p:txBody>
          <a:bodyPr wrap="square" lIns="0" tIns="0" rIns="0" bIns="0" rtlCol="0" anchor="ctr"/>
          <a:lstStyle/>
          <a:p>
            <a:pPr marL="0" indent="0">
              <a:buNone/>
            </a:pPr>
            <a:r>
              <a:rPr lang="en-US" sz="2600" b="1" dirty="0">
                <a:solidFill>
                  <a:srgbClr val="16283C"/>
                </a:solidFill>
                <a:latin typeface="Cambria" pitchFamily="34" charset="0"/>
                <a:ea typeface="Cambria" pitchFamily="34" charset="-122"/>
                <a:cs typeface="Cambria" pitchFamily="34" charset="-120"/>
              </a:rPr>
              <a:t>[Case title]</a:t>
            </a:r>
            <a:endParaRPr lang="en-US" sz="2600" dirty="0"/>
          </a:p>
        </p:txBody>
      </p:sp>
      <p:sp>
        <p:nvSpPr>
          <p:cNvPr id="6" name="Shape 4"/>
          <p:cNvSpPr/>
          <p:nvPr/>
        </p:nvSpPr>
        <p:spPr>
          <a:xfrm>
            <a:off x="566928" y="1234440"/>
            <a:ext cx="5394960" cy="4663440"/>
          </a:xfrm>
          <a:prstGeom prst="roundRect">
            <a:avLst>
              <a:gd name="adj" fmla="val 1569"/>
            </a:avLst>
          </a:prstGeom>
          <a:solidFill>
            <a:srgbClr val="EEF2F5"/>
          </a:solidFill>
          <a:ln w="12700">
            <a:solidFill>
              <a:srgbClr val="EEF2F5"/>
            </a:solidFill>
            <a:prstDash val="solid"/>
          </a:ln>
          <a:effectLst>
            <a:outerShdw blurRad="101600" dist="25400" dir="5400000" algn="bl" rotWithShape="0">
              <a:srgbClr val="9AA7B4">
                <a:alpha val="28000"/>
              </a:srgbClr>
            </a:outerShdw>
          </a:effectLst>
        </p:spPr>
        <p:txBody>
          <a:bodyPr/>
          <a:lstStyle/>
          <a:p>
            <a:endParaRPr lang="en-US"/>
          </a:p>
        </p:txBody>
      </p:sp>
      <p:sp>
        <p:nvSpPr>
          <p:cNvPr id="7" name="Shape 5"/>
          <p:cNvSpPr/>
          <p:nvPr/>
        </p:nvSpPr>
        <p:spPr>
          <a:xfrm>
            <a:off x="566928" y="1234440"/>
            <a:ext cx="5394960" cy="475488"/>
          </a:xfrm>
          <a:prstGeom prst="rect">
            <a:avLst/>
          </a:prstGeom>
          <a:solidFill>
            <a:srgbClr val="16283C"/>
          </a:solidFill>
          <a:ln w="12700">
            <a:solidFill>
              <a:srgbClr val="16283C"/>
            </a:solidFill>
            <a:prstDash val="solid"/>
          </a:ln>
        </p:spPr>
        <p:txBody>
          <a:bodyPr/>
          <a:lstStyle/>
          <a:p>
            <a:endParaRPr lang="en-US"/>
          </a:p>
        </p:txBody>
      </p:sp>
      <p:sp>
        <p:nvSpPr>
          <p:cNvPr id="8" name="Text 6"/>
          <p:cNvSpPr/>
          <p:nvPr/>
        </p:nvSpPr>
        <p:spPr>
          <a:xfrm>
            <a:off x="822960" y="1234440"/>
            <a:ext cx="4846320" cy="475488"/>
          </a:xfrm>
          <a:prstGeom prst="rect">
            <a:avLst/>
          </a:prstGeom>
          <a:noFill/>
          <a:ln/>
        </p:spPr>
        <p:txBody>
          <a:bodyPr wrap="square" lIns="0" tIns="0" rIns="0" bIns="0" rtlCol="0" anchor="ctr"/>
          <a:lstStyle/>
          <a:p>
            <a:pPr marL="0" indent="0">
              <a:buNone/>
            </a:pPr>
            <a:r>
              <a:rPr lang="en-US" sz="1150" b="1" kern="0" spc="150" dirty="0">
                <a:solidFill>
                  <a:srgbClr val="FFFFFF"/>
                </a:solidFill>
                <a:latin typeface="Calibri" pitchFamily="34" charset="0"/>
                <a:ea typeface="Calibri" pitchFamily="34" charset="-122"/>
                <a:cs typeface="Calibri" pitchFamily="34" charset="-120"/>
              </a:rPr>
              <a:t>HISTORY</a:t>
            </a:r>
            <a:endParaRPr lang="en-US" sz="1150" dirty="0"/>
          </a:p>
        </p:txBody>
      </p:sp>
      <p:sp>
        <p:nvSpPr>
          <p:cNvPr id="9" name="Text 7"/>
          <p:cNvSpPr/>
          <p:nvPr/>
        </p:nvSpPr>
        <p:spPr>
          <a:xfrm>
            <a:off x="841248" y="1874520"/>
            <a:ext cx="4846320" cy="237744"/>
          </a:xfrm>
          <a:prstGeom prst="rect">
            <a:avLst/>
          </a:prstGeom>
          <a:noFill/>
          <a:ln/>
        </p:spPr>
        <p:txBody>
          <a:bodyPr wrap="square" lIns="0" tIns="0" rIns="0" bIns="0" rtlCol="0" anchor="ctr"/>
          <a:lstStyle/>
          <a:p>
            <a:pPr marL="0" indent="0">
              <a:buNone/>
            </a:pPr>
            <a:r>
              <a:rPr lang="en-US" sz="1100" b="1" dirty="0">
                <a:solidFill>
                  <a:srgbClr val="2E7D8F"/>
                </a:solidFill>
                <a:latin typeface="Calibri" pitchFamily="34" charset="0"/>
                <a:ea typeface="Calibri" pitchFamily="34" charset="-122"/>
                <a:cs typeface="Calibri" pitchFamily="34" charset="-120"/>
              </a:rPr>
              <a:t>HPI</a:t>
            </a:r>
            <a:endParaRPr lang="en-US" sz="1100" dirty="0"/>
          </a:p>
        </p:txBody>
      </p:sp>
      <p:sp>
        <p:nvSpPr>
          <p:cNvPr id="10" name="Text 8"/>
          <p:cNvSpPr/>
          <p:nvPr/>
        </p:nvSpPr>
        <p:spPr>
          <a:xfrm>
            <a:off x="841248" y="2112264"/>
            <a:ext cx="4846320" cy="548640"/>
          </a:xfrm>
          <a:prstGeom prst="rect">
            <a:avLst/>
          </a:prstGeom>
          <a:noFill/>
          <a:ln/>
        </p:spPr>
        <p:txBody>
          <a:bodyPr wrap="square" lIns="0" tIns="0" rIns="0" bIns="0" rtlCol="0" anchor="ctr"/>
          <a:lstStyle/>
          <a:p>
            <a:pPr marL="0" indent="0">
              <a:lnSpc>
                <a:spcPts val="1500"/>
              </a:lnSpc>
              <a:buNone/>
            </a:pPr>
            <a:r>
              <a:rPr lang="en-US" sz="1150" i="1" dirty="0">
                <a:solidFill>
                  <a:srgbClr val="8A97A4"/>
                </a:solidFill>
                <a:latin typeface="Calibri" pitchFamily="34" charset="0"/>
                <a:ea typeface="Calibri" pitchFamily="34" charset="-122"/>
                <a:cs typeface="Calibri" pitchFamily="34" charset="-120"/>
              </a:rPr>
              <a:t>[onset, tempo, associated symptoms, what has changed]</a:t>
            </a:r>
            <a:endParaRPr lang="en-US" sz="1150" dirty="0"/>
          </a:p>
        </p:txBody>
      </p:sp>
      <p:sp>
        <p:nvSpPr>
          <p:cNvPr id="11" name="Text 9"/>
          <p:cNvSpPr/>
          <p:nvPr/>
        </p:nvSpPr>
        <p:spPr>
          <a:xfrm>
            <a:off x="841248" y="2715768"/>
            <a:ext cx="4846320" cy="237744"/>
          </a:xfrm>
          <a:prstGeom prst="rect">
            <a:avLst/>
          </a:prstGeom>
          <a:noFill/>
          <a:ln/>
        </p:spPr>
        <p:txBody>
          <a:bodyPr wrap="square" lIns="0" tIns="0" rIns="0" bIns="0" rtlCol="0" anchor="ctr"/>
          <a:lstStyle/>
          <a:p>
            <a:pPr marL="0" indent="0">
              <a:buNone/>
            </a:pPr>
            <a:r>
              <a:rPr lang="en-US" sz="1100" b="1" dirty="0">
                <a:solidFill>
                  <a:srgbClr val="2E7D8F"/>
                </a:solidFill>
                <a:latin typeface="Calibri" pitchFamily="34" charset="0"/>
                <a:ea typeface="Calibri" pitchFamily="34" charset="-122"/>
                <a:cs typeface="Calibri" pitchFamily="34" charset="-120"/>
              </a:rPr>
              <a:t>Exposures</a:t>
            </a:r>
            <a:endParaRPr lang="en-US" sz="1100" dirty="0"/>
          </a:p>
        </p:txBody>
      </p:sp>
      <p:sp>
        <p:nvSpPr>
          <p:cNvPr id="12" name="Text 10"/>
          <p:cNvSpPr/>
          <p:nvPr/>
        </p:nvSpPr>
        <p:spPr>
          <a:xfrm>
            <a:off x="841248" y="2953512"/>
            <a:ext cx="4846320" cy="548640"/>
          </a:xfrm>
          <a:prstGeom prst="rect">
            <a:avLst/>
          </a:prstGeom>
          <a:noFill/>
          <a:ln/>
        </p:spPr>
        <p:txBody>
          <a:bodyPr wrap="square" lIns="0" tIns="0" rIns="0" bIns="0" rtlCol="0" anchor="ctr"/>
          <a:lstStyle/>
          <a:p>
            <a:pPr marL="0" indent="0">
              <a:lnSpc>
                <a:spcPts val="1500"/>
              </a:lnSpc>
              <a:buNone/>
            </a:pPr>
            <a:r>
              <a:rPr lang="en-US" sz="1150" i="1" dirty="0">
                <a:solidFill>
                  <a:srgbClr val="8A97A4"/>
                </a:solidFill>
                <a:latin typeface="Calibri" pitchFamily="34" charset="0"/>
                <a:ea typeface="Calibri" pitchFamily="34" charset="-122"/>
                <a:cs typeface="Calibri" pitchFamily="34" charset="-120"/>
              </a:rPr>
              <a:t>[sick contacts, daycare, travel, animals, water]</a:t>
            </a:r>
            <a:endParaRPr lang="en-US" sz="1150" dirty="0"/>
          </a:p>
        </p:txBody>
      </p:sp>
      <p:sp>
        <p:nvSpPr>
          <p:cNvPr id="13" name="Text 11"/>
          <p:cNvSpPr/>
          <p:nvPr/>
        </p:nvSpPr>
        <p:spPr>
          <a:xfrm>
            <a:off x="841248" y="3557016"/>
            <a:ext cx="4846320" cy="237744"/>
          </a:xfrm>
          <a:prstGeom prst="rect">
            <a:avLst/>
          </a:prstGeom>
          <a:noFill/>
          <a:ln/>
        </p:spPr>
        <p:txBody>
          <a:bodyPr wrap="square" lIns="0" tIns="0" rIns="0" bIns="0" rtlCol="0" anchor="ctr"/>
          <a:lstStyle/>
          <a:p>
            <a:pPr marL="0" indent="0">
              <a:buNone/>
            </a:pPr>
            <a:r>
              <a:rPr lang="en-US" sz="1100" b="1" dirty="0">
                <a:solidFill>
                  <a:srgbClr val="2E7D8F"/>
                </a:solidFill>
                <a:latin typeface="Calibri" pitchFamily="34" charset="0"/>
                <a:ea typeface="Calibri" pitchFamily="34" charset="-122"/>
                <a:cs typeface="Calibri" pitchFamily="34" charset="-120"/>
              </a:rPr>
              <a:t>Birth / immunizations</a:t>
            </a:r>
            <a:endParaRPr lang="en-US" sz="1100" dirty="0"/>
          </a:p>
        </p:txBody>
      </p:sp>
      <p:sp>
        <p:nvSpPr>
          <p:cNvPr id="14" name="Text 12"/>
          <p:cNvSpPr/>
          <p:nvPr/>
        </p:nvSpPr>
        <p:spPr>
          <a:xfrm>
            <a:off x="841248" y="3794760"/>
            <a:ext cx="4846320" cy="548640"/>
          </a:xfrm>
          <a:prstGeom prst="rect">
            <a:avLst/>
          </a:prstGeom>
          <a:noFill/>
          <a:ln/>
        </p:spPr>
        <p:txBody>
          <a:bodyPr wrap="square" lIns="0" tIns="0" rIns="0" bIns="0" rtlCol="0" anchor="ctr"/>
          <a:lstStyle/>
          <a:p>
            <a:pPr marL="0" indent="0">
              <a:lnSpc>
                <a:spcPts val="1500"/>
              </a:lnSpc>
              <a:buNone/>
            </a:pPr>
            <a:r>
              <a:rPr lang="en-US" sz="1150" i="1" dirty="0">
                <a:solidFill>
                  <a:srgbClr val="8A97A4"/>
                </a:solidFill>
                <a:latin typeface="Calibri" pitchFamily="34" charset="0"/>
                <a:ea typeface="Calibri" pitchFamily="34" charset="-122"/>
                <a:cs typeface="Calibri" pitchFamily="34" charset="-120"/>
              </a:rPr>
              <a:t>[gestational age, delivery, newborn screen, vaccines up to date?]</a:t>
            </a:r>
            <a:endParaRPr lang="en-US" sz="1150" dirty="0"/>
          </a:p>
        </p:txBody>
      </p:sp>
      <p:sp>
        <p:nvSpPr>
          <p:cNvPr id="15" name="Text 13"/>
          <p:cNvSpPr/>
          <p:nvPr/>
        </p:nvSpPr>
        <p:spPr>
          <a:xfrm>
            <a:off x="841248" y="4398264"/>
            <a:ext cx="4846320" cy="237744"/>
          </a:xfrm>
          <a:prstGeom prst="rect">
            <a:avLst/>
          </a:prstGeom>
          <a:noFill/>
          <a:ln/>
        </p:spPr>
        <p:txBody>
          <a:bodyPr wrap="square" lIns="0" tIns="0" rIns="0" bIns="0" rtlCol="0" anchor="ctr"/>
          <a:lstStyle/>
          <a:p>
            <a:pPr marL="0" indent="0">
              <a:buNone/>
            </a:pPr>
            <a:r>
              <a:rPr lang="en-US" sz="1100" b="1" dirty="0">
                <a:solidFill>
                  <a:srgbClr val="2E7D8F"/>
                </a:solidFill>
                <a:latin typeface="Calibri" pitchFamily="34" charset="0"/>
                <a:ea typeface="Calibri" pitchFamily="34" charset="-122"/>
                <a:cs typeface="Calibri" pitchFamily="34" charset="-120"/>
              </a:rPr>
              <a:t>Past history / meds</a:t>
            </a:r>
            <a:endParaRPr lang="en-US" sz="1100" dirty="0"/>
          </a:p>
        </p:txBody>
      </p:sp>
      <p:sp>
        <p:nvSpPr>
          <p:cNvPr id="16" name="Text 14"/>
          <p:cNvSpPr/>
          <p:nvPr/>
        </p:nvSpPr>
        <p:spPr>
          <a:xfrm>
            <a:off x="841248" y="4636008"/>
            <a:ext cx="4846320" cy="548640"/>
          </a:xfrm>
          <a:prstGeom prst="rect">
            <a:avLst/>
          </a:prstGeom>
          <a:noFill/>
          <a:ln/>
        </p:spPr>
        <p:txBody>
          <a:bodyPr wrap="square" lIns="0" tIns="0" rIns="0" bIns="0" rtlCol="0" anchor="ctr"/>
          <a:lstStyle/>
          <a:p>
            <a:pPr marL="0" indent="0">
              <a:lnSpc>
                <a:spcPts val="1500"/>
              </a:lnSpc>
              <a:buNone/>
            </a:pPr>
            <a:r>
              <a:rPr lang="en-US" sz="1150" i="1" dirty="0">
                <a:solidFill>
                  <a:srgbClr val="8A97A4"/>
                </a:solidFill>
                <a:latin typeface="Calibri" pitchFamily="34" charset="0"/>
                <a:ea typeface="Calibri" pitchFamily="34" charset="-122"/>
                <a:cs typeface="Calibri" pitchFamily="34" charset="-120"/>
              </a:rPr>
              <a:t>[relevant only — not a full chart review]</a:t>
            </a:r>
            <a:endParaRPr lang="en-US" sz="1150" dirty="0"/>
          </a:p>
        </p:txBody>
      </p:sp>
      <p:sp>
        <p:nvSpPr>
          <p:cNvPr id="17" name="Text 15"/>
          <p:cNvSpPr/>
          <p:nvPr/>
        </p:nvSpPr>
        <p:spPr>
          <a:xfrm>
            <a:off x="841248" y="5239512"/>
            <a:ext cx="4846320" cy="237744"/>
          </a:xfrm>
          <a:prstGeom prst="rect">
            <a:avLst/>
          </a:prstGeom>
          <a:noFill/>
          <a:ln/>
        </p:spPr>
        <p:txBody>
          <a:bodyPr wrap="square" lIns="0" tIns="0" rIns="0" bIns="0" rtlCol="0" anchor="ctr"/>
          <a:lstStyle/>
          <a:p>
            <a:pPr marL="0" indent="0">
              <a:buNone/>
            </a:pPr>
            <a:r>
              <a:rPr lang="en-US" sz="1100" b="1" dirty="0">
                <a:solidFill>
                  <a:srgbClr val="2E7D8F"/>
                </a:solidFill>
                <a:latin typeface="Calibri" pitchFamily="34" charset="0"/>
                <a:ea typeface="Calibri" pitchFamily="34" charset="-122"/>
                <a:cs typeface="Calibri" pitchFamily="34" charset="-120"/>
              </a:rPr>
              <a:t>Social / access</a:t>
            </a:r>
            <a:endParaRPr lang="en-US" sz="1100" dirty="0"/>
          </a:p>
        </p:txBody>
      </p:sp>
      <p:sp>
        <p:nvSpPr>
          <p:cNvPr id="18" name="Text 16"/>
          <p:cNvSpPr/>
          <p:nvPr/>
        </p:nvSpPr>
        <p:spPr>
          <a:xfrm>
            <a:off x="841248" y="5477256"/>
            <a:ext cx="4846320" cy="548640"/>
          </a:xfrm>
          <a:prstGeom prst="rect">
            <a:avLst/>
          </a:prstGeom>
          <a:noFill/>
          <a:ln/>
        </p:spPr>
        <p:txBody>
          <a:bodyPr wrap="square" lIns="0" tIns="0" rIns="0" bIns="0" rtlCol="0" anchor="ctr"/>
          <a:lstStyle/>
          <a:p>
            <a:pPr marL="0" indent="0">
              <a:lnSpc>
                <a:spcPts val="1500"/>
              </a:lnSpc>
              <a:buNone/>
            </a:pPr>
            <a:r>
              <a:rPr lang="en-US" sz="1150" i="1" dirty="0">
                <a:solidFill>
                  <a:srgbClr val="8A97A4"/>
                </a:solidFill>
                <a:latin typeface="Calibri" pitchFamily="34" charset="0"/>
                <a:ea typeface="Calibri" pitchFamily="34" charset="-122"/>
                <a:cs typeface="Calibri" pitchFamily="34" charset="-120"/>
              </a:rPr>
              <a:t>[household, insurance, transport, anything driving the presentation]</a:t>
            </a:r>
            <a:endParaRPr lang="en-US" sz="1150" dirty="0"/>
          </a:p>
        </p:txBody>
      </p:sp>
      <p:sp>
        <p:nvSpPr>
          <p:cNvPr id="19" name="Shape 17"/>
          <p:cNvSpPr/>
          <p:nvPr/>
        </p:nvSpPr>
        <p:spPr>
          <a:xfrm>
            <a:off x="6227064" y="1234440"/>
            <a:ext cx="5394960" cy="4663440"/>
          </a:xfrm>
          <a:prstGeom prst="roundRect">
            <a:avLst>
              <a:gd name="adj" fmla="val 1569"/>
            </a:avLst>
          </a:prstGeom>
          <a:solidFill>
            <a:srgbClr val="EEF2F5"/>
          </a:solidFill>
          <a:ln w="12700">
            <a:solidFill>
              <a:srgbClr val="EEF2F5"/>
            </a:solidFill>
            <a:prstDash val="solid"/>
          </a:ln>
          <a:effectLst>
            <a:outerShdw blurRad="101600" dist="25400" dir="5400000" algn="bl" rotWithShape="0">
              <a:srgbClr val="9AA7B4">
                <a:alpha val="28000"/>
              </a:srgbClr>
            </a:outerShdw>
          </a:effectLst>
        </p:spPr>
        <p:txBody>
          <a:bodyPr/>
          <a:lstStyle/>
          <a:p>
            <a:endParaRPr lang="en-US"/>
          </a:p>
        </p:txBody>
      </p:sp>
      <p:sp>
        <p:nvSpPr>
          <p:cNvPr id="20" name="Shape 18"/>
          <p:cNvSpPr/>
          <p:nvPr/>
        </p:nvSpPr>
        <p:spPr>
          <a:xfrm>
            <a:off x="6227064" y="1234440"/>
            <a:ext cx="5394960" cy="475488"/>
          </a:xfrm>
          <a:prstGeom prst="rect">
            <a:avLst/>
          </a:prstGeom>
          <a:solidFill>
            <a:srgbClr val="2E7D8F"/>
          </a:solidFill>
          <a:ln w="12700">
            <a:solidFill>
              <a:srgbClr val="2E7D8F"/>
            </a:solidFill>
            <a:prstDash val="solid"/>
          </a:ln>
        </p:spPr>
        <p:txBody>
          <a:bodyPr/>
          <a:lstStyle/>
          <a:p>
            <a:endParaRPr lang="en-US"/>
          </a:p>
        </p:txBody>
      </p:sp>
      <p:sp>
        <p:nvSpPr>
          <p:cNvPr id="21" name="Text 19"/>
          <p:cNvSpPr/>
          <p:nvPr/>
        </p:nvSpPr>
        <p:spPr>
          <a:xfrm>
            <a:off x="6483096" y="1234440"/>
            <a:ext cx="4846320" cy="475488"/>
          </a:xfrm>
          <a:prstGeom prst="rect">
            <a:avLst/>
          </a:prstGeom>
          <a:noFill/>
          <a:ln/>
        </p:spPr>
        <p:txBody>
          <a:bodyPr wrap="square" lIns="0" tIns="0" rIns="0" bIns="0" rtlCol="0" anchor="ctr"/>
          <a:lstStyle/>
          <a:p>
            <a:pPr marL="0" indent="0">
              <a:buNone/>
            </a:pPr>
            <a:r>
              <a:rPr lang="en-US" sz="1150" b="1" kern="0" spc="150" dirty="0">
                <a:solidFill>
                  <a:srgbClr val="FFFFFF"/>
                </a:solidFill>
                <a:latin typeface="Calibri" pitchFamily="34" charset="0"/>
                <a:ea typeface="Calibri" pitchFamily="34" charset="-122"/>
                <a:cs typeface="Calibri" pitchFamily="34" charset="-120"/>
              </a:rPr>
              <a:t>EXAM AND VITALS</a:t>
            </a:r>
            <a:endParaRPr lang="en-US" sz="1150" dirty="0"/>
          </a:p>
        </p:txBody>
      </p:sp>
      <p:sp>
        <p:nvSpPr>
          <p:cNvPr id="22" name="Shape 20"/>
          <p:cNvSpPr/>
          <p:nvPr/>
        </p:nvSpPr>
        <p:spPr>
          <a:xfrm>
            <a:off x="6483096" y="1828800"/>
            <a:ext cx="4882896" cy="749808"/>
          </a:xfrm>
          <a:prstGeom prst="rect">
            <a:avLst/>
          </a:prstGeom>
          <a:solidFill>
            <a:srgbClr val="FFFFFF"/>
          </a:solidFill>
          <a:ln w="6350">
            <a:solidFill>
              <a:srgbClr val="E8EDF1"/>
            </a:solidFill>
            <a:prstDash val="solid"/>
          </a:ln>
        </p:spPr>
        <p:txBody>
          <a:bodyPr/>
          <a:lstStyle/>
          <a:p>
            <a:endParaRPr lang="en-US"/>
          </a:p>
        </p:txBody>
      </p:sp>
      <p:sp>
        <p:nvSpPr>
          <p:cNvPr id="23" name="Text 21"/>
          <p:cNvSpPr/>
          <p:nvPr/>
        </p:nvSpPr>
        <p:spPr>
          <a:xfrm>
            <a:off x="6601968" y="1874520"/>
            <a:ext cx="4663440" cy="237744"/>
          </a:xfrm>
          <a:prstGeom prst="rect">
            <a:avLst/>
          </a:prstGeom>
          <a:noFill/>
          <a:ln/>
        </p:spPr>
        <p:txBody>
          <a:bodyPr wrap="square" lIns="0" tIns="0" rIns="0" bIns="0" rtlCol="0" anchor="ctr"/>
          <a:lstStyle/>
          <a:p>
            <a:pPr marL="0" indent="0">
              <a:buNone/>
            </a:pPr>
            <a:r>
              <a:rPr lang="en-US" sz="1100" b="1" dirty="0">
                <a:solidFill>
                  <a:srgbClr val="2E7D8F"/>
                </a:solidFill>
                <a:latin typeface="Calibri" pitchFamily="34" charset="0"/>
                <a:ea typeface="Calibri" pitchFamily="34" charset="-122"/>
                <a:cs typeface="Calibri" pitchFamily="34" charset="-120"/>
              </a:rPr>
              <a:t>Vitals</a:t>
            </a:r>
            <a:endParaRPr lang="en-US" sz="1100" dirty="0"/>
          </a:p>
        </p:txBody>
      </p:sp>
      <p:sp>
        <p:nvSpPr>
          <p:cNvPr id="24" name="Text 22"/>
          <p:cNvSpPr/>
          <p:nvPr/>
        </p:nvSpPr>
        <p:spPr>
          <a:xfrm>
            <a:off x="6601968" y="2112264"/>
            <a:ext cx="4663440" cy="420624"/>
          </a:xfrm>
          <a:prstGeom prst="rect">
            <a:avLst/>
          </a:prstGeom>
          <a:noFill/>
          <a:ln/>
        </p:spPr>
        <p:txBody>
          <a:bodyPr wrap="square" lIns="0" tIns="0" rIns="0" bIns="0" rtlCol="0" anchor="ctr"/>
          <a:lstStyle/>
          <a:p>
            <a:pPr marL="0" indent="0">
              <a:buNone/>
            </a:pPr>
            <a:r>
              <a:rPr lang="en-US" sz="1150" i="1" dirty="0">
                <a:solidFill>
                  <a:srgbClr val="8A97A4"/>
                </a:solidFill>
                <a:latin typeface="Calibri" pitchFamily="34" charset="0"/>
                <a:ea typeface="Calibri" pitchFamily="34" charset="-122"/>
                <a:cs typeface="Calibri" pitchFamily="34" charset="-120"/>
              </a:rPr>
              <a:t>T ___   HR ___   RR ___   BP ___   SpO2 ___</a:t>
            </a:r>
            <a:endParaRPr lang="en-US" sz="1150" dirty="0"/>
          </a:p>
        </p:txBody>
      </p:sp>
      <p:sp>
        <p:nvSpPr>
          <p:cNvPr id="25" name="Shape 23"/>
          <p:cNvSpPr/>
          <p:nvPr/>
        </p:nvSpPr>
        <p:spPr>
          <a:xfrm>
            <a:off x="6483096" y="2615184"/>
            <a:ext cx="4882896" cy="749808"/>
          </a:xfrm>
          <a:prstGeom prst="rect">
            <a:avLst/>
          </a:prstGeom>
          <a:solidFill>
            <a:srgbClr val="F7F9FB"/>
          </a:solidFill>
          <a:ln w="6350">
            <a:solidFill>
              <a:srgbClr val="E8EDF1"/>
            </a:solidFill>
            <a:prstDash val="solid"/>
          </a:ln>
        </p:spPr>
        <p:txBody>
          <a:bodyPr/>
          <a:lstStyle/>
          <a:p>
            <a:endParaRPr lang="en-US"/>
          </a:p>
        </p:txBody>
      </p:sp>
      <p:sp>
        <p:nvSpPr>
          <p:cNvPr id="26" name="Text 24"/>
          <p:cNvSpPr/>
          <p:nvPr/>
        </p:nvSpPr>
        <p:spPr>
          <a:xfrm>
            <a:off x="6601968" y="2660904"/>
            <a:ext cx="4663440" cy="237744"/>
          </a:xfrm>
          <a:prstGeom prst="rect">
            <a:avLst/>
          </a:prstGeom>
          <a:noFill/>
          <a:ln/>
        </p:spPr>
        <p:txBody>
          <a:bodyPr wrap="square" lIns="0" tIns="0" rIns="0" bIns="0" rtlCol="0" anchor="ctr"/>
          <a:lstStyle/>
          <a:p>
            <a:pPr marL="0" indent="0">
              <a:buNone/>
            </a:pPr>
            <a:r>
              <a:rPr lang="en-US" sz="1100" b="1" dirty="0">
                <a:solidFill>
                  <a:srgbClr val="2E7D8F"/>
                </a:solidFill>
                <a:latin typeface="Calibri" pitchFamily="34" charset="0"/>
                <a:ea typeface="Calibri" pitchFamily="34" charset="-122"/>
                <a:cs typeface="Calibri" pitchFamily="34" charset="-120"/>
              </a:rPr>
              <a:t>Growth</a:t>
            </a:r>
            <a:endParaRPr lang="en-US" sz="1100" dirty="0"/>
          </a:p>
        </p:txBody>
      </p:sp>
      <p:sp>
        <p:nvSpPr>
          <p:cNvPr id="27" name="Text 25"/>
          <p:cNvSpPr/>
          <p:nvPr/>
        </p:nvSpPr>
        <p:spPr>
          <a:xfrm>
            <a:off x="6601968" y="2898648"/>
            <a:ext cx="4663440" cy="420624"/>
          </a:xfrm>
          <a:prstGeom prst="rect">
            <a:avLst/>
          </a:prstGeom>
          <a:noFill/>
          <a:ln/>
        </p:spPr>
        <p:txBody>
          <a:bodyPr wrap="square" lIns="0" tIns="0" rIns="0" bIns="0" rtlCol="0" anchor="ctr"/>
          <a:lstStyle/>
          <a:p>
            <a:pPr marL="0" indent="0">
              <a:buNone/>
            </a:pPr>
            <a:r>
              <a:rPr lang="en-US" sz="1150" i="1" dirty="0">
                <a:solidFill>
                  <a:srgbClr val="8A97A4"/>
                </a:solidFill>
                <a:latin typeface="Calibri" pitchFamily="34" charset="0"/>
                <a:ea typeface="Calibri" pitchFamily="34" charset="-122"/>
                <a:cs typeface="Calibri" pitchFamily="34" charset="-120"/>
              </a:rPr>
              <a:t>Wt ___ (__%)   Ht ___ (__%)   HC ___ (__%)</a:t>
            </a:r>
            <a:endParaRPr lang="en-US" sz="1150" dirty="0"/>
          </a:p>
        </p:txBody>
      </p:sp>
      <p:sp>
        <p:nvSpPr>
          <p:cNvPr id="28" name="Shape 26"/>
          <p:cNvSpPr/>
          <p:nvPr/>
        </p:nvSpPr>
        <p:spPr>
          <a:xfrm>
            <a:off x="6483096" y="3401568"/>
            <a:ext cx="4882896" cy="749808"/>
          </a:xfrm>
          <a:prstGeom prst="rect">
            <a:avLst/>
          </a:prstGeom>
          <a:solidFill>
            <a:srgbClr val="FFFFFF"/>
          </a:solidFill>
          <a:ln w="6350">
            <a:solidFill>
              <a:srgbClr val="E8EDF1"/>
            </a:solidFill>
            <a:prstDash val="solid"/>
          </a:ln>
        </p:spPr>
        <p:txBody>
          <a:bodyPr/>
          <a:lstStyle/>
          <a:p>
            <a:endParaRPr lang="en-US"/>
          </a:p>
        </p:txBody>
      </p:sp>
      <p:sp>
        <p:nvSpPr>
          <p:cNvPr id="29" name="Text 27"/>
          <p:cNvSpPr/>
          <p:nvPr/>
        </p:nvSpPr>
        <p:spPr>
          <a:xfrm>
            <a:off x="6601968" y="3447288"/>
            <a:ext cx="4663440" cy="237744"/>
          </a:xfrm>
          <a:prstGeom prst="rect">
            <a:avLst/>
          </a:prstGeom>
          <a:noFill/>
          <a:ln/>
        </p:spPr>
        <p:txBody>
          <a:bodyPr wrap="square" lIns="0" tIns="0" rIns="0" bIns="0" rtlCol="0" anchor="ctr"/>
          <a:lstStyle/>
          <a:p>
            <a:pPr marL="0" indent="0">
              <a:buNone/>
            </a:pPr>
            <a:r>
              <a:rPr lang="en-US" sz="1100" b="1" dirty="0">
                <a:solidFill>
                  <a:srgbClr val="2E7D8F"/>
                </a:solidFill>
                <a:latin typeface="Calibri" pitchFamily="34" charset="0"/>
                <a:ea typeface="Calibri" pitchFamily="34" charset="-122"/>
                <a:cs typeface="Calibri" pitchFamily="34" charset="-120"/>
              </a:rPr>
              <a:t>General</a:t>
            </a:r>
            <a:endParaRPr lang="en-US" sz="1100" dirty="0"/>
          </a:p>
        </p:txBody>
      </p:sp>
      <p:sp>
        <p:nvSpPr>
          <p:cNvPr id="30" name="Text 28"/>
          <p:cNvSpPr/>
          <p:nvPr/>
        </p:nvSpPr>
        <p:spPr>
          <a:xfrm>
            <a:off x="6601968" y="3685032"/>
            <a:ext cx="4663440" cy="420624"/>
          </a:xfrm>
          <a:prstGeom prst="rect">
            <a:avLst/>
          </a:prstGeom>
          <a:noFill/>
          <a:ln/>
        </p:spPr>
        <p:txBody>
          <a:bodyPr wrap="square" lIns="0" tIns="0" rIns="0" bIns="0" rtlCol="0" anchor="ctr"/>
          <a:lstStyle/>
          <a:p>
            <a:pPr marL="0" indent="0">
              <a:buNone/>
            </a:pPr>
            <a:r>
              <a:rPr lang="en-US" sz="1150" i="1" dirty="0">
                <a:solidFill>
                  <a:srgbClr val="8A97A4"/>
                </a:solidFill>
                <a:latin typeface="Calibri" pitchFamily="34" charset="0"/>
                <a:ea typeface="Calibri" pitchFamily="34" charset="-122"/>
                <a:cs typeface="Calibri" pitchFamily="34" charset="-120"/>
              </a:rPr>
              <a:t>[well or ill-appearing — say which]</a:t>
            </a:r>
            <a:endParaRPr lang="en-US" sz="1150" dirty="0"/>
          </a:p>
        </p:txBody>
      </p:sp>
      <p:sp>
        <p:nvSpPr>
          <p:cNvPr id="31" name="Shape 29"/>
          <p:cNvSpPr/>
          <p:nvPr/>
        </p:nvSpPr>
        <p:spPr>
          <a:xfrm>
            <a:off x="6483096" y="4187952"/>
            <a:ext cx="4882896" cy="749808"/>
          </a:xfrm>
          <a:prstGeom prst="rect">
            <a:avLst/>
          </a:prstGeom>
          <a:solidFill>
            <a:srgbClr val="F7F9FB"/>
          </a:solidFill>
          <a:ln w="6350">
            <a:solidFill>
              <a:srgbClr val="E8EDF1"/>
            </a:solidFill>
            <a:prstDash val="solid"/>
          </a:ln>
        </p:spPr>
        <p:txBody>
          <a:bodyPr/>
          <a:lstStyle/>
          <a:p>
            <a:endParaRPr lang="en-US"/>
          </a:p>
        </p:txBody>
      </p:sp>
      <p:sp>
        <p:nvSpPr>
          <p:cNvPr id="32" name="Text 30"/>
          <p:cNvSpPr/>
          <p:nvPr/>
        </p:nvSpPr>
        <p:spPr>
          <a:xfrm>
            <a:off x="6601968" y="4233672"/>
            <a:ext cx="4663440" cy="237744"/>
          </a:xfrm>
          <a:prstGeom prst="rect">
            <a:avLst/>
          </a:prstGeom>
          <a:noFill/>
          <a:ln/>
        </p:spPr>
        <p:txBody>
          <a:bodyPr wrap="square" lIns="0" tIns="0" rIns="0" bIns="0" rtlCol="0" anchor="ctr"/>
          <a:lstStyle/>
          <a:p>
            <a:pPr marL="0" indent="0">
              <a:buNone/>
            </a:pPr>
            <a:r>
              <a:rPr lang="en-US" sz="1100" b="1" dirty="0">
                <a:solidFill>
                  <a:srgbClr val="2E7D8F"/>
                </a:solidFill>
                <a:latin typeface="Calibri" pitchFamily="34" charset="0"/>
                <a:ea typeface="Calibri" pitchFamily="34" charset="-122"/>
                <a:cs typeface="Calibri" pitchFamily="34" charset="-120"/>
              </a:rPr>
              <a:t>Pertinent positives</a:t>
            </a:r>
            <a:endParaRPr lang="en-US" sz="1100" dirty="0"/>
          </a:p>
        </p:txBody>
      </p:sp>
      <p:sp>
        <p:nvSpPr>
          <p:cNvPr id="33" name="Text 31"/>
          <p:cNvSpPr/>
          <p:nvPr/>
        </p:nvSpPr>
        <p:spPr>
          <a:xfrm>
            <a:off x="6601968" y="4471416"/>
            <a:ext cx="4663440" cy="420624"/>
          </a:xfrm>
          <a:prstGeom prst="rect">
            <a:avLst/>
          </a:prstGeom>
          <a:noFill/>
          <a:ln/>
        </p:spPr>
        <p:txBody>
          <a:bodyPr wrap="square" lIns="0" tIns="0" rIns="0" bIns="0" rtlCol="0" anchor="ctr"/>
          <a:lstStyle/>
          <a:p>
            <a:pPr marL="0" indent="0">
              <a:buNone/>
            </a:pPr>
            <a:r>
              <a:rPr lang="en-US" sz="1150" i="1" dirty="0">
                <a:solidFill>
                  <a:srgbClr val="8A97A4"/>
                </a:solidFill>
                <a:latin typeface="Calibri" pitchFamily="34" charset="0"/>
                <a:ea typeface="Calibri" pitchFamily="34" charset="-122"/>
                <a:cs typeface="Calibri" pitchFamily="34" charset="-120"/>
              </a:rPr>
              <a:t>[findings]</a:t>
            </a:r>
            <a:endParaRPr lang="en-US" sz="1150" dirty="0"/>
          </a:p>
        </p:txBody>
      </p:sp>
      <p:sp>
        <p:nvSpPr>
          <p:cNvPr id="34" name="Shape 32"/>
          <p:cNvSpPr/>
          <p:nvPr/>
        </p:nvSpPr>
        <p:spPr>
          <a:xfrm>
            <a:off x="6483096" y="4974336"/>
            <a:ext cx="4882896" cy="749808"/>
          </a:xfrm>
          <a:prstGeom prst="rect">
            <a:avLst/>
          </a:prstGeom>
          <a:solidFill>
            <a:srgbClr val="FFFFFF"/>
          </a:solidFill>
          <a:ln w="6350">
            <a:solidFill>
              <a:srgbClr val="E8EDF1"/>
            </a:solidFill>
            <a:prstDash val="solid"/>
          </a:ln>
        </p:spPr>
        <p:txBody>
          <a:bodyPr/>
          <a:lstStyle/>
          <a:p>
            <a:endParaRPr lang="en-US"/>
          </a:p>
        </p:txBody>
      </p:sp>
      <p:sp>
        <p:nvSpPr>
          <p:cNvPr id="35" name="Text 33"/>
          <p:cNvSpPr/>
          <p:nvPr/>
        </p:nvSpPr>
        <p:spPr>
          <a:xfrm>
            <a:off x="6601968" y="5020056"/>
            <a:ext cx="4663440" cy="237744"/>
          </a:xfrm>
          <a:prstGeom prst="rect">
            <a:avLst/>
          </a:prstGeom>
          <a:noFill/>
          <a:ln/>
        </p:spPr>
        <p:txBody>
          <a:bodyPr wrap="square" lIns="0" tIns="0" rIns="0" bIns="0" rtlCol="0" anchor="ctr"/>
          <a:lstStyle/>
          <a:p>
            <a:pPr marL="0" indent="0">
              <a:buNone/>
            </a:pPr>
            <a:r>
              <a:rPr lang="en-US" sz="1100" b="1" dirty="0">
                <a:solidFill>
                  <a:srgbClr val="2E7D8F"/>
                </a:solidFill>
                <a:latin typeface="Calibri" pitchFamily="34" charset="0"/>
                <a:ea typeface="Calibri" pitchFamily="34" charset="-122"/>
                <a:cs typeface="Calibri" pitchFamily="34" charset="-120"/>
              </a:rPr>
              <a:t>Pertinent negatives</a:t>
            </a:r>
            <a:endParaRPr lang="en-US" sz="1100" dirty="0"/>
          </a:p>
        </p:txBody>
      </p:sp>
      <p:sp>
        <p:nvSpPr>
          <p:cNvPr id="36" name="Text 34"/>
          <p:cNvSpPr/>
          <p:nvPr/>
        </p:nvSpPr>
        <p:spPr>
          <a:xfrm>
            <a:off x="6601968" y="5257800"/>
            <a:ext cx="4663440" cy="420624"/>
          </a:xfrm>
          <a:prstGeom prst="rect">
            <a:avLst/>
          </a:prstGeom>
          <a:noFill/>
          <a:ln/>
        </p:spPr>
        <p:txBody>
          <a:bodyPr wrap="square" lIns="0" tIns="0" rIns="0" bIns="0" rtlCol="0" anchor="ctr"/>
          <a:lstStyle/>
          <a:p>
            <a:pPr marL="0" indent="0">
              <a:buNone/>
            </a:pPr>
            <a:r>
              <a:rPr lang="en-US" sz="1150" i="1" dirty="0">
                <a:solidFill>
                  <a:srgbClr val="8A97A4"/>
                </a:solidFill>
                <a:latin typeface="Calibri" pitchFamily="34" charset="0"/>
                <a:ea typeface="Calibri" pitchFamily="34" charset="-122"/>
                <a:cs typeface="Calibri" pitchFamily="34" charset="-120"/>
              </a:rPr>
              <a:t>[findings that argue against something specific]</a:t>
            </a:r>
            <a:endParaRPr lang="en-US" sz="1150" dirty="0"/>
          </a:p>
        </p:txBody>
      </p:sp>
      <p:sp>
        <p:nvSpPr>
          <p:cNvPr id="37" name="Text 35"/>
          <p:cNvSpPr/>
          <p:nvPr/>
        </p:nvSpPr>
        <p:spPr>
          <a:xfrm>
            <a:off x="566928" y="6035040"/>
            <a:ext cx="11055096" cy="365760"/>
          </a:xfrm>
          <a:prstGeom prst="rect">
            <a:avLst/>
          </a:prstGeom>
          <a:noFill/>
          <a:ln/>
        </p:spPr>
        <p:txBody>
          <a:bodyPr wrap="square" lIns="0" tIns="0" rIns="0" bIns="0" rtlCol="0" anchor="ctr"/>
          <a:lstStyle/>
          <a:p>
            <a:pPr marL="0" indent="0">
              <a:buNone/>
            </a:pPr>
            <a:r>
              <a:rPr lang="en-US" sz="1150" b="1" i="1" dirty="0">
                <a:solidFill>
                  <a:srgbClr val="B23A48"/>
                </a:solidFill>
                <a:latin typeface="Calibri" pitchFamily="34" charset="0"/>
                <a:ea typeface="Calibri" pitchFamily="34" charset="-122"/>
                <a:cs typeface="Calibri" pitchFamily="34" charset="-120"/>
              </a:rPr>
              <a:t>No labs, no imaging, no micro on this slide. Those come after the intern has committed.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283C"/>
        </a:solidFill>
        <a:effectLst/>
      </p:bgPr>
    </p:bg>
    <p:spTree>
      <p:nvGrpSpPr>
        <p:cNvPr id="1" name=""/>
        <p:cNvGrpSpPr/>
        <p:nvPr/>
      </p:nvGrpSpPr>
      <p:grpSpPr>
        <a:xfrm>
          <a:off x="0" y="0"/>
          <a:ext cx="0" cy="0"/>
          <a:chOff x="0" y="0"/>
          <a:chExt cx="0" cy="0"/>
        </a:xfrm>
      </p:grpSpPr>
      <p:sp>
        <p:nvSpPr>
          <p:cNvPr id="2" name="Text 0"/>
          <p:cNvSpPr/>
          <p:nvPr/>
        </p:nvSpPr>
        <p:spPr>
          <a:xfrm>
            <a:off x="0" y="1600200"/>
            <a:ext cx="12191695" cy="1188720"/>
          </a:xfrm>
          <a:prstGeom prst="rect">
            <a:avLst/>
          </a:prstGeom>
          <a:noFill/>
          <a:ln/>
        </p:spPr>
        <p:txBody>
          <a:bodyPr wrap="square" lIns="0" tIns="0" rIns="0" bIns="0" rtlCol="0" anchor="ctr"/>
          <a:lstStyle/>
          <a:p>
            <a:pPr marL="0" indent="0" algn="ctr">
              <a:buNone/>
            </a:pPr>
            <a:r>
              <a:rPr lang="en-US" sz="7000" b="1" dirty="0">
                <a:solidFill>
                  <a:srgbClr val="E8A33D"/>
                </a:solidFill>
                <a:latin typeface="Cambria" pitchFamily="34" charset="0"/>
                <a:ea typeface="Cambria" pitchFamily="34" charset="-122"/>
                <a:cs typeface="Cambria" pitchFamily="34" charset="-120"/>
              </a:rPr>
              <a:t>PAUSE</a:t>
            </a:r>
            <a:endParaRPr lang="en-US" sz="7000" dirty="0"/>
          </a:p>
        </p:txBody>
      </p:sp>
      <p:sp>
        <p:nvSpPr>
          <p:cNvPr id="3" name="Text 1"/>
          <p:cNvSpPr/>
          <p:nvPr/>
        </p:nvSpPr>
        <p:spPr>
          <a:xfrm>
            <a:off x="0" y="3017520"/>
            <a:ext cx="12191695" cy="1554480"/>
          </a:xfrm>
          <a:prstGeom prst="rect">
            <a:avLst/>
          </a:prstGeom>
          <a:noFill/>
          <a:ln/>
        </p:spPr>
        <p:txBody>
          <a:bodyPr wrap="square" lIns="0" tIns="0" rIns="0" bIns="0" rtlCol="0" anchor="ctr"/>
          <a:lstStyle/>
          <a:p>
            <a:pPr marL="0" indent="0" algn="ctr">
              <a:lnSpc>
                <a:spcPts val="3800"/>
              </a:lnSpc>
              <a:buNone/>
            </a:pPr>
            <a:r>
              <a:rPr lang="en-US" sz="2200" dirty="0">
                <a:solidFill>
                  <a:srgbClr val="FFFFFF"/>
                </a:solidFill>
                <a:latin typeface="Calibri" pitchFamily="34" charset="0"/>
                <a:ea typeface="Calibri" pitchFamily="34" charset="-122"/>
                <a:cs typeface="Calibri" pitchFamily="34" charset="-120"/>
              </a:rPr>
              <a:t>What is the problem representation?</a:t>
            </a:r>
            <a:endParaRPr lang="en-US" sz="2200" dirty="0"/>
          </a:p>
          <a:p>
            <a:pPr marL="0" indent="0" algn="ctr">
              <a:lnSpc>
                <a:spcPts val="3800"/>
              </a:lnSpc>
              <a:buNone/>
            </a:pPr>
            <a:r>
              <a:rPr lang="en-US" sz="2200" dirty="0">
                <a:solidFill>
                  <a:srgbClr val="FFFFFF"/>
                </a:solidFill>
                <a:latin typeface="Calibri" pitchFamily="34" charset="0"/>
                <a:ea typeface="Calibri" pitchFamily="34" charset="-122"/>
                <a:cs typeface="Calibri" pitchFamily="34" charset="-120"/>
              </a:rPr>
              <a:t>What is on your list, and why?</a:t>
            </a:r>
            <a:endParaRPr lang="en-US" sz="2200" dirty="0"/>
          </a:p>
          <a:p>
            <a:pPr marL="0" indent="0" algn="ctr">
              <a:lnSpc>
                <a:spcPts val="3800"/>
              </a:lnSpc>
              <a:buNone/>
            </a:pPr>
            <a:r>
              <a:rPr lang="en-US" sz="2200" dirty="0">
                <a:solidFill>
                  <a:srgbClr val="FFFFFF"/>
                </a:solidFill>
                <a:latin typeface="Calibri" pitchFamily="34" charset="0"/>
                <a:ea typeface="Calibri" pitchFamily="34" charset="-122"/>
                <a:cs typeface="Calibri" pitchFamily="34" charset="-120"/>
              </a:rPr>
              <a:t>What is the can't-miss?</a:t>
            </a:r>
            <a:endParaRPr lang="en-US" sz="2200" dirty="0"/>
          </a:p>
        </p:txBody>
      </p:sp>
      <p:sp>
        <p:nvSpPr>
          <p:cNvPr id="4" name="Shape 2"/>
          <p:cNvSpPr/>
          <p:nvPr/>
        </p:nvSpPr>
        <p:spPr>
          <a:xfrm>
            <a:off x="5120640" y="4800600"/>
            <a:ext cx="1920240" cy="27432"/>
          </a:xfrm>
          <a:prstGeom prst="rect">
            <a:avLst/>
          </a:prstGeom>
          <a:solidFill>
            <a:srgbClr val="E8A33D"/>
          </a:solidFill>
          <a:ln w="12700">
            <a:solidFill>
              <a:srgbClr val="E8A33D"/>
            </a:solidFill>
            <a:prstDash val="solid"/>
          </a:ln>
        </p:spPr>
        <p:txBody>
          <a:bodyPr/>
          <a:lstStyle/>
          <a:p>
            <a:endParaRPr lang="en-US"/>
          </a:p>
        </p:txBody>
      </p:sp>
      <p:sp>
        <p:nvSpPr>
          <p:cNvPr id="5" name="Text 3"/>
          <p:cNvSpPr/>
          <p:nvPr/>
        </p:nvSpPr>
        <p:spPr>
          <a:xfrm>
            <a:off x="0" y="5029200"/>
            <a:ext cx="12191695" cy="365760"/>
          </a:xfrm>
          <a:prstGeom prst="rect">
            <a:avLst/>
          </a:prstGeom>
          <a:noFill/>
          <a:ln/>
        </p:spPr>
        <p:txBody>
          <a:bodyPr wrap="square" lIns="0" tIns="0" rIns="0" bIns="0" rtlCol="0" anchor="ctr"/>
          <a:lstStyle/>
          <a:p>
            <a:pPr marL="0" indent="0" algn="ctr">
              <a:buNone/>
            </a:pPr>
            <a:r>
              <a:rPr lang="en-US" sz="1300" i="1" dirty="0">
                <a:solidFill>
                  <a:srgbClr val="8EA3B8"/>
                </a:solidFill>
                <a:latin typeface="Calibri" pitchFamily="34" charset="0"/>
                <a:ea typeface="Calibri" pitchFamily="34" charset="-122"/>
                <a:cs typeface="Calibri" pitchFamily="34" charset="-120"/>
              </a:rPr>
              <a:t>share moves to the whiteboard  ·  PGY-1 first pass, four minutes, uninterrupted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292608"/>
            <a:ext cx="8229600" cy="256032"/>
          </a:xfrm>
          <a:prstGeom prst="rect">
            <a:avLst/>
          </a:prstGeom>
          <a:noFill/>
          <a:ln/>
        </p:spPr>
        <p:txBody>
          <a:bodyPr wrap="square" lIns="0" tIns="0" rIns="0" bIns="0" rtlCol="0" anchor="ctr"/>
          <a:lstStyle/>
          <a:p>
            <a:pPr marL="0" indent="0">
              <a:buNone/>
            </a:pPr>
            <a:r>
              <a:rPr lang="en-US" sz="1100" b="1" kern="0" spc="200" dirty="0">
                <a:solidFill>
                  <a:srgbClr val="E8A33D"/>
                </a:solidFill>
                <a:latin typeface="Calibri" pitchFamily="34" charset="0"/>
                <a:ea typeface="Calibri" pitchFamily="34" charset="-122"/>
                <a:cs typeface="Calibri" pitchFamily="34" charset="-120"/>
              </a:rPr>
              <a:t>DATA BLOCK 2  ·  LABS AND IMAGING</a:t>
            </a:r>
            <a:endParaRPr lang="en-US" sz="1100" dirty="0"/>
          </a:p>
        </p:txBody>
      </p:sp>
      <p:sp>
        <p:nvSpPr>
          <p:cNvPr id="3" name="Shape 1"/>
          <p:cNvSpPr/>
          <p:nvPr/>
        </p:nvSpPr>
        <p:spPr>
          <a:xfrm>
            <a:off x="9829800" y="256032"/>
            <a:ext cx="1792224" cy="384048"/>
          </a:xfrm>
          <a:prstGeom prst="roundRect">
            <a:avLst>
              <a:gd name="adj" fmla="val 11905"/>
            </a:avLst>
          </a:prstGeom>
          <a:solidFill>
            <a:srgbClr val="16283C"/>
          </a:solidFill>
          <a:ln w="12700">
            <a:solidFill>
              <a:srgbClr val="16283C"/>
            </a:solidFill>
            <a:prstDash val="solid"/>
          </a:ln>
        </p:spPr>
        <p:txBody>
          <a:bodyPr/>
          <a:lstStyle/>
          <a:p>
            <a:endParaRPr lang="en-US"/>
          </a:p>
        </p:txBody>
      </p:sp>
      <p:sp>
        <p:nvSpPr>
          <p:cNvPr id="4" name="Text 2"/>
          <p:cNvSpPr/>
          <p:nvPr/>
        </p:nvSpPr>
        <p:spPr>
          <a:xfrm>
            <a:off x="9829800" y="256032"/>
            <a:ext cx="1792224"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0:16 — 3 MIN</a:t>
            </a:r>
            <a:endParaRPr lang="en-US" sz="1050" dirty="0"/>
          </a:p>
        </p:txBody>
      </p:sp>
      <p:sp>
        <p:nvSpPr>
          <p:cNvPr id="5" name="Text 3"/>
          <p:cNvSpPr/>
          <p:nvPr/>
        </p:nvSpPr>
        <p:spPr>
          <a:xfrm>
            <a:off x="548640" y="530352"/>
            <a:ext cx="8686800" cy="548640"/>
          </a:xfrm>
          <a:prstGeom prst="rect">
            <a:avLst/>
          </a:prstGeom>
          <a:noFill/>
          <a:ln/>
        </p:spPr>
        <p:txBody>
          <a:bodyPr wrap="square" lIns="0" tIns="0" rIns="0" bIns="0" rtlCol="0" anchor="ctr"/>
          <a:lstStyle/>
          <a:p>
            <a:pPr marL="0" indent="0">
              <a:buNone/>
            </a:pPr>
            <a:r>
              <a:rPr lang="en-US" sz="2600" b="1" dirty="0">
                <a:solidFill>
                  <a:srgbClr val="16283C"/>
                </a:solidFill>
                <a:latin typeface="Cambria" pitchFamily="34" charset="0"/>
                <a:ea typeface="Cambria" pitchFamily="34" charset="-122"/>
                <a:cs typeface="Cambria" pitchFamily="34" charset="-120"/>
              </a:rPr>
              <a:t>What came back</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3652843705"/>
              </p:ext>
            </p:extLst>
          </p:nvPr>
        </p:nvGraphicFramePr>
        <p:xfrm>
          <a:off x="566928" y="1280160"/>
          <a:ext cx="6858000" cy="3621024"/>
        </p:xfrm>
        <a:graphic>
          <a:graphicData uri="http://schemas.openxmlformats.org/drawingml/2006/table">
            <a:tbl>
              <a:tblPr/>
              <a:tblGrid>
                <a:gridCol w="26517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tblGrid>
              <a:tr h="60350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STUDY</a:t>
                      </a:r>
                      <a:endParaRPr lang="en-US" sz="1100" dirty="0">
                        <a:latin typeface="Calibri" charset="0"/>
                        <a:ea typeface="Calibri" charset="0"/>
                        <a:cs typeface="Calibri" charset="0"/>
                      </a:endParaRPr>
                    </a:p>
                  </a:txBody>
                  <a:tcPr marL="76200" marR="76200" marT="76200" marB="762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16283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RESULT</a:t>
                      </a:r>
                      <a:endParaRPr lang="en-US" sz="1100" dirty="0">
                        <a:latin typeface="Calibri" charset="0"/>
                        <a:ea typeface="Calibri" charset="0"/>
                        <a:cs typeface="Calibri" charset="0"/>
                      </a:endParaRPr>
                    </a:p>
                  </a:txBody>
                  <a:tcPr marL="76200" marR="76200" marT="76200" marB="762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16283C"/>
                    </a:solidFill>
                  </a:tcPr>
                </a:tc>
                <a:extLst>
                  <a:ext uri="{0D108BD9-81ED-4DB2-BD59-A6C34878D82A}">
                    <a16:rowId xmlns:a16="http://schemas.microsoft.com/office/drawing/2014/main" val="10000"/>
                  </a:ext>
                </a:extLst>
              </a:tr>
              <a:tr h="603504">
                <a:tc>
                  <a:txBody>
                    <a:bodyPr/>
                    <a:lstStyle/>
                    <a:p>
                      <a:pPr marL="0" indent="0">
                        <a:buNone/>
                      </a:pPr>
                      <a:r>
                        <a:rPr lang="en-US" sz="1100" b="1" dirty="0">
                          <a:solidFill>
                            <a:srgbClr val="2E7D8F"/>
                          </a:solidFill>
                          <a:latin typeface="Calibri" pitchFamily="34" charset="0"/>
                          <a:ea typeface="Calibri" pitchFamily="34" charset="-122"/>
                          <a:cs typeface="Calibri" pitchFamily="34" charset="-120"/>
                        </a:rPr>
                        <a:t>CBC with differential</a:t>
                      </a:r>
                      <a:endParaRPr lang="en-US" sz="1100" dirty="0">
                        <a:latin typeface="Calibri" charset="0"/>
                        <a:ea typeface="Calibri" charset="0"/>
                        <a:cs typeface="Calibri" charset="0"/>
                      </a:endParaRPr>
                    </a:p>
                  </a:txBody>
                  <a:tcPr marL="76200" marR="76200" marT="76200" marB="762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marL="0" indent="0">
                        <a:buNone/>
                      </a:pPr>
                      <a:r>
                        <a:rPr lang="en-US" sz="1100" i="1" dirty="0">
                          <a:solidFill>
                            <a:srgbClr val="8A97A4"/>
                          </a:solidFill>
                          <a:latin typeface="Calibri" pitchFamily="34" charset="0"/>
                          <a:ea typeface="Calibri" pitchFamily="34" charset="-122"/>
                          <a:cs typeface="Calibri" pitchFamily="34" charset="-120"/>
                        </a:rPr>
                        <a:t>[result]</a:t>
                      </a:r>
                      <a:endParaRPr lang="en-US" sz="1100" dirty="0">
                        <a:latin typeface="Calibri" charset="0"/>
                        <a:ea typeface="Calibri" charset="0"/>
                        <a:cs typeface="Calibri" charset="0"/>
                      </a:endParaRPr>
                    </a:p>
                  </a:txBody>
                  <a:tcPr marL="76200" marR="76200" marT="76200" marB="762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3504">
                <a:tc>
                  <a:txBody>
                    <a:bodyPr/>
                    <a:lstStyle/>
                    <a:p>
                      <a:pPr marL="0" indent="0">
                        <a:buNone/>
                      </a:pPr>
                      <a:r>
                        <a:rPr lang="en-US" sz="1100" b="1" dirty="0">
                          <a:solidFill>
                            <a:srgbClr val="2E7D8F"/>
                          </a:solidFill>
                          <a:latin typeface="Calibri" pitchFamily="34" charset="0"/>
                          <a:ea typeface="Calibri" pitchFamily="34" charset="-122"/>
                          <a:cs typeface="Calibri" pitchFamily="34" charset="-120"/>
                        </a:rPr>
                        <a:t>Inflammatory markers</a:t>
                      </a:r>
                      <a:endParaRPr lang="en-US" sz="1100" dirty="0">
                        <a:latin typeface="Calibri" charset="0"/>
                        <a:ea typeface="Calibri" charset="0"/>
                        <a:cs typeface="Calibri" charset="0"/>
                      </a:endParaRPr>
                    </a:p>
                  </a:txBody>
                  <a:tcPr marL="76200" marR="76200" marT="76200" marB="762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marL="0" indent="0">
                        <a:buNone/>
                      </a:pPr>
                      <a:r>
                        <a:rPr lang="en-US" sz="1100" i="1" dirty="0">
                          <a:solidFill>
                            <a:srgbClr val="8A97A4"/>
                          </a:solidFill>
                          <a:latin typeface="Calibri" pitchFamily="34" charset="0"/>
                          <a:ea typeface="Calibri" pitchFamily="34" charset="-122"/>
                          <a:cs typeface="Calibri" pitchFamily="34" charset="-120"/>
                        </a:rPr>
                        <a:t>[CRP / ESR / procalcitonin]</a:t>
                      </a:r>
                      <a:endParaRPr lang="en-US" sz="1100" dirty="0">
                        <a:latin typeface="Calibri" charset="0"/>
                        <a:ea typeface="Calibri" charset="0"/>
                        <a:cs typeface="Calibri" charset="0"/>
                      </a:endParaRPr>
                    </a:p>
                  </a:txBody>
                  <a:tcPr marL="76200" marR="76200" marT="76200" marB="762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603504">
                <a:tc>
                  <a:txBody>
                    <a:bodyPr/>
                    <a:lstStyle/>
                    <a:p>
                      <a:pPr marL="0" indent="0">
                        <a:buNone/>
                      </a:pPr>
                      <a:r>
                        <a:rPr lang="en-US" sz="1100" b="1" dirty="0">
                          <a:solidFill>
                            <a:srgbClr val="2E7D8F"/>
                          </a:solidFill>
                          <a:latin typeface="Calibri" pitchFamily="34" charset="0"/>
                          <a:ea typeface="Calibri" pitchFamily="34" charset="-122"/>
                          <a:cs typeface="Calibri" pitchFamily="34" charset="-120"/>
                        </a:rPr>
                        <a:t>Chemistry / LFTs</a:t>
                      </a:r>
                      <a:endParaRPr lang="en-US" sz="1100" dirty="0">
                        <a:latin typeface="Calibri" charset="0"/>
                        <a:ea typeface="Calibri" charset="0"/>
                        <a:cs typeface="Calibri" charset="0"/>
                      </a:endParaRPr>
                    </a:p>
                  </a:txBody>
                  <a:tcPr marL="76200" marR="76200" marT="76200" marB="762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marL="0" indent="0">
                        <a:buNone/>
                      </a:pPr>
                      <a:r>
                        <a:rPr lang="en-US" sz="1100" i="1" dirty="0">
                          <a:solidFill>
                            <a:srgbClr val="8A97A4"/>
                          </a:solidFill>
                          <a:latin typeface="Calibri" pitchFamily="34" charset="0"/>
                          <a:ea typeface="Calibri" pitchFamily="34" charset="-122"/>
                          <a:cs typeface="Calibri" pitchFamily="34" charset="-120"/>
                        </a:rPr>
                        <a:t>[result]</a:t>
                      </a:r>
                      <a:endParaRPr lang="en-US" sz="1100" dirty="0">
                        <a:latin typeface="Calibri" charset="0"/>
                        <a:ea typeface="Calibri" charset="0"/>
                        <a:cs typeface="Calibri" charset="0"/>
                      </a:endParaRPr>
                    </a:p>
                  </a:txBody>
                  <a:tcPr marL="76200" marR="76200" marT="76200" marB="762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03504">
                <a:tc>
                  <a:txBody>
                    <a:bodyPr/>
                    <a:lstStyle/>
                    <a:p>
                      <a:pPr marL="0" indent="0">
                        <a:buNone/>
                      </a:pPr>
                      <a:r>
                        <a:rPr lang="en-US" sz="1100" b="1" dirty="0">
                          <a:solidFill>
                            <a:srgbClr val="2E7D8F"/>
                          </a:solidFill>
                          <a:latin typeface="Calibri" pitchFamily="34" charset="0"/>
                          <a:ea typeface="Calibri" pitchFamily="34" charset="-122"/>
                          <a:cs typeface="Calibri" pitchFamily="34" charset="-120"/>
                        </a:rPr>
                        <a:t>Micro</a:t>
                      </a:r>
                      <a:endParaRPr lang="en-US" sz="1100" dirty="0">
                        <a:latin typeface="Calibri" charset="0"/>
                        <a:ea typeface="Calibri" charset="0"/>
                        <a:cs typeface="Calibri" charset="0"/>
                      </a:endParaRPr>
                    </a:p>
                  </a:txBody>
                  <a:tcPr marL="76200" marR="76200" marT="76200" marB="762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tc>
                  <a:txBody>
                    <a:bodyPr/>
                    <a:lstStyle/>
                    <a:p>
                      <a:pPr marL="0" indent="0">
                        <a:buNone/>
                      </a:pPr>
                      <a:r>
                        <a:rPr lang="en-US" sz="1100" i="1" dirty="0">
                          <a:solidFill>
                            <a:srgbClr val="8A97A4"/>
                          </a:solidFill>
                          <a:latin typeface="Calibri" pitchFamily="34" charset="0"/>
                          <a:ea typeface="Calibri" pitchFamily="34" charset="-122"/>
                          <a:cs typeface="Calibri" pitchFamily="34" charset="-120"/>
                        </a:rPr>
                        <a:t>[cultures, PCR, serology — and what is still pending]</a:t>
                      </a:r>
                      <a:endParaRPr lang="en-US" sz="1100" dirty="0">
                        <a:latin typeface="Calibri" charset="0"/>
                        <a:ea typeface="Calibri" charset="0"/>
                        <a:cs typeface="Calibri" charset="0"/>
                      </a:endParaRPr>
                    </a:p>
                  </a:txBody>
                  <a:tcPr marL="76200" marR="76200" marT="76200" marB="762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603504">
                <a:tc>
                  <a:txBody>
                    <a:bodyPr/>
                    <a:lstStyle/>
                    <a:p>
                      <a:pPr marL="0" indent="0">
                        <a:buNone/>
                      </a:pPr>
                      <a:r>
                        <a:rPr lang="en-US" sz="1100" b="1" dirty="0">
                          <a:solidFill>
                            <a:srgbClr val="2E7D8F"/>
                          </a:solidFill>
                          <a:latin typeface="Calibri" pitchFamily="34" charset="0"/>
                          <a:ea typeface="Calibri" pitchFamily="34" charset="-122"/>
                          <a:cs typeface="Calibri" pitchFamily="34" charset="-120"/>
                        </a:rPr>
                        <a:t>Imaging</a:t>
                      </a:r>
                      <a:endParaRPr lang="en-US" sz="1100" dirty="0">
                        <a:latin typeface="Calibri" charset="0"/>
                        <a:ea typeface="Calibri" charset="0"/>
                        <a:cs typeface="Calibri" charset="0"/>
                      </a:endParaRPr>
                    </a:p>
                  </a:txBody>
                  <a:tcPr marL="76200" marR="76200" marT="76200" marB="762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tc>
                  <a:txBody>
                    <a:bodyPr/>
                    <a:lstStyle/>
                    <a:p>
                      <a:pPr marL="0" indent="0">
                        <a:buNone/>
                      </a:pPr>
                      <a:r>
                        <a:rPr lang="en-US" sz="1100" i="1" dirty="0">
                          <a:solidFill>
                            <a:srgbClr val="8A97A4"/>
                          </a:solidFill>
                          <a:latin typeface="Calibri" pitchFamily="34" charset="0"/>
                          <a:ea typeface="Calibri" pitchFamily="34" charset="-122"/>
                          <a:cs typeface="Calibri" pitchFamily="34" charset="-120"/>
                        </a:rPr>
                        <a:t>[study and the one line that matters]</a:t>
                      </a:r>
                      <a:endParaRPr lang="en-US" sz="1100" dirty="0">
                        <a:latin typeface="Calibri" charset="0"/>
                        <a:ea typeface="Calibri" charset="0"/>
                        <a:cs typeface="Calibri" charset="0"/>
                      </a:endParaRPr>
                    </a:p>
                  </a:txBody>
                  <a:tcPr marL="76200" marR="76200" marT="76200" marB="76200" anchor="ctr">
                    <a:lnL w="6350" cap="flat" cmpd="sng" algn="ctr">
                      <a:solidFill>
                        <a:srgbClr val="DDE4EA"/>
                      </a:solidFill>
                      <a:prstDash val="solid"/>
                      <a:round/>
                      <a:headEnd type="none" w="med" len="med"/>
                      <a:tailEnd type="none" w="med" len="med"/>
                    </a:lnL>
                    <a:lnR w="6350" cap="flat" cmpd="sng" algn="ctr">
                      <a:solidFill>
                        <a:srgbClr val="DDE4EA"/>
                      </a:solidFill>
                      <a:prstDash val="solid"/>
                      <a:round/>
                      <a:headEnd type="none" w="med" len="med"/>
                      <a:tailEnd type="none" w="med" len="med"/>
                    </a:lnR>
                    <a:lnT w="6350" cap="flat" cmpd="sng" algn="ctr">
                      <a:solidFill>
                        <a:srgbClr val="DDE4EA"/>
                      </a:solidFill>
                      <a:prstDash val="solid"/>
                      <a:round/>
                      <a:headEnd type="none" w="med" len="med"/>
                      <a:tailEnd type="none" w="med" len="med"/>
                    </a:lnT>
                    <a:lnB w="6350" cap="flat" cmpd="sng" algn="ctr">
                      <a:solidFill>
                        <a:srgbClr val="DDE4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283C"/>
        </a:solidFill>
        <a:effectLst/>
      </p:bgPr>
    </p:bg>
    <p:spTree>
      <p:nvGrpSpPr>
        <p:cNvPr id="1" name=""/>
        <p:cNvGrpSpPr/>
        <p:nvPr/>
      </p:nvGrpSpPr>
      <p:grpSpPr>
        <a:xfrm>
          <a:off x="0" y="0"/>
          <a:ext cx="0" cy="0"/>
          <a:chOff x="0" y="0"/>
          <a:chExt cx="0" cy="0"/>
        </a:xfrm>
      </p:grpSpPr>
      <p:sp>
        <p:nvSpPr>
          <p:cNvPr id="2" name="Text 0"/>
          <p:cNvSpPr/>
          <p:nvPr/>
        </p:nvSpPr>
        <p:spPr>
          <a:xfrm>
            <a:off x="0" y="1600200"/>
            <a:ext cx="12191695" cy="1188720"/>
          </a:xfrm>
          <a:prstGeom prst="rect">
            <a:avLst/>
          </a:prstGeom>
          <a:noFill/>
          <a:ln/>
        </p:spPr>
        <p:txBody>
          <a:bodyPr wrap="square" lIns="0" tIns="0" rIns="0" bIns="0" rtlCol="0" anchor="ctr"/>
          <a:lstStyle/>
          <a:p>
            <a:pPr marL="0" indent="0" algn="ctr">
              <a:buNone/>
            </a:pPr>
            <a:r>
              <a:rPr lang="en-US" sz="7000" b="1" dirty="0">
                <a:solidFill>
                  <a:srgbClr val="E8A33D"/>
                </a:solidFill>
                <a:latin typeface="Cambria" pitchFamily="34" charset="0"/>
                <a:ea typeface="Cambria" pitchFamily="34" charset="-122"/>
                <a:cs typeface="Cambria" pitchFamily="34" charset="-120"/>
              </a:rPr>
              <a:t>PAUSE</a:t>
            </a:r>
            <a:endParaRPr lang="en-US" sz="7000" dirty="0"/>
          </a:p>
        </p:txBody>
      </p:sp>
      <p:sp>
        <p:nvSpPr>
          <p:cNvPr id="3" name="Text 1"/>
          <p:cNvSpPr/>
          <p:nvPr/>
        </p:nvSpPr>
        <p:spPr>
          <a:xfrm>
            <a:off x="0" y="3017520"/>
            <a:ext cx="12191695" cy="1554480"/>
          </a:xfrm>
          <a:prstGeom prst="rect">
            <a:avLst/>
          </a:prstGeom>
          <a:noFill/>
          <a:ln/>
        </p:spPr>
        <p:txBody>
          <a:bodyPr wrap="square" lIns="0" tIns="0" rIns="0" bIns="0" rtlCol="0" anchor="ctr"/>
          <a:lstStyle/>
          <a:p>
            <a:pPr marL="0" indent="0" algn="ctr">
              <a:lnSpc>
                <a:spcPts val="3800"/>
              </a:lnSpc>
              <a:buNone/>
            </a:pPr>
            <a:r>
              <a:rPr lang="en-US" sz="2200" dirty="0">
                <a:solidFill>
                  <a:srgbClr val="FFFFFF"/>
                </a:solidFill>
                <a:latin typeface="Calibri" pitchFamily="34" charset="0"/>
                <a:ea typeface="Calibri" pitchFamily="34" charset="-122"/>
                <a:cs typeface="Calibri" pitchFamily="34" charset="-120"/>
              </a:rPr>
              <a:t>What changed?</a:t>
            </a:r>
            <a:endParaRPr lang="en-US" sz="2200" dirty="0"/>
          </a:p>
          <a:p>
            <a:pPr marL="0" indent="0" algn="ctr">
              <a:lnSpc>
                <a:spcPts val="3800"/>
              </a:lnSpc>
              <a:buNone/>
            </a:pPr>
            <a:r>
              <a:rPr lang="en-US" sz="2200" dirty="0">
                <a:solidFill>
                  <a:srgbClr val="FFFFFF"/>
                </a:solidFill>
                <a:latin typeface="Calibri" pitchFamily="34" charset="0"/>
                <a:ea typeface="Calibri" pitchFamily="34" charset="-122"/>
                <a:cs typeface="Calibri" pitchFamily="34" charset="-120"/>
              </a:rPr>
              <a:t>What comes off the list, and why?</a:t>
            </a:r>
            <a:endParaRPr lang="en-US" sz="2200" dirty="0"/>
          </a:p>
          <a:p>
            <a:pPr marL="0" indent="0" algn="ctr">
              <a:lnSpc>
                <a:spcPts val="3800"/>
              </a:lnSpc>
              <a:buNone/>
            </a:pPr>
            <a:r>
              <a:rPr lang="en-US" sz="2200" dirty="0">
                <a:solidFill>
                  <a:srgbClr val="FFFFFF"/>
                </a:solidFill>
                <a:latin typeface="Calibri" pitchFamily="34" charset="0"/>
                <a:ea typeface="Calibri" pitchFamily="34" charset="-122"/>
                <a:cs typeface="Calibri" pitchFamily="34" charset="-120"/>
              </a:rPr>
              <a:t>What is the plan?</a:t>
            </a:r>
            <a:endParaRPr lang="en-US" sz="2200" dirty="0"/>
          </a:p>
        </p:txBody>
      </p:sp>
      <p:sp>
        <p:nvSpPr>
          <p:cNvPr id="4" name="Shape 2"/>
          <p:cNvSpPr/>
          <p:nvPr/>
        </p:nvSpPr>
        <p:spPr>
          <a:xfrm>
            <a:off x="5120640" y="4800600"/>
            <a:ext cx="1920240" cy="27432"/>
          </a:xfrm>
          <a:prstGeom prst="rect">
            <a:avLst/>
          </a:prstGeom>
          <a:solidFill>
            <a:srgbClr val="E8A33D"/>
          </a:solidFill>
          <a:ln w="12700">
            <a:solidFill>
              <a:srgbClr val="E8A33D"/>
            </a:solidFill>
            <a:prstDash val="solid"/>
          </a:ln>
        </p:spPr>
        <p:txBody>
          <a:bodyPr/>
          <a:lstStyle/>
          <a:p>
            <a:endParaRPr lang="en-US"/>
          </a:p>
        </p:txBody>
      </p:sp>
      <p:sp>
        <p:nvSpPr>
          <p:cNvPr id="5" name="Text 3"/>
          <p:cNvSpPr/>
          <p:nvPr/>
        </p:nvSpPr>
        <p:spPr>
          <a:xfrm>
            <a:off x="0" y="5029200"/>
            <a:ext cx="12191695" cy="365760"/>
          </a:xfrm>
          <a:prstGeom prst="rect">
            <a:avLst/>
          </a:prstGeom>
          <a:noFill/>
          <a:ln/>
        </p:spPr>
        <p:txBody>
          <a:bodyPr wrap="square" lIns="0" tIns="0" rIns="0" bIns="0" rtlCol="0" anchor="ctr"/>
          <a:lstStyle/>
          <a:p>
            <a:pPr marL="0" indent="0" algn="ctr">
              <a:buNone/>
            </a:pPr>
            <a:r>
              <a:rPr lang="en-US" sz="1300" i="1" dirty="0">
                <a:solidFill>
                  <a:srgbClr val="8EA3B8"/>
                </a:solidFill>
                <a:latin typeface="Calibri" pitchFamily="34" charset="0"/>
                <a:ea typeface="Calibri" pitchFamily="34" charset="-122"/>
                <a:cs typeface="Calibri" pitchFamily="34" charset="-120"/>
              </a:rPr>
              <a:t>share moves to the whiteboard  ·  faculty enters at 0:19</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292608"/>
            <a:ext cx="8229600" cy="256032"/>
          </a:xfrm>
          <a:prstGeom prst="rect">
            <a:avLst/>
          </a:prstGeom>
          <a:noFill/>
          <a:ln/>
        </p:spPr>
        <p:txBody>
          <a:bodyPr wrap="square" lIns="0" tIns="0" rIns="0" bIns="0" rtlCol="0" anchor="ctr"/>
          <a:lstStyle/>
          <a:p>
            <a:pPr marL="0" indent="0">
              <a:buNone/>
            </a:pPr>
            <a:r>
              <a:rPr lang="en-US" sz="1100" b="1" kern="0" spc="200" dirty="0">
                <a:solidFill>
                  <a:srgbClr val="E8A33D"/>
                </a:solidFill>
                <a:latin typeface="Calibri" pitchFamily="34" charset="0"/>
                <a:ea typeface="Calibri" pitchFamily="34" charset="-122"/>
                <a:cs typeface="Calibri" pitchFamily="34" charset="-120"/>
              </a:rPr>
              <a:t>THE REVEAL</a:t>
            </a:r>
            <a:endParaRPr lang="en-US" sz="1100" dirty="0"/>
          </a:p>
        </p:txBody>
      </p:sp>
      <p:sp>
        <p:nvSpPr>
          <p:cNvPr id="3" name="Shape 1"/>
          <p:cNvSpPr/>
          <p:nvPr/>
        </p:nvSpPr>
        <p:spPr>
          <a:xfrm>
            <a:off x="9829800" y="256032"/>
            <a:ext cx="1792224" cy="384048"/>
          </a:xfrm>
          <a:prstGeom prst="roundRect">
            <a:avLst>
              <a:gd name="adj" fmla="val 11905"/>
            </a:avLst>
          </a:prstGeom>
          <a:solidFill>
            <a:srgbClr val="2E7D8F"/>
          </a:solidFill>
          <a:ln w="12700">
            <a:solidFill>
              <a:srgbClr val="2E7D8F"/>
            </a:solidFill>
            <a:prstDash val="solid"/>
          </a:ln>
        </p:spPr>
        <p:txBody>
          <a:bodyPr/>
          <a:lstStyle/>
          <a:p>
            <a:endParaRPr lang="en-US"/>
          </a:p>
        </p:txBody>
      </p:sp>
      <p:sp>
        <p:nvSpPr>
          <p:cNvPr id="4" name="Text 2"/>
          <p:cNvSpPr/>
          <p:nvPr/>
        </p:nvSpPr>
        <p:spPr>
          <a:xfrm>
            <a:off x="9829800" y="256032"/>
            <a:ext cx="1792224"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0:22 — 2 MIN</a:t>
            </a:r>
            <a:endParaRPr lang="en-US" sz="1050" dirty="0"/>
          </a:p>
        </p:txBody>
      </p:sp>
      <p:sp>
        <p:nvSpPr>
          <p:cNvPr id="5" name="Shape 3"/>
          <p:cNvSpPr/>
          <p:nvPr/>
        </p:nvSpPr>
        <p:spPr>
          <a:xfrm>
            <a:off x="566928" y="868680"/>
            <a:ext cx="11055096" cy="822960"/>
          </a:xfrm>
          <a:prstGeom prst="rect">
            <a:avLst/>
          </a:prstGeom>
          <a:solidFill>
            <a:srgbClr val="2E7D8F"/>
          </a:solidFill>
          <a:ln w="12700">
            <a:solidFill>
              <a:srgbClr val="2E7D8F"/>
            </a:solidFill>
            <a:prstDash val="solid"/>
          </a:ln>
        </p:spPr>
        <p:txBody>
          <a:bodyPr/>
          <a:lstStyle/>
          <a:p>
            <a:endParaRPr lang="en-US"/>
          </a:p>
        </p:txBody>
      </p:sp>
      <p:sp>
        <p:nvSpPr>
          <p:cNvPr id="6" name="Text 4"/>
          <p:cNvSpPr/>
          <p:nvPr/>
        </p:nvSpPr>
        <p:spPr>
          <a:xfrm>
            <a:off x="914400" y="868680"/>
            <a:ext cx="10332720" cy="82296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[The diagnosis]</a:t>
            </a:r>
            <a:endParaRPr lang="en-US" sz="2700" dirty="0"/>
          </a:p>
        </p:txBody>
      </p:sp>
      <p:sp>
        <p:nvSpPr>
          <p:cNvPr id="7" name="Shape 5"/>
          <p:cNvSpPr/>
          <p:nvPr/>
        </p:nvSpPr>
        <p:spPr>
          <a:xfrm>
            <a:off x="566928" y="1920240"/>
            <a:ext cx="11055096" cy="749808"/>
          </a:xfrm>
          <a:prstGeom prst="roundRect">
            <a:avLst>
              <a:gd name="adj" fmla="val 9756"/>
            </a:avLst>
          </a:prstGeom>
          <a:solidFill>
            <a:srgbClr val="EEF2F5"/>
          </a:solidFill>
          <a:ln w="12700">
            <a:solidFill>
              <a:srgbClr val="EEF2F5"/>
            </a:solidFill>
            <a:prstDash val="solid"/>
          </a:ln>
          <a:effectLst>
            <a:outerShdw blurRad="101600" dist="25400" dir="5400000" algn="bl" rotWithShape="0">
              <a:srgbClr val="9AA7B4">
                <a:alpha val="28000"/>
              </a:srgbClr>
            </a:outerShdw>
          </a:effectLst>
        </p:spPr>
        <p:txBody>
          <a:bodyPr/>
          <a:lstStyle/>
          <a:p>
            <a:endParaRPr lang="en-US"/>
          </a:p>
        </p:txBody>
      </p:sp>
      <p:sp>
        <p:nvSpPr>
          <p:cNvPr id="8" name="Text 6"/>
          <p:cNvSpPr/>
          <p:nvPr/>
        </p:nvSpPr>
        <p:spPr>
          <a:xfrm>
            <a:off x="868680" y="1920240"/>
            <a:ext cx="3200400" cy="749808"/>
          </a:xfrm>
          <a:prstGeom prst="rect">
            <a:avLst/>
          </a:prstGeom>
          <a:noFill/>
          <a:ln/>
        </p:spPr>
        <p:txBody>
          <a:bodyPr wrap="square" lIns="0" tIns="0" rIns="0" bIns="0" rtlCol="0" anchor="ctr"/>
          <a:lstStyle/>
          <a:p>
            <a:pPr marL="0" indent="0">
              <a:buNone/>
            </a:pPr>
            <a:r>
              <a:rPr lang="en-US" sz="1200" b="1" dirty="0">
                <a:solidFill>
                  <a:srgbClr val="16283C"/>
                </a:solidFill>
                <a:latin typeface="Calibri" pitchFamily="34" charset="0"/>
                <a:ea typeface="Calibri" pitchFamily="34" charset="-122"/>
                <a:cs typeface="Calibri" pitchFamily="34" charset="-120"/>
              </a:rPr>
              <a:t>How it was confirmed</a:t>
            </a:r>
            <a:endParaRPr lang="en-US" sz="1200" dirty="0"/>
          </a:p>
        </p:txBody>
      </p:sp>
      <p:sp>
        <p:nvSpPr>
          <p:cNvPr id="9" name="Text 7"/>
          <p:cNvSpPr/>
          <p:nvPr/>
        </p:nvSpPr>
        <p:spPr>
          <a:xfrm>
            <a:off x="4206240" y="1920240"/>
            <a:ext cx="7132320" cy="749808"/>
          </a:xfrm>
          <a:prstGeom prst="rect">
            <a:avLst/>
          </a:prstGeom>
          <a:noFill/>
          <a:ln/>
        </p:spPr>
        <p:txBody>
          <a:bodyPr wrap="square" lIns="0" tIns="0" rIns="0" bIns="0" rtlCol="0" anchor="ctr"/>
          <a:lstStyle/>
          <a:p>
            <a:pPr marL="0" indent="0">
              <a:lnSpc>
                <a:spcPts val="1500"/>
              </a:lnSpc>
              <a:buNone/>
            </a:pPr>
            <a:r>
              <a:rPr lang="en-US" sz="1200" i="1" dirty="0">
                <a:solidFill>
                  <a:srgbClr val="8A97A4"/>
                </a:solidFill>
                <a:latin typeface="Calibri" pitchFamily="34" charset="0"/>
                <a:ea typeface="Calibri" pitchFamily="34" charset="-122"/>
                <a:cs typeface="Calibri" pitchFamily="34" charset="-120"/>
              </a:rPr>
              <a:t>[the test and the result that settled it]</a:t>
            </a:r>
            <a:endParaRPr lang="en-US" sz="1200" dirty="0"/>
          </a:p>
        </p:txBody>
      </p:sp>
      <p:sp>
        <p:nvSpPr>
          <p:cNvPr id="10" name="Shape 8"/>
          <p:cNvSpPr/>
          <p:nvPr/>
        </p:nvSpPr>
        <p:spPr>
          <a:xfrm>
            <a:off x="566928" y="2743200"/>
            <a:ext cx="11055096" cy="749808"/>
          </a:xfrm>
          <a:prstGeom prst="roundRect">
            <a:avLst>
              <a:gd name="adj" fmla="val 9756"/>
            </a:avLst>
          </a:prstGeom>
          <a:solidFill>
            <a:srgbClr val="EEF2F5"/>
          </a:solidFill>
          <a:ln w="12700">
            <a:solidFill>
              <a:srgbClr val="EEF2F5"/>
            </a:solidFill>
            <a:prstDash val="solid"/>
          </a:ln>
          <a:effectLst>
            <a:outerShdw blurRad="101600" dist="25400" dir="5400000" algn="bl" rotWithShape="0">
              <a:srgbClr val="9AA7B4">
                <a:alpha val="28000"/>
              </a:srgbClr>
            </a:outerShdw>
          </a:effectLst>
        </p:spPr>
        <p:txBody>
          <a:bodyPr/>
          <a:lstStyle/>
          <a:p>
            <a:endParaRPr lang="en-US"/>
          </a:p>
        </p:txBody>
      </p:sp>
      <p:sp>
        <p:nvSpPr>
          <p:cNvPr id="11" name="Text 9"/>
          <p:cNvSpPr/>
          <p:nvPr/>
        </p:nvSpPr>
        <p:spPr>
          <a:xfrm>
            <a:off x="868680" y="2743200"/>
            <a:ext cx="3200400" cy="749808"/>
          </a:xfrm>
          <a:prstGeom prst="rect">
            <a:avLst/>
          </a:prstGeom>
          <a:noFill/>
          <a:ln/>
        </p:spPr>
        <p:txBody>
          <a:bodyPr wrap="square" lIns="0" tIns="0" rIns="0" bIns="0" rtlCol="0" anchor="ctr"/>
          <a:lstStyle/>
          <a:p>
            <a:pPr marL="0" indent="0">
              <a:buNone/>
            </a:pPr>
            <a:r>
              <a:rPr lang="en-US" sz="1200" b="1" dirty="0">
                <a:solidFill>
                  <a:srgbClr val="16283C"/>
                </a:solidFill>
                <a:latin typeface="Calibri" pitchFamily="34" charset="0"/>
                <a:ea typeface="Calibri" pitchFamily="34" charset="-122"/>
                <a:cs typeface="Calibri" pitchFamily="34" charset="-120"/>
              </a:rPr>
              <a:t>Hospital course</a:t>
            </a:r>
            <a:endParaRPr lang="en-US" sz="1200" dirty="0"/>
          </a:p>
        </p:txBody>
      </p:sp>
      <p:sp>
        <p:nvSpPr>
          <p:cNvPr id="12" name="Text 10"/>
          <p:cNvSpPr/>
          <p:nvPr/>
        </p:nvSpPr>
        <p:spPr>
          <a:xfrm>
            <a:off x="4206240" y="2743200"/>
            <a:ext cx="7132320" cy="749808"/>
          </a:xfrm>
          <a:prstGeom prst="rect">
            <a:avLst/>
          </a:prstGeom>
          <a:noFill/>
          <a:ln/>
        </p:spPr>
        <p:txBody>
          <a:bodyPr wrap="square" lIns="0" tIns="0" rIns="0" bIns="0" rtlCol="0" anchor="ctr"/>
          <a:lstStyle/>
          <a:p>
            <a:pPr marL="0" indent="0">
              <a:lnSpc>
                <a:spcPts val="1500"/>
              </a:lnSpc>
              <a:buNone/>
            </a:pPr>
            <a:r>
              <a:rPr lang="en-US" sz="1200" i="1" dirty="0">
                <a:solidFill>
                  <a:srgbClr val="8A97A4"/>
                </a:solidFill>
                <a:latin typeface="Calibri" pitchFamily="34" charset="0"/>
                <a:ea typeface="Calibri" pitchFamily="34" charset="-122"/>
                <a:cs typeface="Calibri" pitchFamily="34" charset="-120"/>
              </a:rPr>
              <a:t>[three lines, no more]</a:t>
            </a:r>
            <a:endParaRPr lang="en-US" sz="1200" dirty="0"/>
          </a:p>
        </p:txBody>
      </p:sp>
      <p:sp>
        <p:nvSpPr>
          <p:cNvPr id="13" name="Shape 11"/>
          <p:cNvSpPr/>
          <p:nvPr/>
        </p:nvSpPr>
        <p:spPr>
          <a:xfrm>
            <a:off x="566928" y="3566160"/>
            <a:ext cx="11055096" cy="749808"/>
          </a:xfrm>
          <a:prstGeom prst="roundRect">
            <a:avLst>
              <a:gd name="adj" fmla="val 9756"/>
            </a:avLst>
          </a:prstGeom>
          <a:solidFill>
            <a:srgbClr val="EEF2F5"/>
          </a:solidFill>
          <a:ln w="12700">
            <a:solidFill>
              <a:srgbClr val="EEF2F5"/>
            </a:solidFill>
            <a:prstDash val="solid"/>
          </a:ln>
          <a:effectLst>
            <a:outerShdw blurRad="101600" dist="25400" dir="5400000" algn="bl" rotWithShape="0">
              <a:srgbClr val="9AA7B4">
                <a:alpha val="28000"/>
              </a:srgbClr>
            </a:outerShdw>
          </a:effectLst>
        </p:spPr>
        <p:txBody>
          <a:bodyPr/>
          <a:lstStyle/>
          <a:p>
            <a:endParaRPr lang="en-US"/>
          </a:p>
        </p:txBody>
      </p:sp>
      <p:sp>
        <p:nvSpPr>
          <p:cNvPr id="14" name="Text 12"/>
          <p:cNvSpPr/>
          <p:nvPr/>
        </p:nvSpPr>
        <p:spPr>
          <a:xfrm>
            <a:off x="868680" y="3566160"/>
            <a:ext cx="3200400" cy="749808"/>
          </a:xfrm>
          <a:prstGeom prst="rect">
            <a:avLst/>
          </a:prstGeom>
          <a:noFill/>
          <a:ln/>
        </p:spPr>
        <p:txBody>
          <a:bodyPr wrap="square" lIns="0" tIns="0" rIns="0" bIns="0" rtlCol="0" anchor="ctr"/>
          <a:lstStyle/>
          <a:p>
            <a:pPr marL="0" indent="0">
              <a:buNone/>
            </a:pPr>
            <a:r>
              <a:rPr lang="en-US" sz="1200" b="1" dirty="0">
                <a:solidFill>
                  <a:srgbClr val="16283C"/>
                </a:solidFill>
                <a:latin typeface="Calibri" pitchFamily="34" charset="0"/>
                <a:ea typeface="Calibri" pitchFamily="34" charset="-122"/>
                <a:cs typeface="Calibri" pitchFamily="34" charset="-120"/>
              </a:rPr>
              <a:t>What the team got right early</a:t>
            </a:r>
            <a:endParaRPr lang="en-US" sz="1200" dirty="0"/>
          </a:p>
        </p:txBody>
      </p:sp>
      <p:sp>
        <p:nvSpPr>
          <p:cNvPr id="15" name="Text 13"/>
          <p:cNvSpPr/>
          <p:nvPr/>
        </p:nvSpPr>
        <p:spPr>
          <a:xfrm>
            <a:off x="4206240" y="3566160"/>
            <a:ext cx="7132320" cy="749808"/>
          </a:xfrm>
          <a:prstGeom prst="rect">
            <a:avLst/>
          </a:prstGeom>
          <a:noFill/>
          <a:ln/>
        </p:spPr>
        <p:txBody>
          <a:bodyPr wrap="square" lIns="0" tIns="0" rIns="0" bIns="0" rtlCol="0" anchor="ctr"/>
          <a:lstStyle/>
          <a:p>
            <a:pPr marL="0" indent="0">
              <a:lnSpc>
                <a:spcPts val="1500"/>
              </a:lnSpc>
              <a:buNone/>
            </a:pPr>
            <a:r>
              <a:rPr lang="en-US" sz="1200" i="1" dirty="0">
                <a:solidFill>
                  <a:srgbClr val="8A97A4"/>
                </a:solidFill>
                <a:latin typeface="Calibri" pitchFamily="34" charset="0"/>
                <a:ea typeface="Calibri" pitchFamily="34" charset="-122"/>
                <a:cs typeface="Calibri" pitchFamily="34" charset="-120"/>
              </a:rPr>
              <a:t>[name it — this matters as much as the miss]</a:t>
            </a:r>
            <a:endParaRPr lang="en-US" sz="1200" dirty="0"/>
          </a:p>
        </p:txBody>
      </p:sp>
      <p:sp>
        <p:nvSpPr>
          <p:cNvPr id="16" name="Shape 14"/>
          <p:cNvSpPr/>
          <p:nvPr/>
        </p:nvSpPr>
        <p:spPr>
          <a:xfrm>
            <a:off x="566928" y="4389120"/>
            <a:ext cx="11055096" cy="749808"/>
          </a:xfrm>
          <a:prstGeom prst="roundRect">
            <a:avLst>
              <a:gd name="adj" fmla="val 9756"/>
            </a:avLst>
          </a:prstGeom>
          <a:solidFill>
            <a:srgbClr val="FBF0DE"/>
          </a:solidFill>
          <a:ln w="12700">
            <a:solidFill>
              <a:srgbClr val="FBF0DE"/>
            </a:solidFill>
            <a:prstDash val="solid"/>
          </a:ln>
          <a:effectLst>
            <a:outerShdw blurRad="101600" dist="25400" dir="5400000" algn="bl" rotWithShape="0">
              <a:srgbClr val="9AA7B4">
                <a:alpha val="28000"/>
              </a:srgbClr>
            </a:outerShdw>
          </a:effectLst>
        </p:spPr>
        <p:txBody>
          <a:bodyPr/>
          <a:lstStyle/>
          <a:p>
            <a:endParaRPr lang="en-US"/>
          </a:p>
        </p:txBody>
      </p:sp>
      <p:sp>
        <p:nvSpPr>
          <p:cNvPr id="17" name="Text 15"/>
          <p:cNvSpPr/>
          <p:nvPr/>
        </p:nvSpPr>
        <p:spPr>
          <a:xfrm>
            <a:off x="868680" y="4389120"/>
            <a:ext cx="3200400" cy="749808"/>
          </a:xfrm>
          <a:prstGeom prst="rect">
            <a:avLst/>
          </a:prstGeom>
          <a:noFill/>
          <a:ln/>
        </p:spPr>
        <p:txBody>
          <a:bodyPr wrap="square" lIns="0" tIns="0" rIns="0" bIns="0" rtlCol="0" anchor="ctr"/>
          <a:lstStyle/>
          <a:p>
            <a:pPr marL="0" indent="0">
              <a:buNone/>
            </a:pPr>
            <a:r>
              <a:rPr lang="en-US" sz="1200" b="1" dirty="0">
                <a:solidFill>
                  <a:srgbClr val="8A6014"/>
                </a:solidFill>
                <a:latin typeface="Calibri" pitchFamily="34" charset="0"/>
                <a:ea typeface="Calibri" pitchFamily="34" charset="-122"/>
                <a:cs typeface="Calibri" pitchFamily="34" charset="-120"/>
              </a:rPr>
              <a:t>What was missed, and why</a:t>
            </a:r>
            <a:endParaRPr lang="en-US" sz="1200" dirty="0"/>
          </a:p>
        </p:txBody>
      </p:sp>
      <p:sp>
        <p:nvSpPr>
          <p:cNvPr id="18" name="Text 16"/>
          <p:cNvSpPr/>
          <p:nvPr/>
        </p:nvSpPr>
        <p:spPr>
          <a:xfrm>
            <a:off x="4206240" y="4389120"/>
            <a:ext cx="7132320" cy="749808"/>
          </a:xfrm>
          <a:prstGeom prst="rect">
            <a:avLst/>
          </a:prstGeom>
          <a:noFill/>
          <a:ln/>
        </p:spPr>
        <p:txBody>
          <a:bodyPr wrap="square" lIns="0" tIns="0" rIns="0" bIns="0" rtlCol="0" anchor="ctr"/>
          <a:lstStyle/>
          <a:p>
            <a:pPr marL="0" indent="0">
              <a:lnSpc>
                <a:spcPts val="1500"/>
              </a:lnSpc>
              <a:buNone/>
            </a:pPr>
            <a:r>
              <a:rPr lang="en-US" sz="1200" i="1" dirty="0">
                <a:solidFill>
                  <a:srgbClr val="4A3520"/>
                </a:solidFill>
                <a:latin typeface="Calibri" pitchFamily="34" charset="0"/>
                <a:ea typeface="Calibri" pitchFamily="34" charset="-122"/>
                <a:cs typeface="Calibri" pitchFamily="34" charset="-120"/>
              </a:rPr>
              <a:t>[the reasoning error, not just the fact. Anchoring? Premature closure? Availability?]</a:t>
            </a:r>
            <a:endParaRPr lang="en-US" sz="1200" dirty="0"/>
          </a:p>
        </p:txBody>
      </p:sp>
      <p:sp>
        <p:nvSpPr>
          <p:cNvPr id="19" name="Shape 17"/>
          <p:cNvSpPr/>
          <p:nvPr/>
        </p:nvSpPr>
        <p:spPr>
          <a:xfrm>
            <a:off x="566928" y="5212080"/>
            <a:ext cx="11055096" cy="749808"/>
          </a:xfrm>
          <a:prstGeom prst="roundRect">
            <a:avLst>
              <a:gd name="adj" fmla="val 9756"/>
            </a:avLst>
          </a:prstGeom>
          <a:solidFill>
            <a:srgbClr val="EEF2F5"/>
          </a:solidFill>
          <a:ln w="12700">
            <a:solidFill>
              <a:srgbClr val="EEF2F5"/>
            </a:solidFill>
            <a:prstDash val="solid"/>
          </a:ln>
          <a:effectLst>
            <a:outerShdw blurRad="101600" dist="25400" dir="5400000" algn="bl" rotWithShape="0">
              <a:srgbClr val="9AA7B4">
                <a:alpha val="28000"/>
              </a:srgbClr>
            </a:outerShdw>
          </a:effectLst>
        </p:spPr>
        <p:txBody>
          <a:bodyPr/>
          <a:lstStyle/>
          <a:p>
            <a:endParaRPr lang="en-US"/>
          </a:p>
        </p:txBody>
      </p:sp>
      <p:sp>
        <p:nvSpPr>
          <p:cNvPr id="20" name="Text 18"/>
          <p:cNvSpPr/>
          <p:nvPr/>
        </p:nvSpPr>
        <p:spPr>
          <a:xfrm>
            <a:off x="868680" y="5212080"/>
            <a:ext cx="3200400" cy="749808"/>
          </a:xfrm>
          <a:prstGeom prst="rect">
            <a:avLst/>
          </a:prstGeom>
          <a:noFill/>
          <a:ln/>
        </p:spPr>
        <p:txBody>
          <a:bodyPr wrap="square" lIns="0" tIns="0" rIns="0" bIns="0" rtlCol="0" anchor="ctr"/>
          <a:lstStyle/>
          <a:p>
            <a:pPr marL="0" indent="0">
              <a:buNone/>
            </a:pPr>
            <a:r>
              <a:rPr lang="en-US" sz="1200" b="1" dirty="0">
                <a:solidFill>
                  <a:srgbClr val="16283C"/>
                </a:solidFill>
                <a:latin typeface="Calibri" pitchFamily="34" charset="0"/>
                <a:ea typeface="Calibri" pitchFamily="34" charset="-122"/>
                <a:cs typeface="Calibri" pitchFamily="34" charset="-120"/>
              </a:rPr>
              <a:t>Outcome and follow-up</a:t>
            </a:r>
            <a:endParaRPr lang="en-US" sz="1200" dirty="0"/>
          </a:p>
        </p:txBody>
      </p:sp>
      <p:sp>
        <p:nvSpPr>
          <p:cNvPr id="21" name="Text 19"/>
          <p:cNvSpPr/>
          <p:nvPr/>
        </p:nvSpPr>
        <p:spPr>
          <a:xfrm>
            <a:off x="4206240" y="5212080"/>
            <a:ext cx="7132320" cy="749808"/>
          </a:xfrm>
          <a:prstGeom prst="rect">
            <a:avLst/>
          </a:prstGeom>
          <a:noFill/>
          <a:ln/>
        </p:spPr>
        <p:txBody>
          <a:bodyPr wrap="square" lIns="0" tIns="0" rIns="0" bIns="0" rtlCol="0" anchor="ctr"/>
          <a:lstStyle/>
          <a:p>
            <a:pPr marL="0" indent="0">
              <a:lnSpc>
                <a:spcPts val="1500"/>
              </a:lnSpc>
              <a:buNone/>
            </a:pPr>
            <a:r>
              <a:rPr lang="en-US" sz="1200" i="1" dirty="0">
                <a:solidFill>
                  <a:srgbClr val="8A97A4"/>
                </a:solidFill>
                <a:latin typeface="Calibri" pitchFamily="34" charset="0"/>
                <a:ea typeface="Calibri" pitchFamily="34" charset="-122"/>
                <a:cs typeface="Calibri" pitchFamily="34" charset="-120"/>
              </a:rPr>
              <a:t>[where the patient is now]</a:t>
            </a:r>
            <a:endParaRPr lang="en-US" sz="1200" dirty="0"/>
          </a:p>
        </p:txBody>
      </p:sp>
      <p:sp>
        <p:nvSpPr>
          <p:cNvPr id="22" name="Text 20"/>
          <p:cNvSpPr/>
          <p:nvPr/>
        </p:nvSpPr>
        <p:spPr>
          <a:xfrm>
            <a:off x="566928" y="6144768"/>
            <a:ext cx="11055096" cy="365760"/>
          </a:xfrm>
          <a:prstGeom prst="rect">
            <a:avLst/>
          </a:prstGeom>
          <a:noFill/>
          <a:ln/>
        </p:spPr>
        <p:txBody>
          <a:bodyPr wrap="square" lIns="0" tIns="0" rIns="0" bIns="0" rtlCol="0" anchor="ctr"/>
          <a:lstStyle/>
          <a:p>
            <a:pPr marL="0" indent="0">
              <a:buNone/>
            </a:pPr>
            <a:r>
              <a:rPr lang="en-US" sz="1200" b="1" i="1" dirty="0">
                <a:solidFill>
                  <a:srgbClr val="16283C"/>
                </a:solidFill>
                <a:latin typeface="Calibri" pitchFamily="34" charset="0"/>
                <a:ea typeface="Calibri" pitchFamily="34" charset="-122"/>
                <a:cs typeface="Calibri" pitchFamily="34" charset="-120"/>
              </a:rPr>
              <a:t>Put the board back on screen beside this. Ask the group what they would have needed at minute 11 to cross off the wrong answer.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292608"/>
            <a:ext cx="8229600" cy="256032"/>
          </a:xfrm>
          <a:prstGeom prst="rect">
            <a:avLst/>
          </a:prstGeom>
          <a:noFill/>
          <a:ln/>
        </p:spPr>
        <p:txBody>
          <a:bodyPr wrap="square" lIns="0" tIns="0" rIns="0" bIns="0" rtlCol="0" anchor="ctr"/>
          <a:lstStyle/>
          <a:p>
            <a:pPr marL="0" indent="0">
              <a:buNone/>
            </a:pPr>
            <a:r>
              <a:rPr lang="en-US" sz="1100" b="1" kern="0" spc="200" dirty="0">
                <a:solidFill>
                  <a:srgbClr val="E8A33D"/>
                </a:solidFill>
                <a:latin typeface="Calibri" pitchFamily="34" charset="0"/>
                <a:ea typeface="Calibri" pitchFamily="34" charset="-122"/>
                <a:cs typeface="Calibri" pitchFamily="34" charset="-120"/>
              </a:rPr>
              <a:t>CONSOLIDATION  ·  THE LAST MINUTE</a:t>
            </a:r>
            <a:endParaRPr lang="en-US" sz="1100" dirty="0"/>
          </a:p>
        </p:txBody>
      </p:sp>
      <p:sp>
        <p:nvSpPr>
          <p:cNvPr id="3" name="Shape 1"/>
          <p:cNvSpPr/>
          <p:nvPr/>
        </p:nvSpPr>
        <p:spPr>
          <a:xfrm>
            <a:off x="9829800" y="256032"/>
            <a:ext cx="1792224" cy="384048"/>
          </a:xfrm>
          <a:prstGeom prst="roundRect">
            <a:avLst>
              <a:gd name="adj" fmla="val 11905"/>
            </a:avLst>
          </a:prstGeom>
          <a:solidFill>
            <a:srgbClr val="16283C"/>
          </a:solidFill>
          <a:ln w="12700">
            <a:solidFill>
              <a:srgbClr val="16283C"/>
            </a:solidFill>
            <a:prstDash val="solid"/>
          </a:ln>
        </p:spPr>
        <p:txBody>
          <a:bodyPr/>
          <a:lstStyle/>
          <a:p>
            <a:endParaRPr lang="en-US"/>
          </a:p>
        </p:txBody>
      </p:sp>
      <p:sp>
        <p:nvSpPr>
          <p:cNvPr id="4" name="Text 2"/>
          <p:cNvSpPr/>
          <p:nvPr/>
        </p:nvSpPr>
        <p:spPr>
          <a:xfrm>
            <a:off x="9829800" y="256032"/>
            <a:ext cx="1792224"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0:24 — 1 MIN</a:t>
            </a:r>
            <a:endParaRPr lang="en-US" sz="1050" dirty="0"/>
          </a:p>
        </p:txBody>
      </p:sp>
      <p:sp>
        <p:nvSpPr>
          <p:cNvPr id="5" name="Text 3"/>
          <p:cNvSpPr/>
          <p:nvPr/>
        </p:nvSpPr>
        <p:spPr>
          <a:xfrm>
            <a:off x="548640" y="530352"/>
            <a:ext cx="5943600" cy="548640"/>
          </a:xfrm>
          <a:prstGeom prst="rect">
            <a:avLst/>
          </a:prstGeom>
          <a:noFill/>
          <a:ln/>
        </p:spPr>
        <p:txBody>
          <a:bodyPr wrap="square" lIns="0" tIns="0" rIns="0" bIns="0" rtlCol="0" anchor="ctr"/>
          <a:lstStyle/>
          <a:p>
            <a:pPr marL="0" indent="0">
              <a:buNone/>
            </a:pPr>
            <a:r>
              <a:rPr lang="en-US" sz="2600" b="1" dirty="0">
                <a:solidFill>
                  <a:srgbClr val="16283C"/>
                </a:solidFill>
                <a:latin typeface="Cambria" pitchFamily="34" charset="0"/>
                <a:ea typeface="Cambria" pitchFamily="34" charset="-122"/>
                <a:cs typeface="Cambria" pitchFamily="34" charset="-120"/>
              </a:rPr>
              <a:t>Take-home points</a:t>
            </a:r>
            <a:endParaRPr lang="en-US" sz="2600" dirty="0"/>
          </a:p>
        </p:txBody>
      </p:sp>
      <p:sp>
        <p:nvSpPr>
          <p:cNvPr id="6" name="Shape 4"/>
          <p:cNvSpPr/>
          <p:nvPr/>
        </p:nvSpPr>
        <p:spPr>
          <a:xfrm>
            <a:off x="658368" y="1371600"/>
            <a:ext cx="457200" cy="457200"/>
          </a:xfrm>
          <a:prstGeom prst="ellipse">
            <a:avLst/>
          </a:prstGeom>
          <a:solidFill>
            <a:srgbClr val="E8A33D"/>
          </a:solidFill>
          <a:ln w="12700">
            <a:solidFill>
              <a:srgbClr val="E8A33D"/>
            </a:solidFill>
            <a:prstDash val="solid"/>
          </a:ln>
        </p:spPr>
        <p:txBody>
          <a:bodyPr/>
          <a:lstStyle/>
          <a:p>
            <a:endParaRPr lang="en-US"/>
          </a:p>
        </p:txBody>
      </p:sp>
      <p:sp>
        <p:nvSpPr>
          <p:cNvPr id="7" name="Text 5"/>
          <p:cNvSpPr/>
          <p:nvPr/>
        </p:nvSpPr>
        <p:spPr>
          <a:xfrm>
            <a:off x="658368" y="1371600"/>
            <a:ext cx="457200" cy="457200"/>
          </a:xfrm>
          <a:prstGeom prst="rect">
            <a:avLst/>
          </a:prstGeom>
          <a:noFill/>
          <a:ln/>
        </p:spPr>
        <p:txBody>
          <a:bodyPr wrap="square" lIns="0" tIns="0" rIns="0" bIns="0" rtlCol="0" anchor="ctr"/>
          <a:lstStyle/>
          <a:p>
            <a:pPr marL="0" indent="0" algn="ctr">
              <a:buNone/>
            </a:pPr>
            <a:r>
              <a:rPr lang="en-US" sz="1400" b="1" dirty="0">
                <a:solidFill>
                  <a:srgbClr val="16283C"/>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98448" y="1371600"/>
            <a:ext cx="4754880" cy="457200"/>
          </a:xfrm>
          <a:prstGeom prst="rect">
            <a:avLst/>
          </a:prstGeom>
          <a:noFill/>
          <a:ln/>
        </p:spPr>
        <p:txBody>
          <a:bodyPr wrap="square" lIns="0" tIns="0" rIns="0" bIns="0" rtlCol="0" anchor="ctr"/>
          <a:lstStyle/>
          <a:p>
            <a:pPr marL="0" indent="0">
              <a:buNone/>
            </a:pPr>
            <a:r>
              <a:rPr lang="en-US" sz="1350" i="1" dirty="0">
                <a:solidFill>
                  <a:srgbClr val="8A97A4"/>
                </a:solidFill>
                <a:latin typeface="Calibri" pitchFamily="34" charset="0"/>
                <a:ea typeface="Calibri" pitchFamily="34" charset="-122"/>
                <a:cs typeface="Calibri" pitchFamily="34" charset="-120"/>
              </a:rPr>
              <a:t>[Point 1 — tied to the objective read at 0:00]</a:t>
            </a:r>
            <a:endParaRPr lang="en-US" sz="1350" dirty="0"/>
          </a:p>
        </p:txBody>
      </p:sp>
      <p:sp>
        <p:nvSpPr>
          <p:cNvPr id="9" name="Shape 7"/>
          <p:cNvSpPr/>
          <p:nvPr/>
        </p:nvSpPr>
        <p:spPr>
          <a:xfrm>
            <a:off x="658368" y="2148840"/>
            <a:ext cx="457200" cy="457200"/>
          </a:xfrm>
          <a:prstGeom prst="ellipse">
            <a:avLst/>
          </a:prstGeom>
          <a:solidFill>
            <a:srgbClr val="E8A33D"/>
          </a:solidFill>
          <a:ln w="12700">
            <a:solidFill>
              <a:srgbClr val="E8A33D"/>
            </a:solidFill>
            <a:prstDash val="solid"/>
          </a:ln>
        </p:spPr>
        <p:txBody>
          <a:bodyPr/>
          <a:lstStyle/>
          <a:p>
            <a:endParaRPr lang="en-US"/>
          </a:p>
        </p:txBody>
      </p:sp>
      <p:sp>
        <p:nvSpPr>
          <p:cNvPr id="10" name="Text 8"/>
          <p:cNvSpPr/>
          <p:nvPr/>
        </p:nvSpPr>
        <p:spPr>
          <a:xfrm>
            <a:off x="658368" y="2148840"/>
            <a:ext cx="457200" cy="457200"/>
          </a:xfrm>
          <a:prstGeom prst="rect">
            <a:avLst/>
          </a:prstGeom>
          <a:noFill/>
          <a:ln/>
        </p:spPr>
        <p:txBody>
          <a:bodyPr wrap="square" lIns="0" tIns="0" rIns="0" bIns="0" rtlCol="0" anchor="ctr"/>
          <a:lstStyle/>
          <a:p>
            <a:pPr marL="0" indent="0" algn="ctr">
              <a:buNone/>
            </a:pPr>
            <a:r>
              <a:rPr lang="en-US" sz="1400" b="1" dirty="0">
                <a:solidFill>
                  <a:srgbClr val="16283C"/>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98448" y="2148840"/>
            <a:ext cx="4754880" cy="457200"/>
          </a:xfrm>
          <a:prstGeom prst="rect">
            <a:avLst/>
          </a:prstGeom>
          <a:noFill/>
          <a:ln/>
        </p:spPr>
        <p:txBody>
          <a:bodyPr wrap="square" lIns="0" tIns="0" rIns="0" bIns="0" rtlCol="0" anchor="ctr"/>
          <a:lstStyle/>
          <a:p>
            <a:pPr marL="0" indent="0">
              <a:buNone/>
            </a:pPr>
            <a:r>
              <a:rPr lang="en-US" sz="1350" i="1" dirty="0">
                <a:solidFill>
                  <a:srgbClr val="8A97A4"/>
                </a:solidFill>
                <a:latin typeface="Calibri" pitchFamily="34" charset="0"/>
                <a:ea typeface="Calibri" pitchFamily="34" charset="-122"/>
                <a:cs typeface="Calibri" pitchFamily="34" charset="-120"/>
              </a:rPr>
              <a:t>[Point 2 — the reasoning lesson, not the fact]</a:t>
            </a:r>
            <a:endParaRPr lang="en-US" sz="1350" dirty="0"/>
          </a:p>
        </p:txBody>
      </p:sp>
      <p:sp>
        <p:nvSpPr>
          <p:cNvPr id="12" name="Shape 10"/>
          <p:cNvSpPr/>
          <p:nvPr/>
        </p:nvSpPr>
        <p:spPr>
          <a:xfrm>
            <a:off x="658368" y="2926080"/>
            <a:ext cx="457200" cy="457200"/>
          </a:xfrm>
          <a:prstGeom prst="ellipse">
            <a:avLst/>
          </a:prstGeom>
          <a:solidFill>
            <a:srgbClr val="E8A33D"/>
          </a:solidFill>
          <a:ln w="12700">
            <a:solidFill>
              <a:srgbClr val="E8A33D"/>
            </a:solidFill>
            <a:prstDash val="solid"/>
          </a:ln>
        </p:spPr>
        <p:txBody>
          <a:bodyPr/>
          <a:lstStyle/>
          <a:p>
            <a:endParaRPr lang="en-US"/>
          </a:p>
        </p:txBody>
      </p:sp>
      <p:sp>
        <p:nvSpPr>
          <p:cNvPr id="13" name="Text 11"/>
          <p:cNvSpPr/>
          <p:nvPr/>
        </p:nvSpPr>
        <p:spPr>
          <a:xfrm>
            <a:off x="658368" y="2926080"/>
            <a:ext cx="457200" cy="457200"/>
          </a:xfrm>
          <a:prstGeom prst="rect">
            <a:avLst/>
          </a:prstGeom>
          <a:noFill/>
          <a:ln/>
        </p:spPr>
        <p:txBody>
          <a:bodyPr wrap="square" lIns="0" tIns="0" rIns="0" bIns="0" rtlCol="0" anchor="ctr"/>
          <a:lstStyle/>
          <a:p>
            <a:pPr marL="0" indent="0" algn="ctr">
              <a:buNone/>
            </a:pPr>
            <a:r>
              <a:rPr lang="en-US" sz="1400" b="1" dirty="0">
                <a:solidFill>
                  <a:srgbClr val="16283C"/>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98448" y="2926080"/>
            <a:ext cx="4754880" cy="457200"/>
          </a:xfrm>
          <a:prstGeom prst="rect">
            <a:avLst/>
          </a:prstGeom>
          <a:noFill/>
          <a:ln/>
        </p:spPr>
        <p:txBody>
          <a:bodyPr wrap="square" lIns="0" tIns="0" rIns="0" bIns="0" rtlCol="0" anchor="ctr"/>
          <a:lstStyle/>
          <a:p>
            <a:pPr marL="0" indent="0">
              <a:buNone/>
            </a:pPr>
            <a:r>
              <a:rPr lang="en-US" sz="1350" i="1" dirty="0">
                <a:solidFill>
                  <a:srgbClr val="8A97A4"/>
                </a:solidFill>
                <a:latin typeface="Calibri" pitchFamily="34" charset="0"/>
                <a:ea typeface="Calibri" pitchFamily="34" charset="-122"/>
                <a:cs typeface="Calibri" pitchFamily="34" charset="-120"/>
              </a:rPr>
              <a:t>[Point 3 — optional. Big picture only]</a:t>
            </a:r>
            <a:endParaRPr lang="en-US" sz="1350" dirty="0"/>
          </a:p>
        </p:txBody>
      </p:sp>
      <p:sp>
        <p:nvSpPr>
          <p:cNvPr id="15" name="Shape 13"/>
          <p:cNvSpPr/>
          <p:nvPr/>
        </p:nvSpPr>
        <p:spPr>
          <a:xfrm>
            <a:off x="658368" y="3794760"/>
            <a:ext cx="5394960" cy="18288"/>
          </a:xfrm>
          <a:prstGeom prst="rect">
            <a:avLst/>
          </a:prstGeom>
          <a:solidFill>
            <a:srgbClr val="DDE4EA"/>
          </a:solidFill>
          <a:ln w="12700">
            <a:solidFill>
              <a:srgbClr val="DDE4EA"/>
            </a:solidFill>
            <a:prstDash val="solid"/>
          </a:ln>
        </p:spPr>
        <p:txBody>
          <a:bodyPr/>
          <a:lstStyle/>
          <a:p>
            <a:endParaRPr lang="en-US"/>
          </a:p>
        </p:txBody>
      </p:sp>
      <p:sp>
        <p:nvSpPr>
          <p:cNvPr id="16" name="Text 14"/>
          <p:cNvSpPr/>
          <p:nvPr/>
        </p:nvSpPr>
        <p:spPr>
          <a:xfrm>
            <a:off x="658368" y="3950208"/>
            <a:ext cx="5394960" cy="320040"/>
          </a:xfrm>
          <a:prstGeom prst="rect">
            <a:avLst/>
          </a:prstGeom>
          <a:noFill/>
          <a:ln/>
        </p:spPr>
        <p:txBody>
          <a:bodyPr wrap="square" lIns="0" tIns="0" rIns="0" bIns="0" rtlCol="0" anchor="ctr"/>
          <a:lstStyle/>
          <a:p>
            <a:pPr marL="0" indent="0">
              <a:buNone/>
            </a:pPr>
            <a:r>
              <a:rPr lang="en-US" sz="1150" i="1" dirty="0">
                <a:solidFill>
                  <a:srgbClr val="5F6B78"/>
                </a:solidFill>
                <a:latin typeface="Calibri" pitchFamily="34" charset="0"/>
                <a:ea typeface="Calibri" pitchFamily="34" charset="-122"/>
                <a:cs typeface="Calibri" pitchFamily="34" charset="-120"/>
              </a:rPr>
              <a:t>References: [2–3 citations, linked]</a:t>
            </a:r>
            <a:endParaRPr lang="en-US" sz="1150" dirty="0"/>
          </a:p>
        </p:txBody>
      </p:sp>
      <p:sp>
        <p:nvSpPr>
          <p:cNvPr id="17" name="Shape 15"/>
          <p:cNvSpPr/>
          <p:nvPr/>
        </p:nvSpPr>
        <p:spPr>
          <a:xfrm>
            <a:off x="6400800" y="1298448"/>
            <a:ext cx="5221224" cy="3383280"/>
          </a:xfrm>
          <a:prstGeom prst="roundRect">
            <a:avLst>
              <a:gd name="adj" fmla="val 2162"/>
            </a:avLst>
          </a:prstGeom>
          <a:solidFill>
            <a:srgbClr val="EEF2F5"/>
          </a:solidFill>
          <a:ln w="12700">
            <a:solidFill>
              <a:srgbClr val="EEF2F5"/>
            </a:solidFill>
            <a:prstDash val="solid"/>
          </a:ln>
          <a:effectLst>
            <a:outerShdw blurRad="101600" dist="25400" dir="5400000" algn="bl" rotWithShape="0">
              <a:srgbClr val="9AA7B4">
                <a:alpha val="28000"/>
              </a:srgbClr>
            </a:outerShdw>
          </a:effectLst>
        </p:spPr>
        <p:txBody>
          <a:bodyPr/>
          <a:lstStyle/>
          <a:p>
            <a:endParaRPr lang="en-US"/>
          </a:p>
        </p:txBody>
      </p:sp>
      <p:sp>
        <p:nvSpPr>
          <p:cNvPr id="18" name="Text 16"/>
          <p:cNvSpPr/>
          <p:nvPr/>
        </p:nvSpPr>
        <p:spPr>
          <a:xfrm>
            <a:off x="6720840" y="1463040"/>
            <a:ext cx="4572000" cy="274320"/>
          </a:xfrm>
          <a:prstGeom prst="rect">
            <a:avLst/>
          </a:prstGeom>
          <a:noFill/>
          <a:ln/>
        </p:spPr>
        <p:txBody>
          <a:bodyPr wrap="square" lIns="0" tIns="0" rIns="0" bIns="0" rtlCol="0" anchor="ctr"/>
          <a:lstStyle/>
          <a:p>
            <a:pPr marL="0" indent="0">
              <a:buNone/>
            </a:pPr>
            <a:r>
              <a:rPr lang="en-US" sz="1050" b="1" kern="0" spc="200" dirty="0">
                <a:solidFill>
                  <a:srgbClr val="2E7D8F"/>
                </a:solidFill>
                <a:latin typeface="Calibri" pitchFamily="34" charset="0"/>
                <a:ea typeface="Calibri" pitchFamily="34" charset="-122"/>
                <a:cs typeface="Calibri" pitchFamily="34" charset="-120"/>
              </a:rPr>
              <a:t>BOARD-STYLE QUESTION</a:t>
            </a:r>
            <a:endParaRPr lang="en-US" sz="1050" dirty="0"/>
          </a:p>
        </p:txBody>
      </p:sp>
      <p:sp>
        <p:nvSpPr>
          <p:cNvPr id="19" name="Text 17"/>
          <p:cNvSpPr/>
          <p:nvPr/>
        </p:nvSpPr>
        <p:spPr>
          <a:xfrm>
            <a:off x="6720840" y="1783080"/>
            <a:ext cx="4572000" cy="685800"/>
          </a:xfrm>
          <a:prstGeom prst="rect">
            <a:avLst/>
          </a:prstGeom>
          <a:noFill/>
          <a:ln/>
        </p:spPr>
        <p:txBody>
          <a:bodyPr wrap="square" lIns="0" tIns="0" rIns="0" bIns="0" rtlCol="0" anchor="ctr"/>
          <a:lstStyle/>
          <a:p>
            <a:pPr marL="0" indent="0">
              <a:lnSpc>
                <a:spcPts val="1800"/>
              </a:lnSpc>
              <a:buNone/>
            </a:pPr>
            <a:r>
              <a:rPr lang="en-US" sz="1300" b="1" dirty="0">
                <a:solidFill>
                  <a:srgbClr val="16283C"/>
                </a:solidFill>
                <a:latin typeface="Calibri" pitchFamily="34" charset="0"/>
                <a:ea typeface="Calibri" pitchFamily="34" charset="-122"/>
                <a:cs typeface="Calibri" pitchFamily="34" charset="-120"/>
              </a:rPr>
              <a:t>[Stem — a different patient, same reasoning]</a:t>
            </a:r>
            <a:endParaRPr lang="en-US" sz="1300" dirty="0"/>
          </a:p>
        </p:txBody>
      </p:sp>
      <p:sp>
        <p:nvSpPr>
          <p:cNvPr id="20" name="Text 18"/>
          <p:cNvSpPr/>
          <p:nvPr/>
        </p:nvSpPr>
        <p:spPr>
          <a:xfrm>
            <a:off x="6720840" y="2606040"/>
            <a:ext cx="4572000" cy="1280160"/>
          </a:xfrm>
          <a:prstGeom prst="rect">
            <a:avLst/>
          </a:prstGeom>
          <a:noFill/>
          <a:ln/>
        </p:spPr>
        <p:txBody>
          <a:bodyPr wrap="square" lIns="0" tIns="0" rIns="0" bIns="0" rtlCol="0" anchor="ctr"/>
          <a:lstStyle/>
          <a:p>
            <a:pPr marL="0" indent="0">
              <a:lnSpc>
                <a:spcPts val="1900"/>
              </a:lnSpc>
              <a:buNone/>
            </a:pPr>
            <a:r>
              <a:rPr lang="en-US" sz="1250" dirty="0">
                <a:solidFill>
                  <a:srgbClr val="8A97A4"/>
                </a:solidFill>
                <a:latin typeface="Calibri" pitchFamily="34" charset="0"/>
                <a:ea typeface="Calibri" pitchFamily="34" charset="-122"/>
                <a:cs typeface="Calibri" pitchFamily="34" charset="-120"/>
              </a:rPr>
              <a:t>A.  ______________________</a:t>
            </a:r>
            <a:endParaRPr lang="en-US" sz="1250" dirty="0"/>
          </a:p>
          <a:p>
            <a:pPr marL="0" indent="0">
              <a:lnSpc>
                <a:spcPts val="1900"/>
              </a:lnSpc>
              <a:buNone/>
            </a:pPr>
            <a:r>
              <a:rPr lang="en-US" sz="1250" dirty="0">
                <a:solidFill>
                  <a:srgbClr val="8A97A4"/>
                </a:solidFill>
                <a:latin typeface="Calibri" pitchFamily="34" charset="0"/>
                <a:ea typeface="Calibri" pitchFamily="34" charset="-122"/>
                <a:cs typeface="Calibri" pitchFamily="34" charset="-120"/>
              </a:rPr>
              <a:t>B.  ______________________</a:t>
            </a:r>
            <a:endParaRPr lang="en-US" sz="1250" dirty="0"/>
          </a:p>
          <a:p>
            <a:pPr marL="0" indent="0">
              <a:lnSpc>
                <a:spcPts val="1900"/>
              </a:lnSpc>
              <a:buNone/>
            </a:pPr>
            <a:r>
              <a:rPr lang="en-US" sz="1250" dirty="0">
                <a:solidFill>
                  <a:srgbClr val="8A97A4"/>
                </a:solidFill>
                <a:latin typeface="Calibri" pitchFamily="34" charset="0"/>
                <a:ea typeface="Calibri" pitchFamily="34" charset="-122"/>
                <a:cs typeface="Calibri" pitchFamily="34" charset="-120"/>
              </a:rPr>
              <a:t>C.  ______________________</a:t>
            </a:r>
            <a:endParaRPr lang="en-US" sz="1250" dirty="0"/>
          </a:p>
          <a:p>
            <a:pPr marL="0" indent="0">
              <a:lnSpc>
                <a:spcPts val="1900"/>
              </a:lnSpc>
              <a:buNone/>
            </a:pPr>
            <a:r>
              <a:rPr lang="en-US" sz="1250" dirty="0">
                <a:solidFill>
                  <a:srgbClr val="8A97A4"/>
                </a:solidFill>
                <a:latin typeface="Calibri" pitchFamily="34" charset="0"/>
                <a:ea typeface="Calibri" pitchFamily="34" charset="-122"/>
                <a:cs typeface="Calibri" pitchFamily="34" charset="-120"/>
              </a:rPr>
              <a:t>D.  ______________________</a:t>
            </a:r>
            <a:endParaRPr lang="en-US" sz="1250" dirty="0"/>
          </a:p>
        </p:txBody>
      </p:sp>
      <p:sp>
        <p:nvSpPr>
          <p:cNvPr id="21" name="Text 19"/>
          <p:cNvSpPr/>
          <p:nvPr/>
        </p:nvSpPr>
        <p:spPr>
          <a:xfrm>
            <a:off x="6720840" y="4114800"/>
            <a:ext cx="4572000" cy="411480"/>
          </a:xfrm>
          <a:prstGeom prst="rect">
            <a:avLst/>
          </a:prstGeom>
          <a:noFill/>
          <a:ln/>
        </p:spPr>
        <p:txBody>
          <a:bodyPr wrap="square" lIns="0" tIns="0" rIns="0" bIns="0" rtlCol="0" anchor="ctr"/>
          <a:lstStyle/>
          <a:p>
            <a:pPr marL="0" indent="0">
              <a:buNone/>
            </a:pPr>
            <a:r>
              <a:rPr lang="en-US" sz="1050" i="1" dirty="0">
                <a:solidFill>
                  <a:srgbClr val="5F6B78"/>
                </a:solidFill>
                <a:latin typeface="Calibri" pitchFamily="34" charset="0"/>
                <a:ea typeface="Calibri" pitchFamily="34" charset="-122"/>
                <a:cs typeface="Calibri" pitchFamily="34" charset="-120"/>
              </a:rPr>
              <a:t>Not run live at 25 minutes. Post it with the exported board.</a:t>
            </a:r>
            <a:endParaRPr lang="en-US" sz="1050" dirty="0"/>
          </a:p>
        </p:txBody>
      </p:sp>
      <p:sp>
        <p:nvSpPr>
          <p:cNvPr id="22" name="Shape 20"/>
          <p:cNvSpPr/>
          <p:nvPr/>
        </p:nvSpPr>
        <p:spPr>
          <a:xfrm>
            <a:off x="566928" y="5029200"/>
            <a:ext cx="11055096" cy="1143000"/>
          </a:xfrm>
          <a:prstGeom prst="roundRect">
            <a:avLst>
              <a:gd name="adj" fmla="val 6400"/>
            </a:avLst>
          </a:prstGeom>
          <a:solidFill>
            <a:srgbClr val="16283C"/>
          </a:solidFill>
          <a:ln w="12700">
            <a:solidFill>
              <a:srgbClr val="16283C"/>
            </a:solidFill>
            <a:prstDash val="solid"/>
          </a:ln>
          <a:effectLst>
            <a:outerShdw blurRad="101600" dist="25400" dir="5400000" algn="bl" rotWithShape="0">
              <a:srgbClr val="9AA7B4">
                <a:alpha val="28000"/>
              </a:srgbClr>
            </a:outerShdw>
          </a:effectLst>
        </p:spPr>
        <p:txBody>
          <a:bodyPr/>
          <a:lstStyle/>
          <a:p>
            <a:endParaRPr lang="en-US"/>
          </a:p>
        </p:txBody>
      </p:sp>
      <p:sp>
        <p:nvSpPr>
          <p:cNvPr id="23" name="Text 21"/>
          <p:cNvSpPr/>
          <p:nvPr/>
        </p:nvSpPr>
        <p:spPr>
          <a:xfrm>
            <a:off x="868680" y="5166360"/>
            <a:ext cx="5943600" cy="320040"/>
          </a:xfrm>
          <a:prstGeom prst="rect">
            <a:avLst/>
          </a:prstGeom>
          <a:noFill/>
          <a:ln/>
        </p:spPr>
        <p:txBody>
          <a:bodyPr wrap="square" lIns="0" tIns="0" rIns="0" bIns="0" rtlCol="0" anchor="ctr"/>
          <a:lstStyle/>
          <a:p>
            <a:pPr marL="0" indent="0">
              <a:buNone/>
            </a:pPr>
            <a:r>
              <a:rPr lang="en-US" sz="1600" b="1" dirty="0">
                <a:solidFill>
                  <a:srgbClr val="E8A33D"/>
                </a:solidFill>
                <a:latin typeface="Cambria" pitchFamily="34" charset="0"/>
                <a:ea typeface="Cambria" pitchFamily="34" charset="-122"/>
                <a:cs typeface="Cambria" pitchFamily="34" charset="-120"/>
              </a:rPr>
              <a:t>Never introduce new content in the last three minutes.</a:t>
            </a:r>
            <a:endParaRPr lang="en-US" sz="1600" dirty="0"/>
          </a:p>
        </p:txBody>
      </p:sp>
      <p:sp>
        <p:nvSpPr>
          <p:cNvPr id="24" name="Text 22"/>
          <p:cNvSpPr/>
          <p:nvPr/>
        </p:nvSpPr>
        <p:spPr>
          <a:xfrm>
            <a:off x="868680" y="5532120"/>
            <a:ext cx="10424160" cy="502920"/>
          </a:xfrm>
          <a:prstGeom prst="rect">
            <a:avLst/>
          </a:prstGeom>
          <a:noFill/>
          <a:ln/>
        </p:spPr>
        <p:txBody>
          <a:bodyPr wrap="square" lIns="0" tIns="0" rIns="0" bIns="0" rtlCol="0" anchor="ctr"/>
          <a:lstStyle/>
          <a:p>
            <a:pPr marL="0" indent="0">
              <a:buNone/>
            </a:pPr>
            <a:r>
              <a:rPr lang="en-US" sz="1250" dirty="0">
                <a:solidFill>
                  <a:srgbClr val="D7E2EC"/>
                </a:solidFill>
                <a:latin typeface="Calibri" pitchFamily="34" charset="0"/>
                <a:ea typeface="Calibri" pitchFamily="34" charset="-122"/>
                <a:cs typeface="Calibri" pitchFamily="34" charset="-120"/>
              </a:rPr>
              <a:t>Repetition and application are what consolidate knowledge. A new pearl at minute 23 costs the group everything taught before it.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1200</Words>
  <Application>Microsoft Office PowerPoint</Application>
  <PresentationFormat>Widescreen</PresentationFormat>
  <Paragraphs>152</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Murphy, Mark E.</cp:lastModifiedBy>
  <cp:revision>2</cp:revision>
  <dcterms:created xsi:type="dcterms:W3CDTF">2026-08-21T14:21:54Z</dcterms:created>
  <dcterms:modified xsi:type="dcterms:W3CDTF">2026-09-04T21:22:44Z</dcterms:modified>
</cp:coreProperties>
</file>