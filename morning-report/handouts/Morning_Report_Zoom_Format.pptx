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we are not adding work. We are assigning the work that already happens implicitly to named people, and making the reasoning visible on a shared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this is not a critique of any individual presenter. The format has been asking people to listen passively for an hour, and they have been doing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visiting IM morning report before this lands — seeing a real one run makes the right-hand column concrete in a way a table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rotate. Post the assignment grid a week ahead so the PGY-1 and senior discussants can prepare from the one-liner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clock is the discipline. Facilitator calls the time out loud at 0:07, 0:16, and 0:22 — those three handoffs are where a 25-minute report goes to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menu is a scaffold for the first few weeks, not a checklist. By week four the senior should be picking a framework without looking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Specificity is what makes a differential prunable, and pruning is the artifact the whole board is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aloud, in character, back to back. The contrast does the teaching — a bulleted description of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Escalate in the pre-report email, never on camera. The one-liner already goes out 24 hours ahead — add one line naming the new ask. Ambushing someone into a senior-level question in front of the group costs you the safe-to-be-wrong contract you spent three months building. Tell them in April that they are rehearsing for July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close the Tuesday lecture. It reframes the format change from an inconvenience into the thing that produces the July senior.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It is the contract for the session and the thing faculty ties back to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3C"/>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4405E"/>
          </a:solidFill>
          <a:ln w="12700">
            <a:solidFill>
              <a:srgbClr val="24405E"/>
            </a:solidFill>
            <a:prstDash val="solid"/>
          </a:ln>
        </p:spPr>
      </p:sp>
      <p:sp>
        <p:nvSpPr>
          <p:cNvPr id="3" name="Shape 1"/>
          <p:cNvSpPr/>
          <p:nvPr/>
        </p:nvSpPr>
        <p:spPr>
          <a:xfrm>
            <a:off x="10835640" y="960120"/>
            <a:ext cx="1188720" cy="1188720"/>
          </a:xfrm>
          <a:prstGeom prst="ellipse">
            <a:avLst/>
          </a:prstGeom>
          <a:solidFill>
            <a:srgbClr val="E8A33D"/>
          </a:solidFill>
          <a:ln w="12700">
            <a:solidFill>
              <a:srgbClr val="E8A33D"/>
            </a:solidFill>
            <a:prstDash val="solid"/>
          </a:ln>
        </p:spPr>
      </p:sp>
      <p:sp>
        <p:nvSpPr>
          <p:cNvPr id="4" name="Text 2"/>
          <p:cNvSpPr/>
          <p:nvPr/>
        </p:nvSpPr>
        <p:spPr>
          <a:xfrm>
            <a:off x="822960" y="1691640"/>
            <a:ext cx="7315200" cy="274320"/>
          </a:xfrm>
          <a:prstGeom prst="rect">
            <a:avLst/>
          </a:prstGeom>
          <a:noFill/>
          <a:ln/>
        </p:spPr>
        <p:txBody>
          <a:bodyPr wrap="square" lIns="0" tIns="0" rIns="0" bIns="0" rtlCol="0" anchor="ctr"/>
          <a:lstStyle/>
          <a:p>
            <a:pPr indent="0" marL="0">
              <a:buNone/>
            </a:pPr>
            <a:r>
              <a:rPr lang="en-US" sz="1200" b="1" spc="250" kern="0" dirty="0">
                <a:solidFill>
                  <a:srgbClr val="E8A33D"/>
                </a:solidFill>
                <a:latin typeface="Calibri" pitchFamily="34" charset="0"/>
                <a:ea typeface="Calibri" pitchFamily="34" charset="-122"/>
                <a:cs typeface="Calibri" pitchFamily="34" charset="-120"/>
              </a:rPr>
              <a:t>PROPOSED FORMAT CHANGE</a:t>
            </a:r>
            <a:endParaRPr lang="en-US" sz="1200" dirty="0"/>
          </a:p>
        </p:txBody>
      </p:sp>
      <p:sp>
        <p:nvSpPr>
          <p:cNvPr id="5" name="Text 3"/>
          <p:cNvSpPr/>
          <p:nvPr/>
        </p:nvSpPr>
        <p:spPr>
          <a:xfrm>
            <a:off x="822960" y="2057400"/>
            <a:ext cx="841248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Rebuilding Morning Report</a:t>
            </a:r>
            <a:endParaRPr lang="en-US" sz="4600" dirty="0"/>
          </a:p>
        </p:txBody>
      </p:sp>
      <p:sp>
        <p:nvSpPr>
          <p:cNvPr id="6" name="Text 4"/>
          <p:cNvSpPr/>
          <p:nvPr/>
        </p:nvSpPr>
        <p:spPr>
          <a:xfrm>
            <a:off x="822960" y="2971800"/>
            <a:ext cx="8412480" cy="502920"/>
          </a:xfrm>
          <a:prstGeom prst="rect">
            <a:avLst/>
          </a:prstGeom>
          <a:noFill/>
          <a:ln/>
        </p:spPr>
        <p:txBody>
          <a:bodyPr wrap="square" lIns="0" tIns="0" rIns="0" bIns="0" rtlCol="0" anchor="ctr"/>
          <a:lstStyle/>
          <a:p>
            <a:pPr indent="0" marL="0">
              <a:buNone/>
            </a:pPr>
            <a:r>
              <a:rPr lang="en-US" sz="2300" i="1" dirty="0">
                <a:solidFill>
                  <a:srgbClr val="BFD0E0"/>
                </a:solidFill>
                <a:latin typeface="Cambria" pitchFamily="34" charset="0"/>
                <a:ea typeface="Cambria" pitchFamily="34" charset="-122"/>
                <a:cs typeface="Cambria" pitchFamily="34" charset="-120"/>
              </a:rPr>
              <a:t>A role-based, whiteboard-driven format for Zoom</a:t>
            </a:r>
            <a:endParaRPr lang="en-US" sz="2300" dirty="0"/>
          </a:p>
        </p:txBody>
      </p:sp>
      <p:sp>
        <p:nvSpPr>
          <p:cNvPr id="7" name="Shape 5"/>
          <p:cNvSpPr/>
          <p:nvPr/>
        </p:nvSpPr>
        <p:spPr>
          <a:xfrm>
            <a:off x="822960" y="3794760"/>
            <a:ext cx="1005840" cy="41148"/>
          </a:xfrm>
          <a:prstGeom prst="rect">
            <a:avLst/>
          </a:prstGeom>
          <a:solidFill>
            <a:srgbClr val="E8A33D"/>
          </a:solidFill>
          <a:ln w="12700">
            <a:solidFill>
              <a:srgbClr val="E8A33D"/>
            </a:solidFill>
            <a:prstDash val="solid"/>
          </a:ln>
        </p:spPr>
      </p:sp>
      <p:sp>
        <p:nvSpPr>
          <p:cNvPr id="8" name="Text 6"/>
          <p:cNvSpPr/>
          <p:nvPr/>
        </p:nvSpPr>
        <p:spPr>
          <a:xfrm>
            <a:off x="822960" y="4069080"/>
            <a:ext cx="7863840" cy="822960"/>
          </a:xfrm>
          <a:prstGeom prst="rect">
            <a:avLst/>
          </a:prstGeom>
          <a:noFill/>
          <a:ln/>
        </p:spPr>
        <p:txBody>
          <a:bodyPr wrap="square" lIns="0" tIns="0" rIns="0" bIns="0" rtlCol="0" anchor="ctr"/>
          <a:lstStyle/>
          <a:p>
            <a:pPr indent="0" marL="0">
              <a:lnSpc>
                <a:spcPts val="2200"/>
              </a:lnSpc>
              <a:buNone/>
            </a:pPr>
            <a:r>
              <a:rPr lang="en-US" sz="1500" dirty="0">
                <a:solidFill>
                  <a:srgbClr val="D7E2EC"/>
                </a:solidFill>
                <a:latin typeface="Calibri" pitchFamily="34" charset="0"/>
                <a:ea typeface="Calibri" pitchFamily="34" charset="-122"/>
                <a:cs typeface="Calibri" pitchFamily="34" charset="-120"/>
              </a:rPr>
              <a:t>One presenter. One scribe at the board. Two named discussants.</a:t>
            </a:r>
            <a:endParaRPr lang="en-US" sz="1500" dirty="0"/>
          </a:p>
          <a:p>
            <a:pPr indent="0" marL="0">
              <a:lnSpc>
                <a:spcPts val="2200"/>
              </a:lnSpc>
              <a:buNone/>
            </a:pPr>
            <a:r>
              <a:rPr lang="en-US" sz="1500" dirty="0">
                <a:solidFill>
                  <a:srgbClr val="D7E2EC"/>
                </a:solidFill>
                <a:latin typeface="Calibri" pitchFamily="34" charset="0"/>
                <a:ea typeface="Calibri" pitchFamily="34" charset="-122"/>
                <a:cs typeface="Calibri" pitchFamily="34" charset="-120"/>
              </a:rPr>
              <a:t>Faculty who add depth without taking over.</a:t>
            </a:r>
            <a:endParaRPr lang="en-US" sz="1500" dirty="0"/>
          </a:p>
        </p:txBody>
      </p:sp>
      <p:sp>
        <p:nvSpPr>
          <p:cNvPr id="9" name="Text 7"/>
          <p:cNvSpPr/>
          <p:nvPr/>
        </p:nvSpPr>
        <p:spPr>
          <a:xfrm>
            <a:off x="822960" y="5943600"/>
            <a:ext cx="9601200" cy="365760"/>
          </a:xfrm>
          <a:prstGeom prst="rect">
            <a:avLst/>
          </a:prstGeom>
          <a:noFill/>
          <a:ln/>
        </p:spPr>
        <p:txBody>
          <a:bodyPr wrap="square" lIns="0" tIns="0" rIns="0" bIns="0" rtlCol="0" anchor="ctr"/>
          <a:lstStyle/>
          <a:p>
            <a:pPr indent="0" marL="0">
              <a:buNone/>
            </a:pPr>
            <a:r>
              <a:rPr lang="en-US" sz="1000" dirty="0">
                <a:solidFill>
                  <a:srgbClr val="8EA3B8"/>
                </a:solidFill>
                <a:latin typeface="Calibri" pitchFamily="34" charset="0"/>
                <a:ea typeface="Calibri" pitchFamily="34" charset="-122"/>
                <a:cs typeface="Calibri" pitchFamily="34" charset="-120"/>
              </a:rPr>
              <a:t>Adapted from Elisseou S, Holt SR. Effective Strategies for Planning and Facilitating Morning Report. J Grad Med Educ. 2022;14(3):260-264.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WHAT WE ARE SEEING NOW</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Four problems, four structural fixes</a:t>
            </a:r>
            <a:endParaRPr lang="en-US" sz="3200" dirty="0"/>
          </a:p>
        </p:txBody>
      </p:sp>
      <p:sp>
        <p:nvSpPr>
          <p:cNvPr id="4" name="Text 2"/>
          <p:cNvSpPr/>
          <p:nvPr/>
        </p:nvSpPr>
        <p:spPr>
          <a:xfrm>
            <a:off x="566928" y="1353312"/>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None of these are effort problems. The cases are good and the learning potential is there — the structure is what is not asking anything of the room.</a:t>
            </a:r>
            <a:endParaRPr lang="en-US" sz="1300" dirty="0"/>
          </a:p>
        </p:txBody>
      </p:sp>
      <p:sp>
        <p:nvSpPr>
          <p:cNvPr id="5" name="Shape 3"/>
          <p:cNvSpPr/>
          <p:nvPr/>
        </p:nvSpPr>
        <p:spPr>
          <a:xfrm>
            <a:off x="566928" y="1755648"/>
            <a:ext cx="11055096" cy="969264"/>
          </a:xfrm>
          <a:prstGeom prst="roundRect">
            <a:avLst>
              <a:gd name="adj" fmla="val 7547"/>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6" name="Shape 4"/>
          <p:cNvSpPr/>
          <p:nvPr/>
        </p:nvSpPr>
        <p:spPr>
          <a:xfrm>
            <a:off x="822960" y="2029968"/>
            <a:ext cx="420624" cy="420624"/>
          </a:xfrm>
          <a:prstGeom prst="ellipse">
            <a:avLst/>
          </a:prstGeom>
          <a:solidFill>
            <a:srgbClr val="16283C"/>
          </a:solidFill>
          <a:ln w="12700">
            <a:solidFill>
              <a:srgbClr val="16283C"/>
            </a:solidFill>
            <a:prstDash val="solid"/>
          </a:ln>
        </p:spPr>
      </p:sp>
      <p:sp>
        <p:nvSpPr>
          <p:cNvPr id="7" name="Text 5"/>
          <p:cNvSpPr/>
          <p:nvPr/>
        </p:nvSpPr>
        <p:spPr>
          <a:xfrm>
            <a:off x="822960" y="20299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444752" y="1892808"/>
            <a:ext cx="3337560" cy="713232"/>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Presentations range from good to terrible</a:t>
            </a:r>
            <a:endParaRPr lang="en-US" sz="1450" dirty="0"/>
          </a:p>
        </p:txBody>
      </p:sp>
      <p:sp>
        <p:nvSpPr>
          <p:cNvPr id="9" name="Text 7"/>
          <p:cNvSpPr/>
          <p:nvPr/>
        </p:nvSpPr>
        <p:spPr>
          <a:xfrm>
            <a:off x="4892040" y="1892808"/>
            <a:ext cx="274320" cy="713232"/>
          </a:xfrm>
          <a:prstGeom prst="rect">
            <a:avLst/>
          </a:prstGeom>
          <a:noFill/>
          <a:ln/>
        </p:spPr>
        <p:txBody>
          <a:bodyPr wrap="square" lIns="0" tIns="0" rIns="0" bIns="0" rtlCol="0" anchor="ctr"/>
          <a:lstStyle/>
          <a:p>
            <a:pPr indent="0" marL="0">
              <a:buNone/>
            </a:pPr>
            <a:r>
              <a:rPr lang="en-US" sz="1500" dirty="0">
                <a:solidFill>
                  <a:srgbClr val="E8A33D"/>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5257800" y="1892808"/>
            <a:ext cx="6080760" cy="713232"/>
          </a:xfrm>
          <a:prstGeom prst="rect">
            <a:avLst/>
          </a:prstGeom>
          <a:noFill/>
          <a:ln/>
        </p:spPr>
        <p:txBody>
          <a:bodyPr wrap="square" lIns="0" tIns="0" rIns="0" bIns="0" rtlCol="0" anchor="ctr"/>
          <a:lstStyle/>
          <a:p>
            <a:pPr indent="0" marL="0">
              <a:lnSpc>
                <a:spcPts val="1500"/>
              </a:lnSpc>
              <a:buNone/>
            </a:pPr>
            <a:r>
              <a:rPr lang="en-US" sz="1150" dirty="0">
                <a:solidFill>
                  <a:srgbClr val="3D4855"/>
                </a:solidFill>
                <a:latin typeface="Calibri" pitchFamily="34" charset="0"/>
                <a:ea typeface="Calibri" pitchFamily="34" charset="-122"/>
                <a:cs typeface="Calibri" pitchFamily="34" charset="-120"/>
              </a:rPr>
              <a:t>A mandatory slide template and a hard 8-slide cap. The floor becomes a rule instead of a hope, and every presenter knows the standard before they build.</a:t>
            </a:r>
            <a:endParaRPr lang="en-US" sz="1150" dirty="0"/>
          </a:p>
        </p:txBody>
      </p:sp>
      <p:sp>
        <p:nvSpPr>
          <p:cNvPr id="11" name="Shape 9"/>
          <p:cNvSpPr/>
          <p:nvPr/>
        </p:nvSpPr>
        <p:spPr>
          <a:xfrm>
            <a:off x="566928" y="2798064"/>
            <a:ext cx="11055096" cy="969264"/>
          </a:xfrm>
          <a:prstGeom prst="roundRect">
            <a:avLst>
              <a:gd name="adj" fmla="val 7547"/>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2" name="Shape 10"/>
          <p:cNvSpPr/>
          <p:nvPr/>
        </p:nvSpPr>
        <p:spPr>
          <a:xfrm>
            <a:off x="822960" y="3072384"/>
            <a:ext cx="420624" cy="420624"/>
          </a:xfrm>
          <a:prstGeom prst="ellipse">
            <a:avLst/>
          </a:prstGeom>
          <a:solidFill>
            <a:srgbClr val="16283C"/>
          </a:solidFill>
          <a:ln w="12700">
            <a:solidFill>
              <a:srgbClr val="16283C"/>
            </a:solidFill>
            <a:prstDash val="solid"/>
          </a:ln>
        </p:spPr>
      </p:sp>
      <p:sp>
        <p:nvSpPr>
          <p:cNvPr id="13" name="Text 11"/>
          <p:cNvSpPr/>
          <p:nvPr/>
        </p:nvSpPr>
        <p:spPr>
          <a:xfrm>
            <a:off x="822960" y="3072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444752" y="2935224"/>
            <a:ext cx="3337560" cy="713232"/>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Engagement is at zero</a:t>
            </a:r>
            <a:endParaRPr lang="en-US" sz="1450" dirty="0"/>
          </a:p>
        </p:txBody>
      </p:sp>
      <p:sp>
        <p:nvSpPr>
          <p:cNvPr id="15" name="Text 13"/>
          <p:cNvSpPr/>
          <p:nvPr/>
        </p:nvSpPr>
        <p:spPr>
          <a:xfrm>
            <a:off x="4892040" y="2935224"/>
            <a:ext cx="274320" cy="713232"/>
          </a:xfrm>
          <a:prstGeom prst="rect">
            <a:avLst/>
          </a:prstGeom>
          <a:noFill/>
          <a:ln/>
        </p:spPr>
        <p:txBody>
          <a:bodyPr wrap="square" lIns="0" tIns="0" rIns="0" bIns="0" rtlCol="0" anchor="ctr"/>
          <a:lstStyle/>
          <a:p>
            <a:pPr indent="0" marL="0">
              <a:buNone/>
            </a:pPr>
            <a:r>
              <a:rPr lang="en-US" sz="1500" dirty="0">
                <a:solidFill>
                  <a:srgbClr val="E8A33D"/>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5257800" y="2935224"/>
            <a:ext cx="6080760" cy="713232"/>
          </a:xfrm>
          <a:prstGeom prst="rect">
            <a:avLst/>
          </a:prstGeom>
          <a:noFill/>
          <a:ln/>
        </p:spPr>
        <p:txBody>
          <a:bodyPr wrap="square" lIns="0" tIns="0" rIns="0" bIns="0" rtlCol="0" anchor="ctr"/>
          <a:lstStyle/>
          <a:p>
            <a:pPr indent="0" marL="0">
              <a:lnSpc>
                <a:spcPts val="1500"/>
              </a:lnSpc>
              <a:buNone/>
            </a:pPr>
            <a:r>
              <a:rPr lang="en-US" sz="1150" dirty="0">
                <a:solidFill>
                  <a:srgbClr val="3D4855"/>
                </a:solidFill>
                <a:latin typeface="Calibri" pitchFamily="34" charset="0"/>
                <a:ea typeface="Calibri" pitchFamily="34" charset="-122"/>
                <a:cs typeface="Calibri" pitchFamily="34" charset="-120"/>
              </a:rPr>
              <a:t>Two named discussants, drawn at random the week before. Two people must speak, and everyone else knows they could be next.</a:t>
            </a:r>
            <a:endParaRPr lang="en-US" sz="1150" dirty="0"/>
          </a:p>
        </p:txBody>
      </p:sp>
      <p:sp>
        <p:nvSpPr>
          <p:cNvPr id="17" name="Shape 15"/>
          <p:cNvSpPr/>
          <p:nvPr/>
        </p:nvSpPr>
        <p:spPr>
          <a:xfrm>
            <a:off x="566928" y="3840480"/>
            <a:ext cx="11055096" cy="969264"/>
          </a:xfrm>
          <a:prstGeom prst="roundRect">
            <a:avLst>
              <a:gd name="adj" fmla="val 7547"/>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8" name="Shape 16"/>
          <p:cNvSpPr/>
          <p:nvPr/>
        </p:nvSpPr>
        <p:spPr>
          <a:xfrm>
            <a:off x="822960" y="4114800"/>
            <a:ext cx="420624" cy="420624"/>
          </a:xfrm>
          <a:prstGeom prst="ellipse">
            <a:avLst/>
          </a:prstGeom>
          <a:solidFill>
            <a:srgbClr val="16283C"/>
          </a:solidFill>
          <a:ln w="12700">
            <a:solidFill>
              <a:srgbClr val="16283C"/>
            </a:solidFill>
            <a:prstDash val="solid"/>
          </a:ln>
        </p:spPr>
      </p:sp>
      <p:sp>
        <p:nvSpPr>
          <p:cNvPr id="19" name="Text 17"/>
          <p:cNvSpPr/>
          <p:nvPr/>
        </p:nvSpPr>
        <p:spPr>
          <a:xfrm>
            <a:off x="822960" y="4114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444752" y="3977640"/>
            <a:ext cx="3337560" cy="713232"/>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Not clear anyone is listening</a:t>
            </a:r>
            <a:endParaRPr lang="en-US" sz="1450" dirty="0"/>
          </a:p>
        </p:txBody>
      </p:sp>
      <p:sp>
        <p:nvSpPr>
          <p:cNvPr id="21" name="Text 19"/>
          <p:cNvSpPr/>
          <p:nvPr/>
        </p:nvSpPr>
        <p:spPr>
          <a:xfrm>
            <a:off x="4892040" y="3977640"/>
            <a:ext cx="274320" cy="713232"/>
          </a:xfrm>
          <a:prstGeom prst="rect">
            <a:avLst/>
          </a:prstGeom>
          <a:noFill/>
          <a:ln/>
        </p:spPr>
        <p:txBody>
          <a:bodyPr wrap="square" lIns="0" tIns="0" rIns="0" bIns="0" rtlCol="0" anchor="ctr"/>
          <a:lstStyle/>
          <a:p>
            <a:pPr indent="0" marL="0">
              <a:buNone/>
            </a:pPr>
            <a:r>
              <a:rPr lang="en-US" sz="1500" dirty="0">
                <a:solidFill>
                  <a:srgbClr val="E8A33D"/>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5257800" y="3977640"/>
            <a:ext cx="6080760" cy="713232"/>
          </a:xfrm>
          <a:prstGeom prst="rect">
            <a:avLst/>
          </a:prstGeom>
          <a:noFill/>
          <a:ln/>
        </p:spPr>
        <p:txBody>
          <a:bodyPr wrap="square" lIns="0" tIns="0" rIns="0" bIns="0" rtlCol="0" anchor="ctr"/>
          <a:lstStyle/>
          <a:p>
            <a:pPr indent="0" marL="0">
              <a:lnSpc>
                <a:spcPts val="1500"/>
              </a:lnSpc>
              <a:buNone/>
            </a:pPr>
            <a:r>
              <a:rPr lang="en-US" sz="1150" dirty="0">
                <a:solidFill>
                  <a:srgbClr val="3D4855"/>
                </a:solidFill>
                <a:latin typeface="Calibri" pitchFamily="34" charset="0"/>
                <a:ea typeface="Calibri" pitchFamily="34" charset="-122"/>
                <a:cs typeface="Calibri" pitchFamily="34" charset="-120"/>
              </a:rPr>
              <a:t>Cameras on. A live board that shows whether the list is moving. And an intern who has to commit to an answer before the data that settles it arrives.</a:t>
            </a:r>
            <a:endParaRPr lang="en-US" sz="1150" dirty="0"/>
          </a:p>
        </p:txBody>
      </p:sp>
      <p:sp>
        <p:nvSpPr>
          <p:cNvPr id="23" name="Shape 21"/>
          <p:cNvSpPr/>
          <p:nvPr/>
        </p:nvSpPr>
        <p:spPr>
          <a:xfrm>
            <a:off x="566928" y="4882896"/>
            <a:ext cx="11055096" cy="969264"/>
          </a:xfrm>
          <a:prstGeom prst="roundRect">
            <a:avLst>
              <a:gd name="adj" fmla="val 7547"/>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4" name="Shape 22"/>
          <p:cNvSpPr/>
          <p:nvPr/>
        </p:nvSpPr>
        <p:spPr>
          <a:xfrm>
            <a:off x="822960" y="5157216"/>
            <a:ext cx="420624" cy="420624"/>
          </a:xfrm>
          <a:prstGeom prst="ellipse">
            <a:avLst/>
          </a:prstGeom>
          <a:solidFill>
            <a:srgbClr val="16283C"/>
          </a:solidFill>
          <a:ln w="12700">
            <a:solidFill>
              <a:srgbClr val="16283C"/>
            </a:solidFill>
            <a:prstDash val="solid"/>
          </a:ln>
        </p:spPr>
      </p:sp>
      <p:sp>
        <p:nvSpPr>
          <p:cNvPr id="25" name="Text 23"/>
          <p:cNvSpPr/>
          <p:nvPr/>
        </p:nvSpPr>
        <p:spPr>
          <a:xfrm>
            <a:off x="822960" y="51572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1444752" y="5020056"/>
            <a:ext cx="3337560" cy="713232"/>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Teaching runs long, retention is near zero</a:t>
            </a:r>
            <a:endParaRPr lang="en-US" sz="1450" dirty="0"/>
          </a:p>
        </p:txBody>
      </p:sp>
      <p:sp>
        <p:nvSpPr>
          <p:cNvPr id="27" name="Text 25"/>
          <p:cNvSpPr/>
          <p:nvPr/>
        </p:nvSpPr>
        <p:spPr>
          <a:xfrm>
            <a:off x="4892040" y="5020056"/>
            <a:ext cx="274320" cy="713232"/>
          </a:xfrm>
          <a:prstGeom prst="rect">
            <a:avLst/>
          </a:prstGeom>
          <a:noFill/>
          <a:ln/>
        </p:spPr>
        <p:txBody>
          <a:bodyPr wrap="square" lIns="0" tIns="0" rIns="0" bIns="0" rtlCol="0" anchor="ctr"/>
          <a:lstStyle/>
          <a:p>
            <a:pPr indent="0" marL="0">
              <a:buNone/>
            </a:pPr>
            <a:r>
              <a:rPr lang="en-US" sz="1500" dirty="0">
                <a:solidFill>
                  <a:srgbClr val="E8A33D"/>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5257800" y="5020056"/>
            <a:ext cx="6080760" cy="713232"/>
          </a:xfrm>
          <a:prstGeom prst="rect">
            <a:avLst/>
          </a:prstGeom>
          <a:noFill/>
          <a:ln/>
        </p:spPr>
        <p:txBody>
          <a:bodyPr wrap="square" lIns="0" tIns="0" rIns="0" bIns="0" rtlCol="0" anchor="ctr"/>
          <a:lstStyle/>
          <a:p>
            <a:pPr indent="0" marL="0">
              <a:lnSpc>
                <a:spcPts val="1500"/>
              </a:lnSpc>
              <a:buNone/>
            </a:pPr>
            <a:r>
              <a:rPr lang="en-US" sz="1150" dirty="0">
                <a:solidFill>
                  <a:srgbClr val="3D4855"/>
                </a:solidFill>
                <a:latin typeface="Calibri" pitchFamily="34" charset="0"/>
                <a:ea typeface="Calibri" pitchFamily="34" charset="-122"/>
                <a:cs typeface="Calibri" pitchFamily="34" charset="-120"/>
              </a:rPr>
              <a:t>Two to three big-picture points, tied to one stated objective. No new content in the last three minutes. Which IV fluid we chose does not make the board.</a:t>
            </a:r>
            <a:endParaRPr lang="en-US" sz="1150" dirty="0"/>
          </a:p>
        </p:txBody>
      </p:sp>
      <p:sp>
        <p:nvSpPr>
          <p:cNvPr id="29" name="Shape 27"/>
          <p:cNvSpPr/>
          <p:nvPr/>
        </p:nvSpPr>
        <p:spPr>
          <a:xfrm>
            <a:off x="566928" y="5961888"/>
            <a:ext cx="11055096" cy="658368"/>
          </a:xfrm>
          <a:prstGeom prst="roundRect">
            <a:avLst>
              <a:gd name="adj" fmla="val 11111"/>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30" name="Text 28"/>
          <p:cNvSpPr/>
          <p:nvPr/>
        </p:nvSpPr>
        <p:spPr>
          <a:xfrm>
            <a:off x="868680" y="5961888"/>
            <a:ext cx="10424160" cy="658368"/>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The fix is structural, not motivational — nobody here needs to care more than they already do.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DIAGNOSIS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Morning report is not a case conference</a:t>
            </a:r>
            <a:endParaRPr lang="en-US" sz="3200" dirty="0"/>
          </a:p>
        </p:txBody>
      </p:sp>
      <p:sp>
        <p:nvSpPr>
          <p:cNvPr id="4" name="Text 2"/>
          <p:cNvSpPr/>
          <p:nvPr/>
        </p:nvSpPr>
        <p:spPr>
          <a:xfrm>
            <a:off x="566928" y="1353312"/>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Almost everything we run today is a case conference. It is a legitimate format — it is just a different one, and it cannot produce engagement because it never asks for any.</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5096" cy="914400"/>
        </p:xfrm>
        <a:graphic>
          <a:graphicData uri="http://schemas.openxmlformats.org/drawingml/2006/table">
            <a:tbl>
              <a:tblPr/>
              <a:tblGrid>
                <a:gridCol w="2788920"/>
                <a:gridCol w="4133088"/>
                <a:gridCol w="4133088"/>
              </a:tblGrid>
              <a:tr h="402336">
                <a:tc>
                  <a:txBody>
                    <a:bodyPr/>
                    <a:lstStyle/>
                    <a:p>
                      <a:pPr indent="0" marL="0">
                        <a:buNone/>
                      </a:pPr>
                      <a:endParaRPr lang="en-US" sz="12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CASE CONFERENCE</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5F6B7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MORNING REPORT</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Who owns the hour</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The presenter</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The group</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The case is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Reported, front to back</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Unfolded in blocks</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The diagnosis is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Known to the room early</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Withheld until the end</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The audience's job</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Listen and absorb</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Commit to an answer, out loud</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Success looks like</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A complete, accurate presentation</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A differential that visibly changed</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Teaching comes from</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The expert, at the end</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The group, sharpened by the expert</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Depth</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Comprehensive — every thread pulled</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One objective; everything else cut</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Fails by being</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Accurate and inert</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Chaotic, if nobody facilitates</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402336">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Right tool for</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i="1" dirty="0">
                          <a:solidFill>
                            <a:srgbClr val="5F6B78"/>
                          </a:solidFill>
                          <a:latin typeface="Calibri" pitchFamily="34" charset="0"/>
                          <a:ea typeface="Calibri" pitchFamily="34" charset="-122"/>
                          <a:cs typeface="Calibri" pitchFamily="34" charset="-120"/>
                        </a:rPr>
                        <a:t>M&amp;M, QI review, rare diagnoses</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Daily clinical reasoning practice</a:t>
                      </a:r>
                      <a:endParaRPr lang="en-US" sz="11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806440"/>
            <a:ext cx="11055096" cy="822960"/>
          </a:xfrm>
          <a:prstGeom prst="roundRect">
            <a:avLst>
              <a:gd name="adj" fmla="val 8889"/>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7" name="Text 4"/>
          <p:cNvSpPr/>
          <p:nvPr/>
        </p:nvSpPr>
        <p:spPr>
          <a:xfrm>
            <a:off x="868680" y="5806440"/>
            <a:ext cx="4480560" cy="82296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The problem is running one and calling it the other.</a:t>
            </a:r>
            <a:endParaRPr lang="en-US" sz="1500" dirty="0"/>
          </a:p>
        </p:txBody>
      </p:sp>
      <p:sp>
        <p:nvSpPr>
          <p:cNvPr id="8" name="Text 5"/>
          <p:cNvSpPr/>
          <p:nvPr/>
        </p:nvSpPr>
        <p:spPr>
          <a:xfrm>
            <a:off x="5440680" y="5806440"/>
            <a:ext cx="5897880" cy="822960"/>
          </a:xfrm>
          <a:prstGeom prst="rect">
            <a:avLst/>
          </a:prstGeom>
          <a:noFill/>
          <a:ln/>
        </p:spPr>
        <p:txBody>
          <a:bodyPr wrap="square" lIns="0" tIns="0" rIns="0" bIns="0" rtlCol="0" anchor="ctr"/>
          <a:lstStyle/>
          <a:p>
            <a:pPr indent="0" marL="0">
              <a:buNone/>
            </a:pPr>
            <a:r>
              <a:rPr lang="en-US" sz="1250" dirty="0">
                <a:solidFill>
                  <a:srgbClr val="D7E2EC"/>
                </a:solidFill>
                <a:latin typeface="Calibri" pitchFamily="34" charset="0"/>
                <a:ea typeface="Calibri" pitchFamily="34" charset="-122"/>
                <a:cs typeface="Calibri" pitchFamily="34" charset="-120"/>
              </a:rPr>
              <a:t>The room arrives expecting to listen, and nothing in the hour ever asks them to stop.</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CAST</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Five named roles, assigned the week before</a:t>
            </a:r>
            <a:endParaRPr lang="en-US" sz="3200" dirty="0"/>
          </a:p>
        </p:txBody>
      </p:sp>
      <p:sp>
        <p:nvSpPr>
          <p:cNvPr id="4" name="Shape 2"/>
          <p:cNvSpPr/>
          <p:nvPr/>
        </p:nvSpPr>
        <p:spPr>
          <a:xfrm>
            <a:off x="566928" y="1572768"/>
            <a:ext cx="7589520"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5" name="Shape 3"/>
          <p:cNvSpPr/>
          <p:nvPr/>
        </p:nvSpPr>
        <p:spPr>
          <a:xfrm>
            <a:off x="777240" y="1719072"/>
            <a:ext cx="548640" cy="548640"/>
          </a:xfrm>
          <a:prstGeom prst="ellipse">
            <a:avLst/>
          </a:prstGeom>
          <a:solidFill>
            <a:srgbClr val="E8A33D"/>
          </a:solidFill>
          <a:ln w="12700">
            <a:solidFill>
              <a:srgbClr val="E8A33D"/>
            </a:solidFill>
            <a:prstDash val="solid"/>
          </a:ln>
        </p:spPr>
      </p:sp>
      <p:sp>
        <p:nvSpPr>
          <p:cNvPr id="6" name="Text 4"/>
          <p:cNvSpPr/>
          <p:nvPr/>
        </p:nvSpPr>
        <p:spPr>
          <a:xfrm>
            <a:off x="777240" y="171907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7" name="Text 5"/>
          <p:cNvSpPr/>
          <p:nvPr/>
        </p:nvSpPr>
        <p:spPr>
          <a:xfrm>
            <a:off x="1481328" y="1682496"/>
            <a:ext cx="2468880" cy="32004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Case Presenter</a:t>
            </a:r>
            <a:endParaRPr lang="en-US" sz="1500" dirty="0"/>
          </a:p>
        </p:txBody>
      </p:sp>
      <p:sp>
        <p:nvSpPr>
          <p:cNvPr id="8" name="Text 6"/>
          <p:cNvSpPr/>
          <p:nvPr/>
        </p:nvSpPr>
        <p:spPr>
          <a:xfrm>
            <a:off x="1481328" y="1984248"/>
            <a:ext cx="6492240" cy="347472"/>
          </a:xfrm>
          <a:prstGeom prst="rect">
            <a:avLst/>
          </a:prstGeom>
          <a:noFill/>
          <a:ln/>
        </p:spPr>
        <p:txBody>
          <a:bodyPr wrap="square" lIns="0" tIns="0" rIns="0" bIns="0" rtlCol="0" anchor="ctr"/>
          <a:lstStyle/>
          <a:p>
            <a:pPr indent="0" marL="0">
              <a:buNone/>
            </a:pPr>
            <a:r>
              <a:rPr lang="en-US" sz="1150" dirty="0">
                <a:solidFill>
                  <a:srgbClr val="3D4855"/>
                </a:solidFill>
                <a:latin typeface="Calibri" pitchFamily="34" charset="0"/>
                <a:ea typeface="Calibri" pitchFamily="34" charset="-122"/>
                <a:cs typeface="Calibri" pitchFamily="34" charset="-120"/>
              </a:rPr>
              <a:t>Owns the data. Releases it in planned blocks. Never editorializes.</a:t>
            </a:r>
            <a:endParaRPr lang="en-US" sz="1150" dirty="0"/>
          </a:p>
        </p:txBody>
      </p:sp>
      <p:sp>
        <p:nvSpPr>
          <p:cNvPr id="9" name="Shape 7"/>
          <p:cNvSpPr/>
          <p:nvPr/>
        </p:nvSpPr>
        <p:spPr>
          <a:xfrm>
            <a:off x="566928" y="2514600"/>
            <a:ext cx="7589520"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0" name="Shape 8"/>
          <p:cNvSpPr/>
          <p:nvPr/>
        </p:nvSpPr>
        <p:spPr>
          <a:xfrm>
            <a:off x="777240" y="2660904"/>
            <a:ext cx="548640" cy="548640"/>
          </a:xfrm>
          <a:prstGeom prst="ellipse">
            <a:avLst/>
          </a:prstGeom>
          <a:solidFill>
            <a:srgbClr val="2E7D8F"/>
          </a:solidFill>
          <a:ln w="12700">
            <a:solidFill>
              <a:srgbClr val="2E7D8F"/>
            </a:solidFill>
            <a:prstDash val="solid"/>
          </a:ln>
        </p:spPr>
      </p:sp>
      <p:sp>
        <p:nvSpPr>
          <p:cNvPr id="11" name="Text 9"/>
          <p:cNvSpPr/>
          <p:nvPr/>
        </p:nvSpPr>
        <p:spPr>
          <a:xfrm>
            <a:off x="777240" y="2660904"/>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t>
            </a:r>
            <a:endParaRPr lang="en-US" sz="1400" dirty="0"/>
          </a:p>
        </p:txBody>
      </p:sp>
      <p:sp>
        <p:nvSpPr>
          <p:cNvPr id="12" name="Text 10"/>
          <p:cNvSpPr/>
          <p:nvPr/>
        </p:nvSpPr>
        <p:spPr>
          <a:xfrm>
            <a:off x="1481328" y="2624328"/>
            <a:ext cx="2468880" cy="32004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Whiteboard Scribe</a:t>
            </a:r>
            <a:endParaRPr lang="en-US" sz="1500" dirty="0"/>
          </a:p>
        </p:txBody>
      </p:sp>
      <p:sp>
        <p:nvSpPr>
          <p:cNvPr id="13" name="Text 11"/>
          <p:cNvSpPr/>
          <p:nvPr/>
        </p:nvSpPr>
        <p:spPr>
          <a:xfrm>
            <a:off x="1481328" y="2926080"/>
            <a:ext cx="6492240" cy="347472"/>
          </a:xfrm>
          <a:prstGeom prst="rect">
            <a:avLst/>
          </a:prstGeom>
          <a:noFill/>
          <a:ln/>
        </p:spPr>
        <p:txBody>
          <a:bodyPr wrap="square" lIns="0" tIns="0" rIns="0" bIns="0" rtlCol="0" anchor="ctr"/>
          <a:lstStyle/>
          <a:p>
            <a:pPr indent="0" marL="0">
              <a:buNone/>
            </a:pPr>
            <a:r>
              <a:rPr lang="en-US" sz="1150" dirty="0">
                <a:solidFill>
                  <a:srgbClr val="3D4855"/>
                </a:solidFill>
                <a:latin typeface="Calibri" pitchFamily="34" charset="0"/>
                <a:ea typeface="Calibri" pitchFamily="34" charset="-122"/>
                <a:cs typeface="Calibri" pitchFamily="34" charset="-120"/>
              </a:rPr>
              <a:t>Owns the board. Writes the group's words, not their own.</a:t>
            </a:r>
            <a:endParaRPr lang="en-US" sz="1150" dirty="0"/>
          </a:p>
        </p:txBody>
      </p:sp>
      <p:sp>
        <p:nvSpPr>
          <p:cNvPr id="14" name="Shape 12"/>
          <p:cNvSpPr/>
          <p:nvPr/>
        </p:nvSpPr>
        <p:spPr>
          <a:xfrm>
            <a:off x="566928" y="3456432"/>
            <a:ext cx="7589520"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5" name="Shape 13"/>
          <p:cNvSpPr/>
          <p:nvPr/>
        </p:nvSpPr>
        <p:spPr>
          <a:xfrm>
            <a:off x="777240" y="3602736"/>
            <a:ext cx="548640" cy="548640"/>
          </a:xfrm>
          <a:prstGeom prst="ellipse">
            <a:avLst/>
          </a:prstGeom>
          <a:solidFill>
            <a:srgbClr val="24405E"/>
          </a:solidFill>
          <a:ln w="12700">
            <a:solidFill>
              <a:srgbClr val="24405E"/>
            </a:solidFill>
            <a:prstDash val="solid"/>
          </a:ln>
        </p:spPr>
      </p:sp>
      <p:sp>
        <p:nvSpPr>
          <p:cNvPr id="16" name="Text 14"/>
          <p:cNvSpPr/>
          <p:nvPr/>
        </p:nvSpPr>
        <p:spPr>
          <a:xfrm>
            <a:off x="777240" y="3602736"/>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5"/>
          <p:cNvSpPr/>
          <p:nvPr/>
        </p:nvSpPr>
        <p:spPr>
          <a:xfrm>
            <a:off x="1481328" y="3566160"/>
            <a:ext cx="2468880" cy="32004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PGY-1 Discussant</a:t>
            </a:r>
            <a:endParaRPr lang="en-US" sz="1500" dirty="0"/>
          </a:p>
        </p:txBody>
      </p:sp>
      <p:sp>
        <p:nvSpPr>
          <p:cNvPr id="18" name="Text 16"/>
          <p:cNvSpPr/>
          <p:nvPr/>
        </p:nvSpPr>
        <p:spPr>
          <a:xfrm>
            <a:off x="1481328" y="3867912"/>
            <a:ext cx="6492240" cy="347472"/>
          </a:xfrm>
          <a:prstGeom prst="rect">
            <a:avLst/>
          </a:prstGeom>
          <a:noFill/>
          <a:ln/>
        </p:spPr>
        <p:txBody>
          <a:bodyPr wrap="square" lIns="0" tIns="0" rIns="0" bIns="0" rtlCol="0" anchor="ctr"/>
          <a:lstStyle/>
          <a:p>
            <a:pPr indent="0" marL="0">
              <a:buNone/>
            </a:pPr>
            <a:r>
              <a:rPr lang="en-US" sz="1150" dirty="0">
                <a:solidFill>
                  <a:srgbClr val="3D4855"/>
                </a:solidFill>
                <a:latin typeface="Calibri" pitchFamily="34" charset="0"/>
                <a:ea typeface="Calibri" pitchFamily="34" charset="-122"/>
                <a:cs typeface="Calibri" pitchFamily="34" charset="-120"/>
              </a:rPr>
              <a:t>First pass, four minutes, uninterrupted. Safe to be wrong.</a:t>
            </a:r>
            <a:endParaRPr lang="en-US" sz="1150" dirty="0"/>
          </a:p>
        </p:txBody>
      </p:sp>
      <p:sp>
        <p:nvSpPr>
          <p:cNvPr id="19" name="Shape 17"/>
          <p:cNvSpPr/>
          <p:nvPr/>
        </p:nvSpPr>
        <p:spPr>
          <a:xfrm>
            <a:off x="566928" y="4398264"/>
            <a:ext cx="7589520"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0" name="Shape 18"/>
          <p:cNvSpPr/>
          <p:nvPr/>
        </p:nvSpPr>
        <p:spPr>
          <a:xfrm>
            <a:off x="777240" y="4544568"/>
            <a:ext cx="548640" cy="548640"/>
          </a:xfrm>
          <a:prstGeom prst="ellipse">
            <a:avLst/>
          </a:prstGeom>
          <a:solidFill>
            <a:srgbClr val="24405E"/>
          </a:solidFill>
          <a:ln w="12700">
            <a:solidFill>
              <a:srgbClr val="24405E"/>
            </a:solidFill>
            <a:prstDash val="solid"/>
          </a:ln>
        </p:spPr>
      </p:sp>
      <p:sp>
        <p:nvSpPr>
          <p:cNvPr id="21" name="Text 19"/>
          <p:cNvSpPr/>
          <p:nvPr/>
        </p:nvSpPr>
        <p:spPr>
          <a:xfrm>
            <a:off x="777240" y="454456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22" name="Text 20"/>
          <p:cNvSpPr/>
          <p:nvPr/>
        </p:nvSpPr>
        <p:spPr>
          <a:xfrm>
            <a:off x="1481328" y="4507992"/>
            <a:ext cx="2468880" cy="32004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Senior Discussant</a:t>
            </a:r>
            <a:endParaRPr lang="en-US" sz="1500" dirty="0"/>
          </a:p>
        </p:txBody>
      </p:sp>
      <p:sp>
        <p:nvSpPr>
          <p:cNvPr id="23" name="Text 21"/>
          <p:cNvSpPr/>
          <p:nvPr/>
        </p:nvSpPr>
        <p:spPr>
          <a:xfrm>
            <a:off x="1481328" y="4809744"/>
            <a:ext cx="6492240" cy="347472"/>
          </a:xfrm>
          <a:prstGeom prst="rect">
            <a:avLst/>
          </a:prstGeom>
          <a:noFill/>
          <a:ln/>
        </p:spPr>
        <p:txBody>
          <a:bodyPr wrap="square" lIns="0" tIns="0" rIns="0" bIns="0" rtlCol="0" anchor="ctr"/>
          <a:lstStyle/>
          <a:p>
            <a:pPr indent="0" marL="0">
              <a:buNone/>
            </a:pPr>
            <a:r>
              <a:rPr lang="en-US" sz="1150" dirty="0">
                <a:solidFill>
                  <a:srgbClr val="3D4855"/>
                </a:solidFill>
                <a:latin typeface="Calibri" pitchFamily="34" charset="0"/>
                <a:ea typeface="Calibri" pitchFamily="34" charset="-122"/>
                <a:cs typeface="Calibri" pitchFamily="34" charset="-120"/>
              </a:rPr>
              <a:t>Second pass, five minutes. Framework, pruning, discriminating test.</a:t>
            </a:r>
            <a:endParaRPr lang="en-US" sz="1150" dirty="0"/>
          </a:p>
        </p:txBody>
      </p:sp>
      <p:sp>
        <p:nvSpPr>
          <p:cNvPr id="24" name="Shape 22"/>
          <p:cNvSpPr/>
          <p:nvPr/>
        </p:nvSpPr>
        <p:spPr>
          <a:xfrm>
            <a:off x="566928" y="5340096"/>
            <a:ext cx="7589520"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5" name="Shape 23"/>
          <p:cNvSpPr/>
          <p:nvPr/>
        </p:nvSpPr>
        <p:spPr>
          <a:xfrm>
            <a:off x="777240" y="5486400"/>
            <a:ext cx="548640" cy="548640"/>
          </a:xfrm>
          <a:prstGeom prst="ellipse">
            <a:avLst/>
          </a:prstGeom>
          <a:solidFill>
            <a:srgbClr val="5F6B78"/>
          </a:solidFill>
          <a:ln w="12700">
            <a:solidFill>
              <a:srgbClr val="5F6B78"/>
            </a:solidFill>
            <a:prstDash val="solid"/>
          </a:ln>
        </p:spPr>
      </p:sp>
      <p:sp>
        <p:nvSpPr>
          <p:cNvPr id="26" name="Text 24"/>
          <p:cNvSpPr/>
          <p:nvPr/>
        </p:nvSpPr>
        <p:spPr>
          <a:xfrm>
            <a:off x="777240" y="54864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t>
            </a:r>
            <a:endParaRPr lang="en-US" sz="1400" dirty="0"/>
          </a:p>
        </p:txBody>
      </p:sp>
      <p:sp>
        <p:nvSpPr>
          <p:cNvPr id="27" name="Text 25"/>
          <p:cNvSpPr/>
          <p:nvPr/>
        </p:nvSpPr>
        <p:spPr>
          <a:xfrm>
            <a:off x="1481328" y="5449824"/>
            <a:ext cx="2468880" cy="32004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Faculty</a:t>
            </a:r>
            <a:endParaRPr lang="en-US" sz="1500" dirty="0"/>
          </a:p>
        </p:txBody>
      </p:sp>
      <p:sp>
        <p:nvSpPr>
          <p:cNvPr id="28" name="Text 26"/>
          <p:cNvSpPr/>
          <p:nvPr/>
        </p:nvSpPr>
        <p:spPr>
          <a:xfrm>
            <a:off x="1481328" y="5751576"/>
            <a:ext cx="6492240" cy="347472"/>
          </a:xfrm>
          <a:prstGeom prst="rect">
            <a:avLst/>
          </a:prstGeom>
          <a:noFill/>
          <a:ln/>
        </p:spPr>
        <p:txBody>
          <a:bodyPr wrap="square" lIns="0" tIns="0" rIns="0" bIns="0" rtlCol="0" anchor="ctr"/>
          <a:lstStyle/>
          <a:p>
            <a:pPr indent="0" marL="0">
              <a:buNone/>
            </a:pPr>
            <a:r>
              <a:rPr lang="en-US" sz="1150" dirty="0">
                <a:solidFill>
                  <a:srgbClr val="3D4855"/>
                </a:solidFill>
                <a:latin typeface="Calibri" pitchFamily="34" charset="0"/>
                <a:ea typeface="Calibri" pitchFamily="34" charset="-122"/>
                <a:cs typeface="Calibri" pitchFamily="34" charset="-120"/>
              </a:rPr>
              <a:t>Depth on request. Silent until 0:19 unless there is a safety issue.</a:t>
            </a:r>
            <a:endParaRPr lang="en-US" sz="1150" dirty="0"/>
          </a:p>
        </p:txBody>
      </p:sp>
      <p:sp>
        <p:nvSpPr>
          <p:cNvPr id="29" name="Shape 27"/>
          <p:cNvSpPr/>
          <p:nvPr/>
        </p:nvSpPr>
        <p:spPr>
          <a:xfrm>
            <a:off x="8412480" y="1572768"/>
            <a:ext cx="3209544" cy="3968496"/>
          </a:xfrm>
          <a:prstGeom prst="roundRect">
            <a:avLst>
              <a:gd name="adj" fmla="val 2279"/>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30" name="Text 28"/>
          <p:cNvSpPr/>
          <p:nvPr/>
        </p:nvSpPr>
        <p:spPr>
          <a:xfrm>
            <a:off x="8686800" y="1783080"/>
            <a:ext cx="2743200" cy="3657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Plus the facilitator</a:t>
            </a:r>
            <a:endParaRPr lang="en-US" sz="1600" dirty="0"/>
          </a:p>
        </p:txBody>
      </p:sp>
      <p:sp>
        <p:nvSpPr>
          <p:cNvPr id="31" name="Text 29"/>
          <p:cNvSpPr/>
          <p:nvPr/>
        </p:nvSpPr>
        <p:spPr>
          <a:xfrm>
            <a:off x="8686800" y="2176272"/>
            <a:ext cx="2697480" cy="548640"/>
          </a:xfrm>
          <a:prstGeom prst="rect">
            <a:avLst/>
          </a:prstGeom>
          <a:noFill/>
          <a:ln/>
        </p:spPr>
        <p:txBody>
          <a:bodyPr wrap="square" lIns="0" tIns="0" rIns="0" bIns="0" rtlCol="0" anchor="ctr"/>
          <a:lstStyle/>
          <a:p>
            <a:pPr indent="0" marL="0">
              <a:lnSpc>
                <a:spcPts val="1500"/>
              </a:lnSpc>
              <a:buNone/>
            </a:pPr>
            <a:r>
              <a:rPr lang="en-US" sz="1150" dirty="0">
                <a:solidFill>
                  <a:srgbClr val="D7E2EC"/>
                </a:solidFill>
                <a:latin typeface="Calibri" pitchFamily="34" charset="0"/>
                <a:ea typeface="Calibri" pitchFamily="34" charset="-122"/>
                <a:cs typeface="Calibri" pitchFamily="34" charset="-120"/>
              </a:rPr>
              <a:t>Chief resident or designated faculty. Not a discussant — a conductor.</a:t>
            </a:r>
            <a:endParaRPr lang="en-US" sz="1150" dirty="0"/>
          </a:p>
        </p:txBody>
      </p:sp>
      <p:sp>
        <p:nvSpPr>
          <p:cNvPr id="32" name="Text 30"/>
          <p:cNvSpPr/>
          <p:nvPr/>
        </p:nvSpPr>
        <p:spPr>
          <a:xfrm>
            <a:off x="8686800" y="2788920"/>
            <a:ext cx="2697480" cy="2560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Runs the clock out loud</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Calls on people by name</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Manages spotlight + share handoff</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Reads chat aloud</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Redirects questions back to the group</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Protects the learning climate</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Cuts off tangents: hug the case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IDEAL LAYOUT</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Run of show — 25 minutes, one case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914400"/>
        </p:xfrm>
        <a:graphic>
          <a:graphicData uri="http://schemas.openxmlformats.org/drawingml/2006/table">
            <a:tbl>
              <a:tblPr/>
              <a:tblGrid>
                <a:gridCol w="777240"/>
                <a:gridCol w="548640"/>
                <a:gridCol w="2514600"/>
                <a:gridCol w="5477256"/>
                <a:gridCol w="173736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START</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MIN</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SEGMENT</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DRIVER</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Launch</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Facilitator names the four roles and states the single learning objective. Cover slide is already up.</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Facilitator</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The hook</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One-liner + chief complaint + one provocative datum. Then stop.</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Presenter</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0:03</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Data block 1 — history &amp; exam</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One screen. Exposures, birth/immunization history, vitals, pertinent findings. No labs, no imaging yet.</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Presenter → Scribe</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0:07</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First pass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Problem representation aloud, 3-4 diagnoses, names the can't-miss. Uninterrupted.</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PGY-1</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0:11</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Second pass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Organizes the list into a framework, prunes with explicit reasons, names the discriminating test.</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Senior</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0:16</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Data block 2 — labs &amp; imaging</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Scribe strikes refuted items in red as the group reacts.</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Presenter → Scribe</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0:19</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Converge + faculty entry</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Group states a plan. Faculty adds one thing residents could not: mechanism, evidence, or a practice caveat.</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All + Faculty</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0:22</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Reveal</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Diagnosis, what was missed, and the reasoning error that explains it.</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Presenter</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384048">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0:24</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F6B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b="1" dirty="0">
                          <a:solidFill>
                            <a:srgbClr val="16283C"/>
                          </a:solidFill>
                          <a:latin typeface="Calibri" pitchFamily="34" charset="0"/>
                          <a:ea typeface="Calibri" pitchFamily="34" charset="-122"/>
                          <a:cs typeface="Calibri" pitchFamily="34" charset="-120"/>
                        </a:rPr>
                        <a:t>Close</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dirty="0">
                          <a:solidFill>
                            <a:srgbClr val="3D4855"/>
                          </a:solidFill>
                          <a:latin typeface="Calibri" pitchFamily="34" charset="0"/>
                          <a:ea typeface="Calibri" pitchFamily="34" charset="-122"/>
                          <a:cs typeface="Calibri" pitchFamily="34" charset="-120"/>
                        </a:rPr>
                        <a:t>Two or three big-picture take-home points. Board exported, posted.</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00" i="1" dirty="0">
                          <a:solidFill>
                            <a:srgbClr val="5F6B78"/>
                          </a:solidFill>
                          <a:latin typeface="Calibri" pitchFamily="34" charset="0"/>
                          <a:ea typeface="Calibri" pitchFamily="34" charset="-122"/>
                          <a:cs typeface="Calibri" pitchFamily="34" charset="-120"/>
                        </a:rPr>
                        <a:t>Facilitator</a:t>
                      </a:r>
                      <a:endParaRPr lang="en-US" sz="10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715000"/>
            <a:ext cx="11055096" cy="868680"/>
          </a:xfrm>
          <a:prstGeom prst="roundRect">
            <a:avLst>
              <a:gd name="adj" fmla="val 8421"/>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6" name="Text 3"/>
          <p:cNvSpPr/>
          <p:nvPr/>
        </p:nvSpPr>
        <p:spPr>
          <a:xfrm>
            <a:off x="868680" y="5833872"/>
            <a:ext cx="2834640" cy="320040"/>
          </a:xfrm>
          <a:prstGeom prst="rect">
            <a:avLst/>
          </a:prstGeom>
          <a:noFill/>
          <a:ln/>
        </p:spPr>
        <p:txBody>
          <a:bodyPr wrap="square" lIns="0" tIns="0" rIns="0" bIns="0" rtlCol="0" anchor="ctr"/>
          <a:lstStyle/>
          <a:p>
            <a:pPr indent="0" marL="0">
              <a:buNone/>
            </a:pPr>
            <a:r>
              <a:rPr lang="en-US" sz="1250" b="1" dirty="0">
                <a:solidFill>
                  <a:srgbClr val="8A6014"/>
                </a:solidFill>
                <a:latin typeface="Calibri" pitchFamily="34" charset="0"/>
                <a:ea typeface="Calibri" pitchFamily="34" charset="-122"/>
                <a:cs typeface="Calibri" pitchFamily="34" charset="-120"/>
              </a:rPr>
              <a:t>What 25 minutes costs you:</a:t>
            </a:r>
            <a:endParaRPr lang="en-US" sz="1250" dirty="0"/>
          </a:p>
        </p:txBody>
      </p:sp>
      <p:sp>
        <p:nvSpPr>
          <p:cNvPr id="7" name="Text 4"/>
          <p:cNvSpPr/>
          <p:nvPr/>
        </p:nvSpPr>
        <p:spPr>
          <a:xfrm>
            <a:off x="3794760" y="5833872"/>
            <a:ext cx="7543800" cy="640080"/>
          </a:xfrm>
          <a:prstGeom prst="rect">
            <a:avLst/>
          </a:prstGeom>
          <a:noFill/>
          <a:ln/>
        </p:spPr>
        <p:txBody>
          <a:bodyPr wrap="square" lIns="0" tIns="0" rIns="0" bIns="0" rtlCol="0" anchor="ctr"/>
          <a:lstStyle/>
          <a:p>
            <a:pPr indent="0" marL="0">
              <a:lnSpc>
                <a:spcPts val="1600"/>
              </a:lnSpc>
              <a:buNone/>
            </a:pPr>
            <a:r>
              <a:rPr lang="en-US" sz="1200" dirty="0">
                <a:solidFill>
                  <a:srgbClr val="4A3520"/>
                </a:solidFill>
                <a:latin typeface="Calibri" pitchFamily="34" charset="0"/>
                <a:ea typeface="Calibri" pitchFamily="34" charset="-122"/>
                <a:cs typeface="Calibri" pitchFamily="34" charset="-120"/>
              </a:rPr>
              <a:t>no priming question, no breakouts, one objective instead of two, and nine minutes of reasoning instead of thirteen. The two passes are the last thing to cut — everything else on this table is negotiable.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6283C"/>
          </a:solidFill>
          <a:ln w="12700">
            <a:solidFill>
              <a:srgbClr val="16283C"/>
            </a:solidFill>
            <a:prstDash val="solid"/>
          </a:ln>
        </p:spPr>
      </p:sp>
      <p:sp>
        <p:nvSpPr>
          <p:cNvPr id="3" name="Shape 1"/>
          <p:cNvSpPr/>
          <p:nvPr/>
        </p:nvSpPr>
        <p:spPr>
          <a:xfrm>
            <a:off x="566928" y="777240"/>
            <a:ext cx="1234440" cy="1234440"/>
          </a:xfrm>
          <a:prstGeom prst="ellipse">
            <a:avLst/>
          </a:prstGeom>
          <a:solidFill>
            <a:srgbClr val="E8A33D"/>
          </a:solidFill>
          <a:ln w="12700">
            <a:solidFill>
              <a:srgbClr val="E8A33D"/>
            </a:solidFill>
            <a:prstDash val="solid"/>
          </a:ln>
        </p:spPr>
      </p:sp>
      <p:sp>
        <p:nvSpPr>
          <p:cNvPr id="4" name="Text 2"/>
          <p:cNvSpPr/>
          <p:nvPr/>
        </p:nvSpPr>
        <p:spPr>
          <a:xfrm>
            <a:off x="566928" y="77724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P</a:t>
            </a:r>
            <a:endParaRPr lang="en-US" sz="4000" dirty="0"/>
          </a:p>
        </p:txBody>
      </p:sp>
      <p:sp>
        <p:nvSpPr>
          <p:cNvPr id="5" name="Text 3"/>
          <p:cNvSpPr/>
          <p:nvPr/>
        </p:nvSpPr>
        <p:spPr>
          <a:xfrm>
            <a:off x="566928" y="2240280"/>
            <a:ext cx="2743200" cy="256032"/>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ROLE</a:t>
            </a:r>
            <a:endParaRPr lang="en-US" sz="1100" dirty="0"/>
          </a:p>
        </p:txBody>
      </p:sp>
      <p:sp>
        <p:nvSpPr>
          <p:cNvPr id="6" name="Text 4"/>
          <p:cNvSpPr/>
          <p:nvPr/>
        </p:nvSpPr>
        <p:spPr>
          <a:xfrm>
            <a:off x="566928" y="2514600"/>
            <a:ext cx="2926080" cy="10058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Case Presenter</a:t>
            </a:r>
            <a:endParaRPr lang="en-US" sz="2900" dirty="0"/>
          </a:p>
        </p:txBody>
      </p:sp>
      <p:sp>
        <p:nvSpPr>
          <p:cNvPr id="7" name="Text 5"/>
          <p:cNvSpPr/>
          <p:nvPr/>
        </p:nvSpPr>
        <p:spPr>
          <a:xfrm>
            <a:off x="566928" y="3611880"/>
            <a:ext cx="2834640" cy="1463040"/>
          </a:xfrm>
          <a:prstGeom prst="rect">
            <a:avLst/>
          </a:prstGeom>
          <a:noFill/>
          <a:ln/>
        </p:spPr>
        <p:txBody>
          <a:bodyPr wrap="square" lIns="0" tIns="0" rIns="0" bIns="0" rtlCol="0" anchor="ctr"/>
          <a:lstStyle/>
          <a:p>
            <a:pPr indent="0" marL="0">
              <a:lnSpc>
                <a:spcPts val="1900"/>
              </a:lnSpc>
              <a:buNone/>
            </a:pPr>
            <a:r>
              <a:rPr lang="en-US" sz="1350" i="1" dirty="0">
                <a:solidFill>
                  <a:srgbClr val="BFD0E0"/>
                </a:solidFill>
                <a:latin typeface="Calibri" pitchFamily="34" charset="0"/>
                <a:ea typeface="Calibri" pitchFamily="34" charset="-122"/>
                <a:cs typeface="Calibri" pitchFamily="34" charset="-120"/>
              </a:rPr>
              <a:t>Owns the data. Controls the pace of the reveal. The hardest part of this job is not answering.</a:t>
            </a:r>
            <a:endParaRPr lang="en-US" sz="1350" dirty="0"/>
          </a:p>
        </p:txBody>
      </p:sp>
      <p:sp>
        <p:nvSpPr>
          <p:cNvPr id="8" name="Text 6"/>
          <p:cNvSpPr/>
          <p:nvPr/>
        </p:nvSpPr>
        <p:spPr>
          <a:xfrm>
            <a:off x="4251960" y="6858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BEFORE REPORT</a:t>
            </a:r>
            <a:endParaRPr lang="en-US" sz="1100" dirty="0"/>
          </a:p>
        </p:txBody>
      </p:sp>
      <p:sp>
        <p:nvSpPr>
          <p:cNvPr id="9" name="Text 7"/>
          <p:cNvSpPr/>
          <p:nvPr/>
        </p:nvSpPr>
        <p:spPr>
          <a:xfrm>
            <a:off x="4251960" y="1005840"/>
            <a:ext cx="736092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Selects a case that is relevant, realistic, and instructional — vary common vs. rare, inpatient vs. clinic</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Masters it: reads the chart end to end, writes down every question the case raised, reads to answer them</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De-identifies completely; no MRN, no dates of service, no images with burned-in PHI</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Builds no more than 8 slides using the template. Sends the one-liner to the discussants; sends the objective to the scribe</a:t>
            </a:r>
            <a:endParaRPr lang="en-US" sz="1250" dirty="0"/>
          </a:p>
        </p:txBody>
      </p:sp>
      <p:sp>
        <p:nvSpPr>
          <p:cNvPr id="10" name="Shape 8"/>
          <p:cNvSpPr/>
          <p:nvPr/>
        </p:nvSpPr>
        <p:spPr>
          <a:xfrm>
            <a:off x="4251960" y="2606040"/>
            <a:ext cx="7360920" cy="18288"/>
          </a:xfrm>
          <a:prstGeom prst="rect">
            <a:avLst/>
          </a:prstGeom>
          <a:solidFill>
            <a:srgbClr val="DDE4EA"/>
          </a:solidFill>
          <a:ln w="12700">
            <a:solidFill>
              <a:srgbClr val="DDE4EA"/>
            </a:solidFill>
            <a:prstDash val="solid"/>
          </a:ln>
        </p:spPr>
      </p:sp>
      <p:sp>
        <p:nvSpPr>
          <p:cNvPr id="11" name="Text 9"/>
          <p:cNvSpPr/>
          <p:nvPr/>
        </p:nvSpPr>
        <p:spPr>
          <a:xfrm>
            <a:off x="4251960" y="27432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DURING REPORT</a:t>
            </a:r>
            <a:endParaRPr lang="en-US" sz="1100" dirty="0"/>
          </a:p>
        </p:txBody>
      </p:sp>
      <p:sp>
        <p:nvSpPr>
          <p:cNvPr id="12" name="Text 10"/>
          <p:cNvSpPr/>
          <p:nvPr/>
        </p:nvSpPr>
        <p:spPr>
          <a:xfrm>
            <a:off x="4251960" y="3063240"/>
            <a:ext cx="73609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Opens with the hook, not the demographics — put the group at the most provocative moment of the story</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Releases data only in the two planned blocks — history and exam first, labs and imaging only after the intern commits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Keeps a poker face — no tone or pacing tells when someone lands on the right answer</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Hands the share to the scribe at each pause, on the facilitator's cue</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Posts slides + exported board to the residency channel within 24 hours</a:t>
            </a:r>
            <a:endParaRPr lang="en-US" sz="1250" dirty="0"/>
          </a:p>
        </p:txBody>
      </p:sp>
      <p:sp>
        <p:nvSpPr>
          <p:cNvPr id="13" name="Shape 11"/>
          <p:cNvSpPr/>
          <p:nvPr/>
        </p:nvSpPr>
        <p:spPr>
          <a:xfrm>
            <a:off x="4251960" y="5138928"/>
            <a:ext cx="7360920" cy="1143000"/>
          </a:xfrm>
          <a:prstGeom prst="roundRect">
            <a:avLst>
              <a:gd name="adj" fmla="val 6400"/>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14" name="Text 12"/>
          <p:cNvSpPr/>
          <p:nvPr/>
        </p:nvSpPr>
        <p:spPr>
          <a:xfrm>
            <a:off x="4526280" y="5303520"/>
            <a:ext cx="1188720" cy="274320"/>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DOES NOT:</a:t>
            </a:r>
            <a:endParaRPr lang="en-US" sz="1100" dirty="0"/>
          </a:p>
        </p:txBody>
      </p:sp>
      <p:sp>
        <p:nvSpPr>
          <p:cNvPr id="15" name="Text 13"/>
          <p:cNvSpPr/>
          <p:nvPr/>
        </p:nvSpPr>
        <p:spPr>
          <a:xfrm>
            <a:off x="5669280" y="5303520"/>
            <a:ext cx="5715000" cy="822960"/>
          </a:xfrm>
          <a:prstGeom prst="rect">
            <a:avLst/>
          </a:prstGeom>
          <a:noFill/>
          <a:ln/>
        </p:spPr>
        <p:txBody>
          <a:bodyPr wrap="square" lIns="0" tIns="0" rIns="0" bIns="0" rtlCol="0" anchor="ctr"/>
          <a:lstStyle/>
          <a:p>
            <a:pPr indent="0" marL="0">
              <a:lnSpc>
                <a:spcPts val="1600"/>
              </a:lnSpc>
              <a:buNone/>
            </a:pPr>
            <a:r>
              <a:rPr lang="en-US" sz="1200" dirty="0">
                <a:solidFill>
                  <a:srgbClr val="4A3520"/>
                </a:solidFill>
                <a:latin typeface="Calibri" pitchFamily="34" charset="0"/>
                <a:ea typeface="Calibri" pitchFamily="34" charset="-122"/>
                <a:cs typeface="Calibri" pitchFamily="34" charset="-120"/>
              </a:rPr>
              <a:t>Narrate the whole case front to back. Correct the discussants. Reveal the diagnosis early because the room went quiet.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6283C"/>
          </a:solidFill>
          <a:ln w="12700">
            <a:solidFill>
              <a:srgbClr val="16283C"/>
            </a:solidFill>
            <a:prstDash val="solid"/>
          </a:ln>
        </p:spPr>
      </p:sp>
      <p:sp>
        <p:nvSpPr>
          <p:cNvPr id="3" name="Shape 1"/>
          <p:cNvSpPr/>
          <p:nvPr/>
        </p:nvSpPr>
        <p:spPr>
          <a:xfrm>
            <a:off x="566928" y="777240"/>
            <a:ext cx="1234440" cy="1234440"/>
          </a:xfrm>
          <a:prstGeom prst="ellipse">
            <a:avLst/>
          </a:prstGeom>
          <a:solidFill>
            <a:srgbClr val="2E7D8F"/>
          </a:solidFill>
          <a:ln w="12700">
            <a:solidFill>
              <a:srgbClr val="2E7D8F"/>
            </a:solidFill>
            <a:prstDash val="solid"/>
          </a:ln>
        </p:spPr>
      </p:sp>
      <p:sp>
        <p:nvSpPr>
          <p:cNvPr id="4" name="Text 2"/>
          <p:cNvSpPr/>
          <p:nvPr/>
        </p:nvSpPr>
        <p:spPr>
          <a:xfrm>
            <a:off x="566928" y="77724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W</a:t>
            </a:r>
            <a:endParaRPr lang="en-US" sz="4000" dirty="0"/>
          </a:p>
        </p:txBody>
      </p:sp>
      <p:sp>
        <p:nvSpPr>
          <p:cNvPr id="5" name="Text 3"/>
          <p:cNvSpPr/>
          <p:nvPr/>
        </p:nvSpPr>
        <p:spPr>
          <a:xfrm>
            <a:off x="566928" y="2240280"/>
            <a:ext cx="2743200" cy="256032"/>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ROLE</a:t>
            </a:r>
            <a:endParaRPr lang="en-US" sz="1100" dirty="0"/>
          </a:p>
        </p:txBody>
      </p:sp>
      <p:sp>
        <p:nvSpPr>
          <p:cNvPr id="6" name="Text 4"/>
          <p:cNvSpPr/>
          <p:nvPr/>
        </p:nvSpPr>
        <p:spPr>
          <a:xfrm>
            <a:off x="566928" y="2514600"/>
            <a:ext cx="2926080" cy="10058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Whiteboard Scribe</a:t>
            </a:r>
            <a:endParaRPr lang="en-US" sz="2900" dirty="0"/>
          </a:p>
        </p:txBody>
      </p:sp>
      <p:sp>
        <p:nvSpPr>
          <p:cNvPr id="7" name="Text 5"/>
          <p:cNvSpPr/>
          <p:nvPr/>
        </p:nvSpPr>
        <p:spPr>
          <a:xfrm>
            <a:off x="566928" y="3611880"/>
            <a:ext cx="2834640" cy="1463040"/>
          </a:xfrm>
          <a:prstGeom prst="rect">
            <a:avLst/>
          </a:prstGeom>
          <a:noFill/>
          <a:ln/>
        </p:spPr>
        <p:txBody>
          <a:bodyPr wrap="square" lIns="0" tIns="0" rIns="0" bIns="0" rtlCol="0" anchor="ctr"/>
          <a:lstStyle/>
          <a:p>
            <a:pPr indent="0" marL="0">
              <a:lnSpc>
                <a:spcPts val="1900"/>
              </a:lnSpc>
              <a:buNone/>
            </a:pPr>
            <a:r>
              <a:rPr lang="en-US" sz="1350" i="1" dirty="0">
                <a:solidFill>
                  <a:srgbClr val="BFD0E0"/>
                </a:solidFill>
                <a:latin typeface="Calibri" pitchFamily="34" charset="0"/>
                <a:ea typeface="Calibri" pitchFamily="34" charset="-122"/>
                <a:cs typeface="Calibri" pitchFamily="34" charset="-120"/>
              </a:rPr>
              <a:t>Owns the board. The board is the group's thinking made visible — so write their words, not yours.</a:t>
            </a:r>
            <a:endParaRPr lang="en-US" sz="1350" dirty="0"/>
          </a:p>
        </p:txBody>
      </p:sp>
      <p:sp>
        <p:nvSpPr>
          <p:cNvPr id="8" name="Text 6"/>
          <p:cNvSpPr/>
          <p:nvPr/>
        </p:nvSpPr>
        <p:spPr>
          <a:xfrm>
            <a:off x="4251960" y="6858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BEFORE REPORT</a:t>
            </a:r>
            <a:endParaRPr lang="en-US" sz="1100" dirty="0"/>
          </a:p>
        </p:txBody>
      </p:sp>
      <p:sp>
        <p:nvSpPr>
          <p:cNvPr id="9" name="Text 7"/>
          <p:cNvSpPr/>
          <p:nvPr/>
        </p:nvSpPr>
        <p:spPr>
          <a:xfrm>
            <a:off x="4251960" y="1005840"/>
            <a:ext cx="736092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Opens the Zoom Whiteboard 10 minutes early and lays in the template zones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Fills the header: date, de-identified case ID, the two learning objectives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Confirms co-annotation is on and posts the whiteboard link in chat for second-monitor viewing</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Reviews the color code with the facilitator</a:t>
            </a:r>
            <a:endParaRPr lang="en-US" sz="1250" dirty="0"/>
          </a:p>
        </p:txBody>
      </p:sp>
      <p:sp>
        <p:nvSpPr>
          <p:cNvPr id="10" name="Shape 8"/>
          <p:cNvSpPr/>
          <p:nvPr/>
        </p:nvSpPr>
        <p:spPr>
          <a:xfrm>
            <a:off x="4251960" y="2606040"/>
            <a:ext cx="7360920" cy="18288"/>
          </a:xfrm>
          <a:prstGeom prst="rect">
            <a:avLst/>
          </a:prstGeom>
          <a:solidFill>
            <a:srgbClr val="DDE4EA"/>
          </a:solidFill>
          <a:ln w="12700">
            <a:solidFill>
              <a:srgbClr val="DDE4EA"/>
            </a:solidFill>
            <a:prstDash val="solid"/>
          </a:ln>
        </p:spPr>
      </p:sp>
      <p:sp>
        <p:nvSpPr>
          <p:cNvPr id="11" name="Text 9"/>
          <p:cNvSpPr/>
          <p:nvPr/>
        </p:nvSpPr>
        <p:spPr>
          <a:xfrm>
            <a:off x="4251960" y="27432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DURING REPORT</a:t>
            </a:r>
            <a:endParaRPr lang="en-US" sz="1100" dirty="0"/>
          </a:p>
        </p:txBody>
      </p:sp>
      <p:sp>
        <p:nvSpPr>
          <p:cNvPr id="12" name="Text 10"/>
          <p:cNvSpPr/>
          <p:nvPr/>
        </p:nvSpPr>
        <p:spPr>
          <a:xfrm>
            <a:off x="4251960" y="3063240"/>
            <a:ext cx="73609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Captures data in the KEY DATA zone as the presenter releases it — abbreviations fine, legibility non-negotiable</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Writes each differential item as it is said aloud, attributed to no one</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Strikes items in red the moment the group refutes them, and only then — the cross-off is the teaching moment</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Asks "how do you want that written?" rather than paraphrasing</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Exports the board as PNG at 0:24 and posts it before leaving the call</a:t>
            </a:r>
            <a:endParaRPr lang="en-US" sz="1250" dirty="0"/>
          </a:p>
        </p:txBody>
      </p:sp>
      <p:sp>
        <p:nvSpPr>
          <p:cNvPr id="13" name="Shape 11"/>
          <p:cNvSpPr/>
          <p:nvPr/>
        </p:nvSpPr>
        <p:spPr>
          <a:xfrm>
            <a:off x="4251960" y="5138928"/>
            <a:ext cx="7360920" cy="1143000"/>
          </a:xfrm>
          <a:prstGeom prst="roundRect">
            <a:avLst>
              <a:gd name="adj" fmla="val 6400"/>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14" name="Text 12"/>
          <p:cNvSpPr/>
          <p:nvPr/>
        </p:nvSpPr>
        <p:spPr>
          <a:xfrm>
            <a:off x="4526280" y="5303520"/>
            <a:ext cx="1188720" cy="274320"/>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DOES NOT:</a:t>
            </a:r>
            <a:endParaRPr lang="en-US" sz="1100" dirty="0"/>
          </a:p>
        </p:txBody>
      </p:sp>
      <p:sp>
        <p:nvSpPr>
          <p:cNvPr id="15" name="Text 13"/>
          <p:cNvSpPr/>
          <p:nvPr/>
        </p:nvSpPr>
        <p:spPr>
          <a:xfrm>
            <a:off x="5669280" y="5303520"/>
            <a:ext cx="5715000" cy="822960"/>
          </a:xfrm>
          <a:prstGeom prst="rect">
            <a:avLst/>
          </a:prstGeom>
          <a:noFill/>
          <a:ln/>
        </p:spPr>
        <p:txBody>
          <a:bodyPr wrap="square" lIns="0" tIns="0" rIns="0" bIns="0" rtlCol="0" anchor="ctr"/>
          <a:lstStyle/>
          <a:p>
            <a:pPr indent="0" marL="0">
              <a:lnSpc>
                <a:spcPts val="1600"/>
              </a:lnSpc>
              <a:buNone/>
            </a:pPr>
            <a:r>
              <a:rPr lang="en-US" sz="1200" dirty="0">
                <a:solidFill>
                  <a:srgbClr val="4A3520"/>
                </a:solidFill>
                <a:latin typeface="Calibri" pitchFamily="34" charset="0"/>
                <a:ea typeface="Calibri" pitchFamily="34" charset="-122"/>
                <a:cs typeface="Calibri" pitchFamily="34" charset="-120"/>
              </a:rPr>
              <a:t>Add items nobody said. Clean up sloppy reasoning into tidy reasoning. Argue the case — the scribe is not a discussant.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6283C"/>
          </a:solidFill>
          <a:ln w="12700">
            <a:solidFill>
              <a:srgbClr val="16283C"/>
            </a:solidFill>
            <a:prstDash val="solid"/>
          </a:ln>
        </p:spPr>
      </p:sp>
      <p:sp>
        <p:nvSpPr>
          <p:cNvPr id="3" name="Shape 1"/>
          <p:cNvSpPr/>
          <p:nvPr/>
        </p:nvSpPr>
        <p:spPr>
          <a:xfrm>
            <a:off x="566928" y="777240"/>
            <a:ext cx="1234440" cy="1234440"/>
          </a:xfrm>
          <a:prstGeom prst="ellipse">
            <a:avLst/>
          </a:prstGeom>
          <a:solidFill>
            <a:srgbClr val="24405E"/>
          </a:solidFill>
          <a:ln w="12700">
            <a:solidFill>
              <a:srgbClr val="24405E"/>
            </a:solidFill>
            <a:prstDash val="solid"/>
          </a:ln>
        </p:spPr>
      </p:sp>
      <p:sp>
        <p:nvSpPr>
          <p:cNvPr id="4" name="Text 2"/>
          <p:cNvSpPr/>
          <p:nvPr/>
        </p:nvSpPr>
        <p:spPr>
          <a:xfrm>
            <a:off x="566928" y="77724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5" name="Text 3"/>
          <p:cNvSpPr/>
          <p:nvPr/>
        </p:nvSpPr>
        <p:spPr>
          <a:xfrm>
            <a:off x="566928" y="2240280"/>
            <a:ext cx="2743200" cy="256032"/>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ROLE</a:t>
            </a:r>
            <a:endParaRPr lang="en-US" sz="1100" dirty="0"/>
          </a:p>
        </p:txBody>
      </p:sp>
      <p:sp>
        <p:nvSpPr>
          <p:cNvPr id="6" name="Text 4"/>
          <p:cNvSpPr/>
          <p:nvPr/>
        </p:nvSpPr>
        <p:spPr>
          <a:xfrm>
            <a:off x="566928" y="2514600"/>
            <a:ext cx="2926080" cy="10058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PGY-1 Discussant</a:t>
            </a:r>
            <a:endParaRPr lang="en-US" sz="2900" dirty="0"/>
          </a:p>
        </p:txBody>
      </p:sp>
      <p:sp>
        <p:nvSpPr>
          <p:cNvPr id="7" name="Text 5"/>
          <p:cNvSpPr/>
          <p:nvPr/>
        </p:nvSpPr>
        <p:spPr>
          <a:xfrm>
            <a:off x="566928" y="3611880"/>
            <a:ext cx="2834640" cy="1463040"/>
          </a:xfrm>
          <a:prstGeom prst="rect">
            <a:avLst/>
          </a:prstGeom>
          <a:noFill/>
          <a:ln/>
        </p:spPr>
        <p:txBody>
          <a:bodyPr wrap="square" lIns="0" tIns="0" rIns="0" bIns="0" rtlCol="0" anchor="ctr"/>
          <a:lstStyle/>
          <a:p>
            <a:pPr indent="0" marL="0">
              <a:lnSpc>
                <a:spcPts val="1900"/>
              </a:lnSpc>
              <a:buNone/>
            </a:pPr>
            <a:r>
              <a:rPr lang="en-US" sz="1350" i="1" dirty="0">
                <a:solidFill>
                  <a:srgbClr val="BFD0E0"/>
                </a:solidFill>
                <a:latin typeface="Calibri" pitchFamily="34" charset="0"/>
                <a:ea typeface="Calibri" pitchFamily="34" charset="-122"/>
                <a:cs typeface="Calibri" pitchFamily="34" charset="-120"/>
              </a:rPr>
              <a:t>The first pass. Commit to a short list — a defensible four beats an unfalsifiable twelve.</a:t>
            </a:r>
            <a:endParaRPr lang="en-US" sz="1350" dirty="0"/>
          </a:p>
        </p:txBody>
      </p:sp>
      <p:sp>
        <p:nvSpPr>
          <p:cNvPr id="8" name="Text 6"/>
          <p:cNvSpPr/>
          <p:nvPr/>
        </p:nvSpPr>
        <p:spPr>
          <a:xfrm>
            <a:off x="4251960" y="6858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BEFORE REPORT</a:t>
            </a:r>
            <a:endParaRPr lang="en-US" sz="1100" dirty="0"/>
          </a:p>
        </p:txBody>
      </p:sp>
      <p:sp>
        <p:nvSpPr>
          <p:cNvPr id="9" name="Text 7"/>
          <p:cNvSpPr/>
          <p:nvPr/>
        </p:nvSpPr>
        <p:spPr>
          <a:xfrm>
            <a:off x="4251960" y="1005840"/>
            <a:ext cx="736092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Receives only the one-liner, 24 hours ahead — no chart access, no labs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Reviews their own approach to that chief complaint, not the diagnosis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Comes prepared to think out loud, not to be right</a:t>
            </a:r>
            <a:endParaRPr lang="en-US" sz="1250" dirty="0"/>
          </a:p>
        </p:txBody>
      </p:sp>
      <p:sp>
        <p:nvSpPr>
          <p:cNvPr id="10" name="Shape 8"/>
          <p:cNvSpPr/>
          <p:nvPr/>
        </p:nvSpPr>
        <p:spPr>
          <a:xfrm>
            <a:off x="4251960" y="2606040"/>
            <a:ext cx="7360920" cy="18288"/>
          </a:xfrm>
          <a:prstGeom prst="rect">
            <a:avLst/>
          </a:prstGeom>
          <a:solidFill>
            <a:srgbClr val="DDE4EA"/>
          </a:solidFill>
          <a:ln w="12700">
            <a:solidFill>
              <a:srgbClr val="DDE4EA"/>
            </a:solidFill>
            <a:prstDash val="solid"/>
          </a:ln>
        </p:spPr>
      </p:sp>
      <p:sp>
        <p:nvSpPr>
          <p:cNvPr id="11" name="Text 9"/>
          <p:cNvSpPr/>
          <p:nvPr/>
        </p:nvSpPr>
        <p:spPr>
          <a:xfrm>
            <a:off x="4251960" y="27432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DURING REPORT</a:t>
            </a:r>
            <a:endParaRPr lang="en-US" sz="1100" dirty="0"/>
          </a:p>
        </p:txBody>
      </p:sp>
      <p:sp>
        <p:nvSpPr>
          <p:cNvPr id="12" name="Text 10"/>
          <p:cNvSpPr/>
          <p:nvPr/>
        </p:nvSpPr>
        <p:spPr>
          <a:xfrm>
            <a:off x="4251960" y="3063240"/>
            <a:ext cx="73609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1.  Problem representation in one sentence: age, relevant epidemiology, tempo, key features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2.  Three to four diagnoses, each with the reason it is on the list</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3.  The can't-miss, named as such, even if it is unlikely</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4.  The one piece of data they most want, and what each result would mean</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Says "I don't know" out loud when true — this is modeled, not penalized</a:t>
            </a:r>
            <a:endParaRPr lang="en-US" sz="1250" dirty="0"/>
          </a:p>
        </p:txBody>
      </p:sp>
      <p:sp>
        <p:nvSpPr>
          <p:cNvPr id="13" name="Shape 11"/>
          <p:cNvSpPr/>
          <p:nvPr/>
        </p:nvSpPr>
        <p:spPr>
          <a:xfrm>
            <a:off x="4251960" y="5138928"/>
            <a:ext cx="7360920" cy="1143000"/>
          </a:xfrm>
          <a:prstGeom prst="roundRect">
            <a:avLst>
              <a:gd name="adj" fmla="val 6400"/>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14" name="Text 12"/>
          <p:cNvSpPr/>
          <p:nvPr/>
        </p:nvSpPr>
        <p:spPr>
          <a:xfrm>
            <a:off x="4526280" y="5303520"/>
            <a:ext cx="1188720" cy="274320"/>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DOES NOT:</a:t>
            </a:r>
            <a:endParaRPr lang="en-US" sz="1100" dirty="0"/>
          </a:p>
        </p:txBody>
      </p:sp>
      <p:sp>
        <p:nvSpPr>
          <p:cNvPr id="15" name="Text 13"/>
          <p:cNvSpPr/>
          <p:nvPr/>
        </p:nvSpPr>
        <p:spPr>
          <a:xfrm>
            <a:off x="5669280" y="5303520"/>
            <a:ext cx="5715000" cy="822960"/>
          </a:xfrm>
          <a:prstGeom prst="rect">
            <a:avLst/>
          </a:prstGeom>
          <a:noFill/>
          <a:ln/>
        </p:spPr>
        <p:txBody>
          <a:bodyPr wrap="square" lIns="0" tIns="0" rIns="0" bIns="0" rtlCol="0" anchor="ctr"/>
          <a:lstStyle/>
          <a:p>
            <a:pPr indent="0" marL="0">
              <a:lnSpc>
                <a:spcPts val="1600"/>
              </a:lnSpc>
              <a:buNone/>
            </a:pPr>
            <a:r>
              <a:rPr lang="en-US" sz="1200" dirty="0">
                <a:solidFill>
                  <a:srgbClr val="4A3520"/>
                </a:solidFill>
                <a:latin typeface="Calibri" pitchFamily="34" charset="0"/>
                <a:ea typeface="Calibri" pitchFamily="34" charset="-122"/>
                <a:cs typeface="Calibri" pitchFamily="34" charset="-120"/>
              </a:rPr>
              <a:t>Get interrupted, corrected, or rescued mid-pass. List every diagnosis they can think of — breadth is avoidance, not thoroughness.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6283C"/>
          </a:solidFill>
          <a:ln w="12700">
            <a:solidFill>
              <a:srgbClr val="16283C"/>
            </a:solidFill>
            <a:prstDash val="solid"/>
          </a:ln>
        </p:spPr>
      </p:sp>
      <p:sp>
        <p:nvSpPr>
          <p:cNvPr id="3" name="Shape 1"/>
          <p:cNvSpPr/>
          <p:nvPr/>
        </p:nvSpPr>
        <p:spPr>
          <a:xfrm>
            <a:off x="566928" y="777240"/>
            <a:ext cx="1234440" cy="1234440"/>
          </a:xfrm>
          <a:prstGeom prst="ellipse">
            <a:avLst/>
          </a:prstGeom>
          <a:solidFill>
            <a:srgbClr val="24405E"/>
          </a:solidFill>
          <a:ln w="12700">
            <a:solidFill>
              <a:srgbClr val="24405E"/>
            </a:solidFill>
            <a:prstDash val="solid"/>
          </a:ln>
        </p:spPr>
      </p:sp>
      <p:sp>
        <p:nvSpPr>
          <p:cNvPr id="4" name="Text 2"/>
          <p:cNvSpPr/>
          <p:nvPr/>
        </p:nvSpPr>
        <p:spPr>
          <a:xfrm>
            <a:off x="566928" y="77724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sp>
        <p:nvSpPr>
          <p:cNvPr id="5" name="Text 3"/>
          <p:cNvSpPr/>
          <p:nvPr/>
        </p:nvSpPr>
        <p:spPr>
          <a:xfrm>
            <a:off x="566928" y="2240280"/>
            <a:ext cx="2743200" cy="256032"/>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ROLE</a:t>
            </a:r>
            <a:endParaRPr lang="en-US" sz="1100" dirty="0"/>
          </a:p>
        </p:txBody>
      </p:sp>
      <p:sp>
        <p:nvSpPr>
          <p:cNvPr id="6" name="Text 4"/>
          <p:cNvSpPr/>
          <p:nvPr/>
        </p:nvSpPr>
        <p:spPr>
          <a:xfrm>
            <a:off x="566928" y="2514600"/>
            <a:ext cx="2926080" cy="10058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Senior Discussant</a:t>
            </a:r>
            <a:endParaRPr lang="en-US" sz="2900" dirty="0"/>
          </a:p>
        </p:txBody>
      </p:sp>
      <p:sp>
        <p:nvSpPr>
          <p:cNvPr id="7" name="Text 5"/>
          <p:cNvSpPr/>
          <p:nvPr/>
        </p:nvSpPr>
        <p:spPr>
          <a:xfrm>
            <a:off x="566928" y="3611880"/>
            <a:ext cx="2834640" cy="1463040"/>
          </a:xfrm>
          <a:prstGeom prst="rect">
            <a:avLst/>
          </a:prstGeom>
          <a:noFill/>
          <a:ln/>
        </p:spPr>
        <p:txBody>
          <a:bodyPr wrap="square" lIns="0" tIns="0" rIns="0" bIns="0" rtlCol="0" anchor="ctr"/>
          <a:lstStyle/>
          <a:p>
            <a:pPr indent="0" marL="0">
              <a:lnSpc>
                <a:spcPts val="1900"/>
              </a:lnSpc>
              <a:buNone/>
            </a:pPr>
            <a:r>
              <a:rPr lang="en-US" sz="1350" i="1" dirty="0">
                <a:solidFill>
                  <a:srgbClr val="BFD0E0"/>
                </a:solidFill>
                <a:latin typeface="Calibri" pitchFamily="34" charset="0"/>
                <a:ea typeface="Calibri" pitchFamily="34" charset="-122"/>
                <a:cs typeface="Calibri" pitchFamily="34" charset="-120"/>
              </a:rPr>
              <a:t>The second pass. Turns a list into an argument, and models how an experienced clinician narrows.</a:t>
            </a:r>
            <a:endParaRPr lang="en-US" sz="1350" dirty="0"/>
          </a:p>
        </p:txBody>
      </p:sp>
      <p:sp>
        <p:nvSpPr>
          <p:cNvPr id="8" name="Text 6"/>
          <p:cNvSpPr/>
          <p:nvPr/>
        </p:nvSpPr>
        <p:spPr>
          <a:xfrm>
            <a:off x="4251960" y="6858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BEFORE REPORT</a:t>
            </a:r>
            <a:endParaRPr lang="en-US" sz="1100" dirty="0"/>
          </a:p>
        </p:txBody>
      </p:sp>
      <p:sp>
        <p:nvSpPr>
          <p:cNvPr id="9" name="Text 7"/>
          <p:cNvSpPr/>
          <p:nvPr/>
        </p:nvSpPr>
        <p:spPr>
          <a:xfrm>
            <a:off x="4251960" y="1005840"/>
            <a:ext cx="736092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Receives the one-liner plus the intern's differential, if the facilitator shares it</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Prepares one organizing framework to offer — anatomic, mechanistic, VINDICATE, time-course</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Identifies one high-yield teaching artifact to reference: a table, an algorithm, a criteria set</a:t>
            </a:r>
            <a:endParaRPr lang="en-US" sz="1250" dirty="0"/>
          </a:p>
        </p:txBody>
      </p:sp>
      <p:sp>
        <p:nvSpPr>
          <p:cNvPr id="10" name="Shape 8"/>
          <p:cNvSpPr/>
          <p:nvPr/>
        </p:nvSpPr>
        <p:spPr>
          <a:xfrm>
            <a:off x="4251960" y="2606040"/>
            <a:ext cx="7360920" cy="18288"/>
          </a:xfrm>
          <a:prstGeom prst="rect">
            <a:avLst/>
          </a:prstGeom>
          <a:solidFill>
            <a:srgbClr val="DDE4EA"/>
          </a:solidFill>
          <a:ln w="12700">
            <a:solidFill>
              <a:srgbClr val="DDE4EA"/>
            </a:solidFill>
            <a:prstDash val="solid"/>
          </a:ln>
        </p:spPr>
      </p:sp>
      <p:sp>
        <p:nvSpPr>
          <p:cNvPr id="11" name="Text 9"/>
          <p:cNvSpPr/>
          <p:nvPr/>
        </p:nvSpPr>
        <p:spPr>
          <a:xfrm>
            <a:off x="4251960" y="27432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DURING REPORT</a:t>
            </a:r>
            <a:endParaRPr lang="en-US" sz="1100" dirty="0"/>
          </a:p>
        </p:txBody>
      </p:sp>
      <p:sp>
        <p:nvSpPr>
          <p:cNvPr id="12" name="Text 10"/>
          <p:cNvSpPr/>
          <p:nvPr/>
        </p:nvSpPr>
        <p:spPr>
          <a:xfrm>
            <a:off x="4251960" y="3063240"/>
            <a:ext cx="73609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Reorganizes the intern's list into the framework instead of replacing it</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Prunes explicitly: names the feature that argues against each item as it is struck</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Applies illness scripts — what this disease usually looks like versus what this patient looks like</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Names the single most discriminating next test and what each result would mean</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States a working diagnosis with a confidence level and a stated trigger: "what would change my mind is…"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Names the bias in play — anchoring, availability, premature closure</a:t>
            </a:r>
            <a:endParaRPr lang="en-US" sz="1250" dirty="0"/>
          </a:p>
        </p:txBody>
      </p:sp>
      <p:sp>
        <p:nvSpPr>
          <p:cNvPr id="13" name="Shape 11"/>
          <p:cNvSpPr/>
          <p:nvPr/>
        </p:nvSpPr>
        <p:spPr>
          <a:xfrm>
            <a:off x="4251960" y="5138928"/>
            <a:ext cx="7360920" cy="1143000"/>
          </a:xfrm>
          <a:prstGeom prst="roundRect">
            <a:avLst>
              <a:gd name="adj" fmla="val 6400"/>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14" name="Text 12"/>
          <p:cNvSpPr/>
          <p:nvPr/>
        </p:nvSpPr>
        <p:spPr>
          <a:xfrm>
            <a:off x="4526280" y="5303520"/>
            <a:ext cx="1188720" cy="274320"/>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DOES NOT:</a:t>
            </a:r>
            <a:endParaRPr lang="en-US" sz="1100" dirty="0"/>
          </a:p>
        </p:txBody>
      </p:sp>
      <p:sp>
        <p:nvSpPr>
          <p:cNvPr id="15" name="Text 13"/>
          <p:cNvSpPr/>
          <p:nvPr/>
        </p:nvSpPr>
        <p:spPr>
          <a:xfrm>
            <a:off x="5669280" y="5303520"/>
            <a:ext cx="5715000" cy="822960"/>
          </a:xfrm>
          <a:prstGeom prst="rect">
            <a:avLst/>
          </a:prstGeom>
          <a:noFill/>
          <a:ln/>
        </p:spPr>
        <p:txBody>
          <a:bodyPr wrap="square" lIns="0" tIns="0" rIns="0" bIns="0" rtlCol="0" anchor="ctr"/>
          <a:lstStyle/>
          <a:p>
            <a:pPr indent="0" marL="0">
              <a:lnSpc>
                <a:spcPts val="1600"/>
              </a:lnSpc>
              <a:buNone/>
            </a:pPr>
            <a:r>
              <a:rPr lang="en-US" sz="1200" dirty="0">
                <a:solidFill>
                  <a:srgbClr val="4A3520"/>
                </a:solidFill>
                <a:latin typeface="Calibri" pitchFamily="34" charset="0"/>
                <a:ea typeface="Calibri" pitchFamily="34" charset="-122"/>
                <a:cs typeface="Calibri" pitchFamily="34" charset="-120"/>
              </a:rPr>
              <a:t>Skip straight to the answer. Treat the intern's list as a first draft to be discarded rather than organized.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6283C"/>
          </a:solidFill>
          <a:ln w="12700">
            <a:solidFill>
              <a:srgbClr val="16283C"/>
            </a:solidFill>
            <a:prstDash val="solid"/>
          </a:ln>
        </p:spPr>
      </p:sp>
      <p:sp>
        <p:nvSpPr>
          <p:cNvPr id="3" name="Shape 1"/>
          <p:cNvSpPr/>
          <p:nvPr/>
        </p:nvSpPr>
        <p:spPr>
          <a:xfrm>
            <a:off x="566928" y="777240"/>
            <a:ext cx="1234440" cy="1234440"/>
          </a:xfrm>
          <a:prstGeom prst="ellipse">
            <a:avLst/>
          </a:prstGeom>
          <a:solidFill>
            <a:srgbClr val="5F6B78"/>
          </a:solidFill>
          <a:ln w="12700">
            <a:solidFill>
              <a:srgbClr val="5F6B78"/>
            </a:solidFill>
            <a:prstDash val="solid"/>
          </a:ln>
        </p:spPr>
      </p:sp>
      <p:sp>
        <p:nvSpPr>
          <p:cNvPr id="4" name="Text 2"/>
          <p:cNvSpPr/>
          <p:nvPr/>
        </p:nvSpPr>
        <p:spPr>
          <a:xfrm>
            <a:off x="566928" y="77724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5" name="Text 3"/>
          <p:cNvSpPr/>
          <p:nvPr/>
        </p:nvSpPr>
        <p:spPr>
          <a:xfrm>
            <a:off x="566928" y="2240280"/>
            <a:ext cx="2743200" cy="256032"/>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ROLE</a:t>
            </a:r>
            <a:endParaRPr lang="en-US" sz="1100" dirty="0"/>
          </a:p>
        </p:txBody>
      </p:sp>
      <p:sp>
        <p:nvSpPr>
          <p:cNvPr id="6" name="Text 4"/>
          <p:cNvSpPr/>
          <p:nvPr/>
        </p:nvSpPr>
        <p:spPr>
          <a:xfrm>
            <a:off x="566928" y="2514600"/>
            <a:ext cx="2926080" cy="10058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Faculty</a:t>
            </a:r>
            <a:endParaRPr lang="en-US" sz="2900" dirty="0"/>
          </a:p>
        </p:txBody>
      </p:sp>
      <p:sp>
        <p:nvSpPr>
          <p:cNvPr id="7" name="Text 5"/>
          <p:cNvSpPr/>
          <p:nvPr/>
        </p:nvSpPr>
        <p:spPr>
          <a:xfrm>
            <a:off x="566928" y="3611880"/>
            <a:ext cx="2834640" cy="1463040"/>
          </a:xfrm>
          <a:prstGeom prst="rect">
            <a:avLst/>
          </a:prstGeom>
          <a:noFill/>
          <a:ln/>
        </p:spPr>
        <p:txBody>
          <a:bodyPr wrap="square" lIns="0" tIns="0" rIns="0" bIns="0" rtlCol="0" anchor="ctr"/>
          <a:lstStyle/>
          <a:p>
            <a:pPr indent="0" marL="0">
              <a:lnSpc>
                <a:spcPts val="1900"/>
              </a:lnSpc>
              <a:buNone/>
            </a:pPr>
            <a:r>
              <a:rPr lang="en-US" sz="1350" i="1" dirty="0">
                <a:solidFill>
                  <a:srgbClr val="BFD0E0"/>
                </a:solidFill>
                <a:latin typeface="Calibri" pitchFamily="34" charset="0"/>
                <a:ea typeface="Calibri" pitchFamily="34" charset="-122"/>
                <a:cs typeface="Calibri" pitchFamily="34" charset="-120"/>
              </a:rPr>
              <a:t>An expert on call, not the answer key. Presence signals that report matters; timing determines whether it helps.</a:t>
            </a:r>
            <a:endParaRPr lang="en-US" sz="1350" dirty="0"/>
          </a:p>
        </p:txBody>
      </p:sp>
      <p:sp>
        <p:nvSpPr>
          <p:cNvPr id="8" name="Text 6"/>
          <p:cNvSpPr/>
          <p:nvPr/>
        </p:nvSpPr>
        <p:spPr>
          <a:xfrm>
            <a:off x="4251960" y="6858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BEFORE REPORT</a:t>
            </a:r>
            <a:endParaRPr lang="en-US" sz="1100" dirty="0"/>
          </a:p>
        </p:txBody>
      </p:sp>
      <p:sp>
        <p:nvSpPr>
          <p:cNvPr id="9" name="Text 7"/>
          <p:cNvSpPr/>
          <p:nvPr/>
        </p:nvSpPr>
        <p:spPr>
          <a:xfrm>
            <a:off x="4251960" y="1005840"/>
            <a:ext cx="736092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Receives a short priming email: the objectives, when you enter, and what kind of contribution helps</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Skims the topic so contributions are depth, not recall</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Confirms with the facilitator whether a subspecialist, pharmacist, or microbiologist should also be invited</a:t>
            </a:r>
            <a:endParaRPr lang="en-US" sz="1250" dirty="0"/>
          </a:p>
        </p:txBody>
      </p:sp>
      <p:sp>
        <p:nvSpPr>
          <p:cNvPr id="10" name="Shape 8"/>
          <p:cNvSpPr/>
          <p:nvPr/>
        </p:nvSpPr>
        <p:spPr>
          <a:xfrm>
            <a:off x="4251960" y="2606040"/>
            <a:ext cx="7360920" cy="18288"/>
          </a:xfrm>
          <a:prstGeom prst="rect">
            <a:avLst/>
          </a:prstGeom>
          <a:solidFill>
            <a:srgbClr val="DDE4EA"/>
          </a:solidFill>
          <a:ln w="12700">
            <a:solidFill>
              <a:srgbClr val="DDE4EA"/>
            </a:solidFill>
            <a:prstDash val="solid"/>
          </a:ln>
        </p:spPr>
      </p:sp>
      <p:sp>
        <p:nvSpPr>
          <p:cNvPr id="11" name="Text 9"/>
          <p:cNvSpPr/>
          <p:nvPr/>
        </p:nvSpPr>
        <p:spPr>
          <a:xfrm>
            <a:off x="4251960" y="2743200"/>
            <a:ext cx="3657600" cy="274320"/>
          </a:xfrm>
          <a:prstGeom prst="rect">
            <a:avLst/>
          </a:prstGeom>
          <a:noFill/>
          <a:ln/>
        </p:spPr>
        <p:txBody>
          <a:bodyPr wrap="square" lIns="0" tIns="0" rIns="0" bIns="0" rtlCol="0" anchor="ctr"/>
          <a:lstStyle/>
          <a:p>
            <a:pPr indent="0" marL="0">
              <a:buNone/>
            </a:pPr>
            <a:r>
              <a:rPr lang="en-US" sz="1100" b="1" spc="200" kern="0" dirty="0">
                <a:solidFill>
                  <a:srgbClr val="2E7D8F"/>
                </a:solidFill>
                <a:latin typeface="Calibri" pitchFamily="34" charset="0"/>
                <a:ea typeface="Calibri" pitchFamily="34" charset="-122"/>
                <a:cs typeface="Calibri" pitchFamily="34" charset="-120"/>
              </a:rPr>
              <a:t>DURING REPORT</a:t>
            </a:r>
            <a:endParaRPr lang="en-US" sz="1100" dirty="0"/>
          </a:p>
        </p:txBody>
      </p:sp>
      <p:sp>
        <p:nvSpPr>
          <p:cNvPr id="12" name="Text 10"/>
          <p:cNvSpPr/>
          <p:nvPr/>
        </p:nvSpPr>
        <p:spPr>
          <a:xfrm>
            <a:off x="4251960" y="3063240"/>
            <a:ext cx="73609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Stays muted and off the discussion until 0:19 — unless a patient-safety error is being taught as correct</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Adds what residents cannot: pathophysiology depth, the evidence behind a guideline, the caveat from real practice</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Answers what is asked; redirects questions aimed at learners back to the group</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Contributes one pearl, not a lecture — 60 seconds, one point</a:t>
            </a:r>
            <a:endParaRPr lang="en-US" sz="1250" dirty="0"/>
          </a:p>
          <a:p>
            <a:pPr marL="342900" indent="-342900">
              <a:spcAft>
                <a:spcPts val="600"/>
              </a:spcAft>
              <a:buSzPct val="100000"/>
              <a:buChar char="•"/>
            </a:pPr>
            <a:r>
              <a:rPr lang="en-US" sz="1250" dirty="0">
                <a:solidFill>
                  <a:srgbClr val="2B3440"/>
                </a:solidFill>
                <a:latin typeface="Calibri" pitchFamily="34" charset="0"/>
                <a:ea typeface="Calibri" pitchFamily="34" charset="-122"/>
                <a:cs typeface="Calibri" pitchFamily="34" charset="-120"/>
              </a:rPr>
              <a:t>Closes with a two-sentence synthesis tied to the stated objective</a:t>
            </a:r>
            <a:endParaRPr lang="en-US" sz="1250" dirty="0"/>
          </a:p>
        </p:txBody>
      </p:sp>
      <p:sp>
        <p:nvSpPr>
          <p:cNvPr id="13" name="Shape 11"/>
          <p:cNvSpPr/>
          <p:nvPr/>
        </p:nvSpPr>
        <p:spPr>
          <a:xfrm>
            <a:off x="4251960" y="5138928"/>
            <a:ext cx="7360920" cy="1143000"/>
          </a:xfrm>
          <a:prstGeom prst="roundRect">
            <a:avLst>
              <a:gd name="adj" fmla="val 6400"/>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14" name="Text 12"/>
          <p:cNvSpPr/>
          <p:nvPr/>
        </p:nvSpPr>
        <p:spPr>
          <a:xfrm>
            <a:off x="4526280" y="5303520"/>
            <a:ext cx="1188720" cy="274320"/>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DOES NOT:</a:t>
            </a:r>
            <a:endParaRPr lang="en-US" sz="1100" dirty="0"/>
          </a:p>
        </p:txBody>
      </p:sp>
      <p:sp>
        <p:nvSpPr>
          <p:cNvPr id="15" name="Text 13"/>
          <p:cNvSpPr/>
          <p:nvPr/>
        </p:nvSpPr>
        <p:spPr>
          <a:xfrm>
            <a:off x="5669280" y="5303520"/>
            <a:ext cx="5715000" cy="822960"/>
          </a:xfrm>
          <a:prstGeom prst="rect">
            <a:avLst/>
          </a:prstGeom>
          <a:noFill/>
          <a:ln/>
        </p:spPr>
        <p:txBody>
          <a:bodyPr wrap="square" lIns="0" tIns="0" rIns="0" bIns="0" rtlCol="0" anchor="ctr"/>
          <a:lstStyle/>
          <a:p>
            <a:pPr indent="0" marL="0">
              <a:lnSpc>
                <a:spcPts val="1600"/>
              </a:lnSpc>
              <a:buNone/>
            </a:pPr>
            <a:r>
              <a:rPr lang="en-US" sz="1200" dirty="0">
                <a:solidFill>
                  <a:srgbClr val="4A3520"/>
                </a:solidFill>
                <a:latin typeface="Calibri" pitchFamily="34" charset="0"/>
                <a:ea typeface="Calibri" pitchFamily="34" charset="-122"/>
                <a:cs typeface="Calibri" pitchFamily="34" charset="-120"/>
              </a:rPr>
              <a:t>Answer a question the facilitator posed to a resident. Correct a learner in a way that ends participation. Take over the case.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TECHNICAL STAGING</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Zoom setup that makes this work</a:t>
            </a:r>
            <a:endParaRPr lang="en-US" sz="3200" dirty="0"/>
          </a:p>
        </p:txBody>
      </p:sp>
      <p:sp>
        <p:nvSpPr>
          <p:cNvPr id="4" name="Shape 2"/>
          <p:cNvSpPr/>
          <p:nvPr/>
        </p:nvSpPr>
        <p:spPr>
          <a:xfrm>
            <a:off x="566928" y="1572768"/>
            <a:ext cx="3566160" cy="3566160"/>
          </a:xfrm>
          <a:prstGeom prst="roundRect">
            <a:avLst>
              <a:gd name="adj" fmla="val 205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5" name="Shape 3"/>
          <p:cNvSpPr/>
          <p:nvPr/>
        </p:nvSpPr>
        <p:spPr>
          <a:xfrm>
            <a:off x="566928" y="1572768"/>
            <a:ext cx="3566160" cy="566928"/>
          </a:xfrm>
          <a:prstGeom prst="rect">
            <a:avLst/>
          </a:prstGeom>
          <a:solidFill>
            <a:srgbClr val="2E7D8F"/>
          </a:solidFill>
          <a:ln w="12700">
            <a:solidFill>
              <a:srgbClr val="2E7D8F"/>
            </a:solidFill>
            <a:prstDash val="solid"/>
          </a:ln>
        </p:spPr>
      </p:sp>
      <p:sp>
        <p:nvSpPr>
          <p:cNvPr id="6" name="Text 4"/>
          <p:cNvSpPr/>
          <p:nvPr/>
        </p:nvSpPr>
        <p:spPr>
          <a:xfrm>
            <a:off x="822960" y="1572768"/>
            <a:ext cx="3108960"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Host settings</a:t>
            </a:r>
            <a:endParaRPr lang="en-US" sz="1600" dirty="0"/>
          </a:p>
        </p:txBody>
      </p:sp>
      <p:sp>
        <p:nvSpPr>
          <p:cNvPr id="7" name="Text 5"/>
          <p:cNvSpPr/>
          <p:nvPr/>
        </p:nvSpPr>
        <p:spPr>
          <a:xfrm>
            <a:off x="822960" y="233172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Whiteboard enabled, co-annotation ON</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Multiple participants can share: OFF (avoids share fights)</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Breakout rooms pre-created, 3 per room</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Nonverbal feedback + reactions ON</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Recording OFF by default — climate over archive</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Waiting room OFF, passcode ON</a:t>
            </a:r>
            <a:endParaRPr lang="en-US" sz="1200" dirty="0"/>
          </a:p>
        </p:txBody>
      </p:sp>
      <p:sp>
        <p:nvSpPr>
          <p:cNvPr id="8" name="Shape 6"/>
          <p:cNvSpPr/>
          <p:nvPr/>
        </p:nvSpPr>
        <p:spPr>
          <a:xfrm>
            <a:off x="4315968" y="1572768"/>
            <a:ext cx="3566160" cy="3566160"/>
          </a:xfrm>
          <a:prstGeom prst="roundRect">
            <a:avLst>
              <a:gd name="adj" fmla="val 205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9" name="Shape 7"/>
          <p:cNvSpPr/>
          <p:nvPr/>
        </p:nvSpPr>
        <p:spPr>
          <a:xfrm>
            <a:off x="4315968" y="1572768"/>
            <a:ext cx="3566160" cy="566928"/>
          </a:xfrm>
          <a:prstGeom prst="rect">
            <a:avLst/>
          </a:prstGeom>
          <a:solidFill>
            <a:srgbClr val="E8A33D"/>
          </a:solidFill>
          <a:ln w="12700">
            <a:solidFill>
              <a:srgbClr val="E8A33D"/>
            </a:solidFill>
            <a:prstDash val="solid"/>
          </a:ln>
        </p:spPr>
      </p:sp>
      <p:sp>
        <p:nvSpPr>
          <p:cNvPr id="10" name="Text 8"/>
          <p:cNvSpPr/>
          <p:nvPr/>
        </p:nvSpPr>
        <p:spPr>
          <a:xfrm>
            <a:off x="4572000" y="1572768"/>
            <a:ext cx="3108960"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In the room</a:t>
            </a:r>
            <a:endParaRPr lang="en-US" sz="1600" dirty="0"/>
          </a:p>
        </p:txBody>
      </p:sp>
      <p:sp>
        <p:nvSpPr>
          <p:cNvPr id="11" name="Text 9"/>
          <p:cNvSpPr/>
          <p:nvPr/>
        </p:nvSpPr>
        <p:spPr>
          <a:xfrm>
            <a:off x="4572000" y="233172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Cameras ON for the four named roles; optional for everyone else</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Presenter shares slides during data blocks</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Scribe takes the share at each pause and holds it through both passes</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Facilitator spotlights whoever is speaking during the passes</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Whiteboard link in chat so anyone can keep it open on a second monitor</a:t>
            </a:r>
            <a:endParaRPr lang="en-US" sz="1200" dirty="0"/>
          </a:p>
        </p:txBody>
      </p:sp>
      <p:sp>
        <p:nvSpPr>
          <p:cNvPr id="12" name="Shape 10"/>
          <p:cNvSpPr/>
          <p:nvPr/>
        </p:nvSpPr>
        <p:spPr>
          <a:xfrm>
            <a:off x="8065008" y="1572768"/>
            <a:ext cx="3566160" cy="3566160"/>
          </a:xfrm>
          <a:prstGeom prst="roundRect">
            <a:avLst>
              <a:gd name="adj" fmla="val 205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3" name="Shape 11"/>
          <p:cNvSpPr/>
          <p:nvPr/>
        </p:nvSpPr>
        <p:spPr>
          <a:xfrm>
            <a:off x="8065008" y="1572768"/>
            <a:ext cx="3566160" cy="566928"/>
          </a:xfrm>
          <a:prstGeom prst="rect">
            <a:avLst/>
          </a:prstGeom>
          <a:solidFill>
            <a:srgbClr val="B23A48"/>
          </a:solidFill>
          <a:ln w="12700">
            <a:solidFill>
              <a:srgbClr val="B23A48"/>
            </a:solidFill>
            <a:prstDash val="solid"/>
          </a:ln>
        </p:spPr>
      </p:sp>
      <p:sp>
        <p:nvSpPr>
          <p:cNvPr id="14" name="Text 12"/>
          <p:cNvSpPr/>
          <p:nvPr/>
        </p:nvSpPr>
        <p:spPr>
          <a:xfrm>
            <a:off x="8321040" y="1572768"/>
            <a:ext cx="3108960"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Failure modes to pre-empt</a:t>
            </a:r>
            <a:endParaRPr lang="en-US" sz="1600" dirty="0"/>
          </a:p>
        </p:txBody>
      </p:sp>
      <p:sp>
        <p:nvSpPr>
          <p:cNvPr id="15" name="Text 13"/>
          <p:cNvSpPr/>
          <p:nvPr/>
        </p:nvSpPr>
        <p:spPr>
          <a:xfrm>
            <a:off x="8321040" y="233172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Scribe's link not posted → nobody sees the board build</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Share handoff fumbled → 90 seconds lost twice per session</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Everyone on gallery view of slides → board becomes invisible</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Chat unread → quiet learners' contributions vanish</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Test the handoff once, off-hours, before go-live</a:t>
            </a:r>
            <a:endParaRPr lang="en-US" sz="1200" dirty="0"/>
          </a:p>
        </p:txBody>
      </p:sp>
      <p:sp>
        <p:nvSpPr>
          <p:cNvPr id="16" name="Text 14"/>
          <p:cNvSpPr/>
          <p:nvPr/>
        </p:nvSpPr>
        <p:spPr>
          <a:xfrm>
            <a:off x="566928" y="5486400"/>
            <a:ext cx="11055096" cy="365760"/>
          </a:xfrm>
          <a:prstGeom prst="rect">
            <a:avLst/>
          </a:prstGeom>
          <a:noFill/>
          <a:ln/>
        </p:spPr>
        <p:txBody>
          <a:bodyPr wrap="square" lIns="0" tIns="0" rIns="0" bIns="0" rtlCol="0" anchor="ctr"/>
          <a:lstStyle/>
          <a:p>
            <a:pPr indent="0" marL="0">
              <a:buNone/>
            </a:pPr>
            <a:r>
              <a:rPr lang="en-US" sz="1300" b="1" i="1" dirty="0">
                <a:solidFill>
                  <a:srgbClr val="16283C"/>
                </a:solidFill>
                <a:latin typeface="Calibri" pitchFamily="34" charset="0"/>
                <a:ea typeface="Calibri" pitchFamily="34" charset="-122"/>
                <a:cs typeface="Calibri" pitchFamily="34" charset="-120"/>
              </a:rPr>
              <a:t>Rule of thumb: the board should be on screen more of the hour than the slides are.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SET THIS UP BEFORE EVERY REPORT</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Whiteboard template — zone map</a:t>
            </a:r>
            <a:endParaRPr lang="en-US" sz="3200" dirty="0"/>
          </a:p>
        </p:txBody>
      </p:sp>
      <p:sp>
        <p:nvSpPr>
          <p:cNvPr id="4" name="Shape 2"/>
          <p:cNvSpPr/>
          <p:nvPr/>
        </p:nvSpPr>
        <p:spPr>
          <a:xfrm>
            <a:off x="566928" y="1463040"/>
            <a:ext cx="8412480" cy="4572000"/>
          </a:xfrm>
          <a:prstGeom prst="rect">
            <a:avLst/>
          </a:prstGeom>
          <a:solidFill>
            <a:srgbClr val="FCFCFD"/>
          </a:solidFill>
          <a:ln w="15875">
            <a:solidFill>
              <a:srgbClr val="9AA7B4"/>
            </a:solidFill>
            <a:prstDash val="solid"/>
          </a:ln>
        </p:spPr>
      </p:sp>
      <p:sp>
        <p:nvSpPr>
          <p:cNvPr id="5" name="Shape 3"/>
          <p:cNvSpPr/>
          <p:nvPr/>
        </p:nvSpPr>
        <p:spPr>
          <a:xfrm>
            <a:off x="566928" y="1463040"/>
            <a:ext cx="8412480" cy="566928"/>
          </a:xfrm>
          <a:prstGeom prst="rect">
            <a:avLst/>
          </a:prstGeom>
          <a:solidFill>
            <a:srgbClr val="16283C"/>
          </a:solidFill>
          <a:ln w="12700">
            <a:solidFill>
              <a:srgbClr val="16283C"/>
            </a:solidFill>
            <a:prstDash val="solid"/>
          </a:ln>
        </p:spPr>
      </p:sp>
      <p:sp>
        <p:nvSpPr>
          <p:cNvPr id="6" name="Text 4"/>
          <p:cNvSpPr/>
          <p:nvPr/>
        </p:nvSpPr>
        <p:spPr>
          <a:xfrm>
            <a:off x="704088" y="1463040"/>
            <a:ext cx="8138160"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CASE ID: PEDS-MR-##      |      DATE: __/__      |      OBJECTIVE: ________________________________</a:t>
            </a:r>
            <a:endParaRPr lang="en-US" sz="1050" dirty="0"/>
          </a:p>
        </p:txBody>
      </p:sp>
      <p:sp>
        <p:nvSpPr>
          <p:cNvPr id="7" name="Shape 5"/>
          <p:cNvSpPr/>
          <p:nvPr/>
        </p:nvSpPr>
        <p:spPr>
          <a:xfrm>
            <a:off x="704088" y="2148840"/>
            <a:ext cx="8138160" cy="658368"/>
          </a:xfrm>
          <a:prstGeom prst="rect">
            <a:avLst/>
          </a:prstGeom>
          <a:solidFill>
            <a:srgbClr val="FBF0DE"/>
          </a:solidFill>
          <a:ln w="12700">
            <a:solidFill>
              <a:srgbClr val="E8A33D"/>
            </a:solidFill>
            <a:prstDash val="solid"/>
          </a:ln>
        </p:spPr>
      </p:sp>
      <p:sp>
        <p:nvSpPr>
          <p:cNvPr id="8" name="Text 6"/>
          <p:cNvSpPr/>
          <p:nvPr/>
        </p:nvSpPr>
        <p:spPr>
          <a:xfrm>
            <a:off x="841248" y="2176272"/>
            <a:ext cx="7863840" cy="274320"/>
          </a:xfrm>
          <a:prstGeom prst="rect">
            <a:avLst/>
          </a:prstGeom>
          <a:noFill/>
          <a:ln/>
        </p:spPr>
        <p:txBody>
          <a:bodyPr wrap="square" lIns="0" tIns="0" rIns="0" bIns="0" rtlCol="0" anchor="ctr"/>
          <a:lstStyle/>
          <a:p>
            <a:pPr indent="0" marL="0">
              <a:buNone/>
            </a:pPr>
            <a:r>
              <a:rPr lang="en-US" sz="1000" b="1" dirty="0">
                <a:solidFill>
                  <a:srgbClr val="8A6014"/>
                </a:solidFill>
                <a:latin typeface="Calibri" pitchFamily="34" charset="0"/>
                <a:ea typeface="Calibri" pitchFamily="34" charset="-122"/>
                <a:cs typeface="Calibri" pitchFamily="34" charset="-120"/>
              </a:rPr>
              <a:t>PROBLEM REPRESENTATION  (filled by PGY-1, in one sentence, out loud)</a:t>
            </a:r>
            <a:endParaRPr lang="en-US" sz="1000" dirty="0"/>
          </a:p>
        </p:txBody>
      </p:sp>
      <p:sp>
        <p:nvSpPr>
          <p:cNvPr id="9" name="Text 7"/>
          <p:cNvSpPr/>
          <p:nvPr/>
        </p:nvSpPr>
        <p:spPr>
          <a:xfrm>
            <a:off x="841248" y="2432304"/>
            <a:ext cx="7863840" cy="320040"/>
          </a:xfrm>
          <a:prstGeom prst="rect">
            <a:avLst/>
          </a:prstGeom>
          <a:noFill/>
          <a:ln/>
        </p:spPr>
        <p:txBody>
          <a:bodyPr wrap="square" lIns="0" tIns="0" rIns="0" bIns="0" rtlCol="0" anchor="ctr"/>
          <a:lstStyle/>
          <a:p>
            <a:pPr indent="0" marL="0">
              <a:buNone/>
            </a:pPr>
            <a:r>
              <a:rPr lang="en-US" sz="1100" i="1" dirty="0">
                <a:solidFill>
                  <a:srgbClr val="4A3520"/>
                </a:solidFill>
                <a:latin typeface="Calibri" pitchFamily="34" charset="0"/>
                <a:ea typeface="Calibri" pitchFamily="34" charset="-122"/>
                <a:cs typeface="Calibri" pitchFamily="34" charset="-120"/>
              </a:rPr>
              <a:t>____-year-old with ____________ presenting with ____________ over ____________</a:t>
            </a:r>
            <a:endParaRPr lang="en-US" sz="1100" dirty="0"/>
          </a:p>
        </p:txBody>
      </p:sp>
      <p:sp>
        <p:nvSpPr>
          <p:cNvPr id="10" name="Shape 8"/>
          <p:cNvSpPr/>
          <p:nvPr/>
        </p:nvSpPr>
        <p:spPr>
          <a:xfrm>
            <a:off x="704088" y="2944368"/>
            <a:ext cx="2331720" cy="2377440"/>
          </a:xfrm>
          <a:prstGeom prst="rect">
            <a:avLst/>
          </a:prstGeom>
          <a:solidFill>
            <a:srgbClr val="FFFFFF"/>
          </a:solidFill>
          <a:ln w="15875">
            <a:solidFill>
              <a:srgbClr val="16283C"/>
            </a:solidFill>
            <a:prstDash val="solid"/>
          </a:ln>
        </p:spPr>
      </p:sp>
      <p:sp>
        <p:nvSpPr>
          <p:cNvPr id="11" name="Shape 9"/>
          <p:cNvSpPr/>
          <p:nvPr/>
        </p:nvSpPr>
        <p:spPr>
          <a:xfrm>
            <a:off x="704088" y="2944368"/>
            <a:ext cx="2331720" cy="329184"/>
          </a:xfrm>
          <a:prstGeom prst="rect">
            <a:avLst/>
          </a:prstGeom>
          <a:solidFill>
            <a:srgbClr val="16283C"/>
          </a:solidFill>
          <a:ln w="12700">
            <a:solidFill>
              <a:srgbClr val="16283C"/>
            </a:solidFill>
            <a:prstDash val="solid"/>
          </a:ln>
        </p:spPr>
      </p:sp>
      <p:sp>
        <p:nvSpPr>
          <p:cNvPr id="12" name="Text 10"/>
          <p:cNvSpPr/>
          <p:nvPr/>
        </p:nvSpPr>
        <p:spPr>
          <a:xfrm>
            <a:off x="813816" y="2944368"/>
            <a:ext cx="2112264"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KEY DATA  (black)</a:t>
            </a:r>
            <a:endParaRPr lang="en-US" sz="1000" dirty="0"/>
          </a:p>
        </p:txBody>
      </p:sp>
      <p:sp>
        <p:nvSpPr>
          <p:cNvPr id="13" name="Text 11"/>
          <p:cNvSpPr/>
          <p:nvPr/>
        </p:nvSpPr>
        <p:spPr>
          <a:xfrm>
            <a:off x="832104" y="3328416"/>
            <a:ext cx="2075688" cy="1920240"/>
          </a:xfrm>
          <a:prstGeom prst="rect">
            <a:avLst/>
          </a:prstGeom>
          <a:noFill/>
          <a:ln/>
        </p:spPr>
        <p:txBody>
          <a:bodyPr wrap="square" lIns="0" tIns="0" rIns="0" bIns="0" rtlCol="0" anchor="ctr"/>
          <a:lstStyle/>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Hx</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exposures / sick contacts</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birth, immunizations</a:t>
            </a:r>
            <a:endParaRPr lang="en-US" sz="950" dirty="0"/>
          </a:p>
          <a:p>
            <a:pPr indent="0" marL="0">
              <a:lnSpc>
                <a:spcPts val="1300"/>
              </a:lnSpc>
              <a:buNone/>
            </a:pP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Exam</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vitals, growth</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pertinent pos / neg</a:t>
            </a:r>
            <a:endParaRPr lang="en-US" sz="950" dirty="0"/>
          </a:p>
          <a:p>
            <a:pPr indent="0" marL="0">
              <a:lnSpc>
                <a:spcPts val="1300"/>
              </a:lnSpc>
              <a:buNone/>
            </a:pP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Labs + Imaging</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block 1</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block 2</a:t>
            </a:r>
            <a:endParaRPr lang="en-US" sz="950" dirty="0"/>
          </a:p>
        </p:txBody>
      </p:sp>
      <p:sp>
        <p:nvSpPr>
          <p:cNvPr id="14" name="Shape 12"/>
          <p:cNvSpPr/>
          <p:nvPr/>
        </p:nvSpPr>
        <p:spPr>
          <a:xfrm>
            <a:off x="3172968" y="2944368"/>
            <a:ext cx="3200400" cy="2377440"/>
          </a:xfrm>
          <a:prstGeom prst="rect">
            <a:avLst/>
          </a:prstGeom>
          <a:solidFill>
            <a:srgbClr val="FFFFFF"/>
          </a:solidFill>
          <a:ln w="15875">
            <a:solidFill>
              <a:srgbClr val="2E7D8F"/>
            </a:solidFill>
            <a:prstDash val="solid"/>
          </a:ln>
        </p:spPr>
      </p:sp>
      <p:sp>
        <p:nvSpPr>
          <p:cNvPr id="15" name="Shape 13"/>
          <p:cNvSpPr/>
          <p:nvPr/>
        </p:nvSpPr>
        <p:spPr>
          <a:xfrm>
            <a:off x="3172968" y="2944368"/>
            <a:ext cx="3200400" cy="329184"/>
          </a:xfrm>
          <a:prstGeom prst="rect">
            <a:avLst/>
          </a:prstGeom>
          <a:solidFill>
            <a:srgbClr val="2E7D8F"/>
          </a:solidFill>
          <a:ln w="12700">
            <a:solidFill>
              <a:srgbClr val="2E7D8F"/>
            </a:solidFill>
            <a:prstDash val="solid"/>
          </a:ln>
        </p:spPr>
      </p:sp>
      <p:sp>
        <p:nvSpPr>
          <p:cNvPr id="16" name="Text 14"/>
          <p:cNvSpPr/>
          <p:nvPr/>
        </p:nvSpPr>
        <p:spPr>
          <a:xfrm>
            <a:off x="3282696" y="2944368"/>
            <a:ext cx="2980944"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DIFFERENTIAL  (blue → struck in red)</a:t>
            </a:r>
            <a:endParaRPr lang="en-US" sz="1000" dirty="0"/>
          </a:p>
        </p:txBody>
      </p:sp>
      <p:sp>
        <p:nvSpPr>
          <p:cNvPr id="17" name="Text 15"/>
          <p:cNvSpPr/>
          <p:nvPr/>
        </p:nvSpPr>
        <p:spPr>
          <a:xfrm>
            <a:off x="3300984" y="3328416"/>
            <a:ext cx="2944368" cy="1920240"/>
          </a:xfrm>
          <a:prstGeom prst="rect">
            <a:avLst/>
          </a:prstGeom>
          <a:noFill/>
          <a:ln/>
        </p:spPr>
        <p:txBody>
          <a:bodyPr wrap="square" lIns="0" tIns="0" rIns="0" bIns="0" rtlCol="0" anchor="ctr"/>
          <a:lstStyle/>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Framework: ______________________</a:t>
            </a:r>
            <a:endParaRPr lang="en-US" sz="950" dirty="0"/>
          </a:p>
          <a:p>
            <a:pPr indent="0" marL="0">
              <a:lnSpc>
                <a:spcPts val="1300"/>
              </a:lnSpc>
              <a:buNone/>
            </a:pP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1. ______________________</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2. ______________________</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3. ______________________</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4. ______________________</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5. ______________________</a:t>
            </a:r>
            <a:endParaRPr lang="en-US" sz="950" dirty="0"/>
          </a:p>
          <a:p>
            <a:pPr indent="0" marL="0">
              <a:lnSpc>
                <a:spcPts val="1300"/>
              </a:lnSpc>
              <a:buNone/>
            </a:pP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Struck items stay visible with the</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reason written beside them.</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Nothing gets erased.</a:t>
            </a:r>
            <a:endParaRPr lang="en-US" sz="950" dirty="0"/>
          </a:p>
        </p:txBody>
      </p:sp>
      <p:sp>
        <p:nvSpPr>
          <p:cNvPr id="18" name="Shape 16"/>
          <p:cNvSpPr/>
          <p:nvPr/>
        </p:nvSpPr>
        <p:spPr>
          <a:xfrm>
            <a:off x="6510528" y="2944368"/>
            <a:ext cx="2331720" cy="2377440"/>
          </a:xfrm>
          <a:prstGeom prst="rect">
            <a:avLst/>
          </a:prstGeom>
          <a:solidFill>
            <a:srgbClr val="FFFFFF"/>
          </a:solidFill>
          <a:ln w="15875">
            <a:solidFill>
              <a:srgbClr val="3F7D5C"/>
            </a:solidFill>
            <a:prstDash val="solid"/>
          </a:ln>
        </p:spPr>
      </p:sp>
      <p:sp>
        <p:nvSpPr>
          <p:cNvPr id="19" name="Shape 17"/>
          <p:cNvSpPr/>
          <p:nvPr/>
        </p:nvSpPr>
        <p:spPr>
          <a:xfrm>
            <a:off x="6510528" y="2944368"/>
            <a:ext cx="2331720" cy="329184"/>
          </a:xfrm>
          <a:prstGeom prst="rect">
            <a:avLst/>
          </a:prstGeom>
          <a:solidFill>
            <a:srgbClr val="3F7D5C"/>
          </a:solidFill>
          <a:ln w="12700">
            <a:solidFill>
              <a:srgbClr val="3F7D5C"/>
            </a:solidFill>
            <a:prstDash val="solid"/>
          </a:ln>
        </p:spPr>
      </p:sp>
      <p:sp>
        <p:nvSpPr>
          <p:cNvPr id="20" name="Text 18"/>
          <p:cNvSpPr/>
          <p:nvPr/>
        </p:nvSpPr>
        <p:spPr>
          <a:xfrm>
            <a:off x="6620256" y="2944368"/>
            <a:ext cx="2112264"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DISCRIMINATORS  (green)</a:t>
            </a:r>
            <a:endParaRPr lang="en-US" sz="1000" dirty="0"/>
          </a:p>
        </p:txBody>
      </p:sp>
      <p:sp>
        <p:nvSpPr>
          <p:cNvPr id="21" name="Text 19"/>
          <p:cNvSpPr/>
          <p:nvPr/>
        </p:nvSpPr>
        <p:spPr>
          <a:xfrm>
            <a:off x="6638544" y="3328416"/>
            <a:ext cx="2075688" cy="1920240"/>
          </a:xfrm>
          <a:prstGeom prst="rect">
            <a:avLst/>
          </a:prstGeom>
          <a:noFill/>
          <a:ln/>
        </p:spPr>
        <p:txBody>
          <a:bodyPr wrap="square" lIns="0" tIns="0" rIns="0" bIns="0" rtlCol="0" anchor="ctr"/>
          <a:lstStyle/>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Most useful next test:</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______________________</a:t>
            </a:r>
            <a:endParaRPr lang="en-US" sz="950" dirty="0"/>
          </a:p>
          <a:p>
            <a:pPr indent="0" marL="0">
              <a:lnSpc>
                <a:spcPts val="1300"/>
              </a:lnSpc>
              <a:buNone/>
            </a:pP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If positive → ____________</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If negative → ____________</a:t>
            </a:r>
            <a:endParaRPr lang="en-US" sz="950" dirty="0"/>
          </a:p>
          <a:p>
            <a:pPr indent="0" marL="0">
              <a:lnSpc>
                <a:spcPts val="1300"/>
              </a:lnSpc>
              <a:buNone/>
            </a:pP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PENDING</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______________</a:t>
            </a: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  • ______________</a:t>
            </a:r>
            <a:endParaRPr lang="en-US" sz="950" dirty="0"/>
          </a:p>
          <a:p>
            <a:pPr indent="0" marL="0">
              <a:lnSpc>
                <a:spcPts val="1300"/>
              </a:lnSpc>
              <a:buNone/>
            </a:pPr>
            <a:endParaRPr lang="en-US" sz="950" dirty="0"/>
          </a:p>
          <a:p>
            <a:pPr indent="0" marL="0">
              <a:lnSpc>
                <a:spcPts val="1300"/>
              </a:lnSpc>
              <a:buNone/>
            </a:pPr>
            <a:r>
              <a:rPr lang="en-US" sz="950" dirty="0">
                <a:solidFill>
                  <a:srgbClr val="3D4855"/>
                </a:solidFill>
                <a:latin typeface="Calibri" pitchFamily="34" charset="0"/>
                <a:ea typeface="Calibri" pitchFamily="34" charset="-122"/>
                <a:cs typeface="Calibri" pitchFamily="34" charset="-120"/>
              </a:rPr>
              <a:t>Bias watch: ____________</a:t>
            </a:r>
            <a:endParaRPr lang="en-US" sz="950" dirty="0"/>
          </a:p>
        </p:txBody>
      </p:sp>
      <p:sp>
        <p:nvSpPr>
          <p:cNvPr id="22" name="Shape 20"/>
          <p:cNvSpPr/>
          <p:nvPr/>
        </p:nvSpPr>
        <p:spPr>
          <a:xfrm>
            <a:off x="704088" y="5449824"/>
            <a:ext cx="4000500" cy="530352"/>
          </a:xfrm>
          <a:prstGeom prst="rect">
            <a:avLst/>
          </a:prstGeom>
          <a:solidFill>
            <a:srgbClr val="EEF2F5"/>
          </a:solidFill>
          <a:ln w="12700">
            <a:solidFill>
              <a:srgbClr val="9AA7B4"/>
            </a:solidFill>
            <a:prstDash val="solid"/>
          </a:ln>
        </p:spPr>
      </p:sp>
      <p:sp>
        <p:nvSpPr>
          <p:cNvPr id="23" name="Text 21"/>
          <p:cNvSpPr/>
          <p:nvPr/>
        </p:nvSpPr>
        <p:spPr>
          <a:xfrm>
            <a:off x="841248" y="5449824"/>
            <a:ext cx="3726180" cy="530352"/>
          </a:xfrm>
          <a:prstGeom prst="rect">
            <a:avLst/>
          </a:prstGeom>
          <a:noFill/>
          <a:ln/>
        </p:spPr>
        <p:txBody>
          <a:bodyPr wrap="square" lIns="0" tIns="0" rIns="0" bIns="0" rtlCol="0" anchor="ctr"/>
          <a:lstStyle/>
          <a:p>
            <a:pPr indent="0" marL="0">
              <a:buNone/>
            </a:pPr>
            <a:r>
              <a:rPr lang="en-US" sz="1000" b="1" dirty="0">
                <a:solidFill>
                  <a:srgbClr val="16283C"/>
                </a:solidFill>
                <a:latin typeface="Calibri" pitchFamily="34" charset="0"/>
                <a:ea typeface="Calibri" pitchFamily="34" charset="-122"/>
                <a:cs typeface="Calibri" pitchFamily="34" charset="-120"/>
              </a:rPr>
              <a:t>WORKING DX + CONFIDENCE + PLAN</a:t>
            </a:r>
            <a:endParaRPr lang="en-US" sz="1000" dirty="0"/>
          </a:p>
        </p:txBody>
      </p:sp>
      <p:sp>
        <p:nvSpPr>
          <p:cNvPr id="24" name="Shape 22"/>
          <p:cNvSpPr/>
          <p:nvPr/>
        </p:nvSpPr>
        <p:spPr>
          <a:xfrm>
            <a:off x="4841748" y="5449824"/>
            <a:ext cx="4000500" cy="530352"/>
          </a:xfrm>
          <a:prstGeom prst="rect">
            <a:avLst/>
          </a:prstGeom>
          <a:solidFill>
            <a:srgbClr val="EEF2F5"/>
          </a:solidFill>
          <a:ln w="12700">
            <a:solidFill>
              <a:srgbClr val="9AA7B4"/>
            </a:solidFill>
            <a:prstDash val="solid"/>
          </a:ln>
        </p:spPr>
      </p:sp>
      <p:sp>
        <p:nvSpPr>
          <p:cNvPr id="25" name="Text 23"/>
          <p:cNvSpPr/>
          <p:nvPr/>
        </p:nvSpPr>
        <p:spPr>
          <a:xfrm>
            <a:off x="4978908" y="5449824"/>
            <a:ext cx="3726180" cy="530352"/>
          </a:xfrm>
          <a:prstGeom prst="rect">
            <a:avLst/>
          </a:prstGeom>
          <a:noFill/>
          <a:ln/>
        </p:spPr>
        <p:txBody>
          <a:bodyPr wrap="square" lIns="0" tIns="0" rIns="0" bIns="0" rtlCol="0" anchor="ctr"/>
          <a:lstStyle/>
          <a:p>
            <a:pPr indent="0" marL="0">
              <a:buNone/>
            </a:pPr>
            <a:r>
              <a:rPr lang="en-US" sz="1000" b="1" dirty="0">
                <a:solidFill>
                  <a:srgbClr val="16283C"/>
                </a:solidFill>
                <a:latin typeface="Calibri" pitchFamily="34" charset="0"/>
                <a:ea typeface="Calibri" pitchFamily="34" charset="-122"/>
                <a:cs typeface="Calibri" pitchFamily="34" charset="-120"/>
              </a:rPr>
              <a:t>2–3 TAKE-HOME POINTS  →  exported at 0:24</a:t>
            </a:r>
            <a:endParaRPr lang="en-US" sz="1000" dirty="0"/>
          </a:p>
        </p:txBody>
      </p:sp>
      <p:sp>
        <p:nvSpPr>
          <p:cNvPr id="26" name="Shape 24"/>
          <p:cNvSpPr/>
          <p:nvPr/>
        </p:nvSpPr>
        <p:spPr>
          <a:xfrm>
            <a:off x="9189720" y="1463040"/>
            <a:ext cx="2432304" cy="4572000"/>
          </a:xfrm>
          <a:prstGeom prst="roundRect">
            <a:avLst>
              <a:gd name="adj" fmla="val 3008"/>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27" name="Text 25"/>
          <p:cNvSpPr/>
          <p:nvPr/>
        </p:nvSpPr>
        <p:spPr>
          <a:xfrm>
            <a:off x="9418320" y="1664208"/>
            <a:ext cx="2011680" cy="32004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Why zones</a:t>
            </a:r>
            <a:endParaRPr lang="en-US" sz="1600" dirty="0"/>
          </a:p>
        </p:txBody>
      </p:sp>
      <p:sp>
        <p:nvSpPr>
          <p:cNvPr id="28" name="Text 26"/>
          <p:cNvSpPr/>
          <p:nvPr/>
        </p:nvSpPr>
        <p:spPr>
          <a:xfrm>
            <a:off x="9418320" y="2103120"/>
            <a:ext cx="2011680" cy="3749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D7E2EC"/>
                </a:solidFill>
                <a:latin typeface="Calibri" pitchFamily="34" charset="0"/>
                <a:ea typeface="Calibri" pitchFamily="34" charset="-122"/>
                <a:cs typeface="Calibri" pitchFamily="34" charset="-120"/>
              </a:rPr>
              <a:t>Data on the left never moves — it is the shared record of the case.</a:t>
            </a:r>
            <a:endParaRPr lang="en-US" sz="1100" dirty="0"/>
          </a:p>
          <a:p>
            <a:pPr marL="342900" indent="-342900">
              <a:spcAft>
                <a:spcPts val="600"/>
              </a:spcAft>
              <a:buSzPct val="100000"/>
              <a:buChar char="•"/>
            </a:pPr>
            <a:r>
              <a:rPr lang="en-US" sz="1100" dirty="0">
                <a:solidFill>
                  <a:srgbClr val="D7E2EC"/>
                </a:solidFill>
                <a:latin typeface="Calibri" pitchFamily="34" charset="0"/>
                <a:ea typeface="Calibri" pitchFamily="34" charset="-122"/>
                <a:cs typeface="Calibri" pitchFamily="34" charset="-120"/>
              </a:rPr>
              <a:t>The middle column is where the work happens, and it should look messy.</a:t>
            </a:r>
            <a:endParaRPr lang="en-US" sz="1100" dirty="0"/>
          </a:p>
          <a:p>
            <a:pPr marL="342900" indent="-342900">
              <a:spcAft>
                <a:spcPts val="600"/>
              </a:spcAft>
              <a:buSzPct val="100000"/>
              <a:buChar char="•"/>
            </a:pPr>
            <a:r>
              <a:rPr lang="en-US" sz="1100" dirty="0">
                <a:solidFill>
                  <a:srgbClr val="D7E2EC"/>
                </a:solidFill>
                <a:latin typeface="Calibri" pitchFamily="34" charset="0"/>
                <a:ea typeface="Calibri" pitchFamily="34" charset="-122"/>
                <a:cs typeface="Calibri" pitchFamily="34" charset="-120"/>
              </a:rPr>
              <a:t>The right column is the anti-anchoring column: it forces a stated test and a stated trigger.</a:t>
            </a:r>
            <a:endParaRPr lang="en-US" sz="1100" dirty="0"/>
          </a:p>
          <a:p>
            <a:pPr marL="342900" indent="-342900">
              <a:spcAft>
                <a:spcPts val="600"/>
              </a:spcAft>
              <a:buSzPct val="100000"/>
              <a:buChar char="•"/>
            </a:pPr>
            <a:r>
              <a:rPr lang="en-US" sz="1100" dirty="0">
                <a:solidFill>
                  <a:srgbClr val="D7E2EC"/>
                </a:solidFill>
                <a:latin typeface="Calibri" pitchFamily="34" charset="0"/>
                <a:ea typeface="Calibri" pitchFamily="34" charset="-122"/>
                <a:cs typeface="Calibri" pitchFamily="34" charset="-120"/>
              </a:rPr>
              <a:t>The bottom strip is the only part that gets read aloud at the end.</a:t>
            </a:r>
            <a:endParaRPr lang="en-US" sz="1100" dirty="0"/>
          </a:p>
          <a:p>
            <a:pPr marL="342900" indent="-342900">
              <a:spcAft>
                <a:spcPts val="600"/>
              </a:spcAft>
              <a:buSzPct val="100000"/>
              <a:buChar char="•"/>
            </a:pPr>
            <a:r>
              <a:rPr lang="en-US" sz="1100" dirty="0">
                <a:solidFill>
                  <a:srgbClr val="D7E2EC"/>
                </a:solidFill>
                <a:latin typeface="Calibri" pitchFamily="34" charset="0"/>
                <a:ea typeface="Calibri" pitchFamily="34" charset="-122"/>
                <a:cs typeface="Calibri" pitchFamily="34" charset="-120"/>
              </a:rPr>
              <a:t>Blank zones at 0:16 tell you which segment ran long.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SCRIBE CONVENTIONS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Whiteboard rules of the road</a:t>
            </a:r>
            <a:endParaRPr lang="en-US" sz="3200" dirty="0"/>
          </a:p>
        </p:txBody>
      </p:sp>
      <p:sp>
        <p:nvSpPr>
          <p:cNvPr id="4" name="Shape 2"/>
          <p:cNvSpPr/>
          <p:nvPr/>
        </p:nvSpPr>
        <p:spPr>
          <a:xfrm>
            <a:off x="566928" y="1600200"/>
            <a:ext cx="1234440" cy="566928"/>
          </a:xfrm>
          <a:prstGeom prst="roundRect">
            <a:avLst>
              <a:gd name="adj" fmla="val 12903"/>
            </a:avLst>
          </a:prstGeom>
          <a:solidFill>
            <a:srgbClr val="111111"/>
          </a:solidFill>
          <a:ln w="12700">
            <a:solidFill>
              <a:srgbClr val="111111"/>
            </a:solidFill>
            <a:prstDash val="solid"/>
          </a:ln>
        </p:spPr>
      </p:sp>
      <p:sp>
        <p:nvSpPr>
          <p:cNvPr id="5" name="Text 3"/>
          <p:cNvSpPr/>
          <p:nvPr/>
        </p:nvSpPr>
        <p:spPr>
          <a:xfrm>
            <a:off x="566928" y="1600200"/>
            <a:ext cx="1234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Black</a:t>
            </a:r>
            <a:endParaRPr lang="en-US" sz="1300" dirty="0"/>
          </a:p>
        </p:txBody>
      </p:sp>
      <p:sp>
        <p:nvSpPr>
          <p:cNvPr id="6" name="Text 4"/>
          <p:cNvSpPr/>
          <p:nvPr/>
        </p:nvSpPr>
        <p:spPr>
          <a:xfrm>
            <a:off x="1965960" y="1600200"/>
            <a:ext cx="4206240" cy="566928"/>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Objective case data as released by the presenter</a:t>
            </a:r>
            <a:endParaRPr lang="en-US" sz="1250" dirty="0"/>
          </a:p>
        </p:txBody>
      </p:sp>
      <p:sp>
        <p:nvSpPr>
          <p:cNvPr id="7" name="Shape 5"/>
          <p:cNvSpPr/>
          <p:nvPr/>
        </p:nvSpPr>
        <p:spPr>
          <a:xfrm>
            <a:off x="566928" y="2313432"/>
            <a:ext cx="1234440" cy="566928"/>
          </a:xfrm>
          <a:prstGeom prst="roundRect">
            <a:avLst>
              <a:gd name="adj" fmla="val 12903"/>
            </a:avLst>
          </a:prstGeom>
          <a:solidFill>
            <a:srgbClr val="2E7D8F"/>
          </a:solidFill>
          <a:ln w="12700">
            <a:solidFill>
              <a:srgbClr val="2E7D8F"/>
            </a:solidFill>
            <a:prstDash val="solid"/>
          </a:ln>
        </p:spPr>
      </p:sp>
      <p:sp>
        <p:nvSpPr>
          <p:cNvPr id="8" name="Text 6"/>
          <p:cNvSpPr/>
          <p:nvPr/>
        </p:nvSpPr>
        <p:spPr>
          <a:xfrm>
            <a:off x="566928" y="2313432"/>
            <a:ext cx="1234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Blue</a:t>
            </a:r>
            <a:endParaRPr lang="en-US" sz="1300" dirty="0"/>
          </a:p>
        </p:txBody>
      </p:sp>
      <p:sp>
        <p:nvSpPr>
          <p:cNvPr id="9" name="Text 7"/>
          <p:cNvSpPr/>
          <p:nvPr/>
        </p:nvSpPr>
        <p:spPr>
          <a:xfrm>
            <a:off x="1965960" y="2313432"/>
            <a:ext cx="4206240" cy="566928"/>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Live differential — anything a participant says aloud</a:t>
            </a:r>
            <a:endParaRPr lang="en-US" sz="1250" dirty="0"/>
          </a:p>
        </p:txBody>
      </p:sp>
      <p:sp>
        <p:nvSpPr>
          <p:cNvPr id="10" name="Shape 8"/>
          <p:cNvSpPr/>
          <p:nvPr/>
        </p:nvSpPr>
        <p:spPr>
          <a:xfrm>
            <a:off x="566928" y="3026664"/>
            <a:ext cx="1234440" cy="566928"/>
          </a:xfrm>
          <a:prstGeom prst="roundRect">
            <a:avLst>
              <a:gd name="adj" fmla="val 12903"/>
            </a:avLst>
          </a:prstGeom>
          <a:solidFill>
            <a:srgbClr val="B23A48"/>
          </a:solidFill>
          <a:ln w="12700">
            <a:solidFill>
              <a:srgbClr val="B23A48"/>
            </a:solidFill>
            <a:prstDash val="solid"/>
          </a:ln>
        </p:spPr>
      </p:sp>
      <p:sp>
        <p:nvSpPr>
          <p:cNvPr id="11" name="Text 9"/>
          <p:cNvSpPr/>
          <p:nvPr/>
        </p:nvSpPr>
        <p:spPr>
          <a:xfrm>
            <a:off x="566928" y="3026664"/>
            <a:ext cx="1234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Red</a:t>
            </a:r>
            <a:endParaRPr lang="en-US" sz="1300" dirty="0"/>
          </a:p>
        </p:txBody>
      </p:sp>
      <p:sp>
        <p:nvSpPr>
          <p:cNvPr id="12" name="Text 10"/>
          <p:cNvSpPr/>
          <p:nvPr/>
        </p:nvSpPr>
        <p:spPr>
          <a:xfrm>
            <a:off x="1965960" y="3026664"/>
            <a:ext cx="4206240" cy="566928"/>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Struck through when refuted, with the refuting feature written beside it</a:t>
            </a:r>
            <a:endParaRPr lang="en-US" sz="1250" dirty="0"/>
          </a:p>
        </p:txBody>
      </p:sp>
      <p:sp>
        <p:nvSpPr>
          <p:cNvPr id="13" name="Shape 11"/>
          <p:cNvSpPr/>
          <p:nvPr/>
        </p:nvSpPr>
        <p:spPr>
          <a:xfrm>
            <a:off x="566928" y="3739896"/>
            <a:ext cx="1234440" cy="566928"/>
          </a:xfrm>
          <a:prstGeom prst="roundRect">
            <a:avLst>
              <a:gd name="adj" fmla="val 12903"/>
            </a:avLst>
          </a:prstGeom>
          <a:solidFill>
            <a:srgbClr val="3F7D5C"/>
          </a:solidFill>
          <a:ln w="12700">
            <a:solidFill>
              <a:srgbClr val="3F7D5C"/>
            </a:solidFill>
            <a:prstDash val="solid"/>
          </a:ln>
        </p:spPr>
      </p:sp>
      <p:sp>
        <p:nvSpPr>
          <p:cNvPr id="14" name="Text 12"/>
          <p:cNvSpPr/>
          <p:nvPr/>
        </p:nvSpPr>
        <p:spPr>
          <a:xfrm>
            <a:off x="566928" y="3739896"/>
            <a:ext cx="1234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Green</a:t>
            </a:r>
            <a:endParaRPr lang="en-US" sz="1300" dirty="0"/>
          </a:p>
        </p:txBody>
      </p:sp>
      <p:sp>
        <p:nvSpPr>
          <p:cNvPr id="15" name="Text 13"/>
          <p:cNvSpPr/>
          <p:nvPr/>
        </p:nvSpPr>
        <p:spPr>
          <a:xfrm>
            <a:off x="1965960" y="3739896"/>
            <a:ext cx="4206240" cy="566928"/>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Plan, pending data, discriminating tests</a:t>
            </a:r>
            <a:endParaRPr lang="en-US" sz="1250" dirty="0"/>
          </a:p>
        </p:txBody>
      </p:sp>
      <p:sp>
        <p:nvSpPr>
          <p:cNvPr id="16" name="Shape 14"/>
          <p:cNvSpPr/>
          <p:nvPr/>
        </p:nvSpPr>
        <p:spPr>
          <a:xfrm>
            <a:off x="566928" y="4453128"/>
            <a:ext cx="1234440" cy="566928"/>
          </a:xfrm>
          <a:prstGeom prst="roundRect">
            <a:avLst>
              <a:gd name="adj" fmla="val 12903"/>
            </a:avLst>
          </a:prstGeom>
          <a:solidFill>
            <a:srgbClr val="E8A33D"/>
          </a:solidFill>
          <a:ln w="12700">
            <a:solidFill>
              <a:srgbClr val="E8A33D"/>
            </a:solidFill>
            <a:prstDash val="solid"/>
          </a:ln>
        </p:spPr>
      </p:sp>
      <p:sp>
        <p:nvSpPr>
          <p:cNvPr id="17" name="Text 15"/>
          <p:cNvSpPr/>
          <p:nvPr/>
        </p:nvSpPr>
        <p:spPr>
          <a:xfrm>
            <a:off x="566928" y="4453128"/>
            <a:ext cx="12344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Amber</a:t>
            </a:r>
            <a:endParaRPr lang="en-US" sz="1300" dirty="0"/>
          </a:p>
        </p:txBody>
      </p:sp>
      <p:sp>
        <p:nvSpPr>
          <p:cNvPr id="18" name="Text 16"/>
          <p:cNvSpPr/>
          <p:nvPr/>
        </p:nvSpPr>
        <p:spPr>
          <a:xfrm>
            <a:off x="1965960" y="4453128"/>
            <a:ext cx="4206240" cy="566928"/>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Teaching points and anything faculty adds after 0:19</a:t>
            </a:r>
            <a:endParaRPr lang="en-US" sz="1250" dirty="0"/>
          </a:p>
        </p:txBody>
      </p:sp>
      <p:sp>
        <p:nvSpPr>
          <p:cNvPr id="19" name="Shape 17"/>
          <p:cNvSpPr/>
          <p:nvPr/>
        </p:nvSpPr>
        <p:spPr>
          <a:xfrm>
            <a:off x="6446520" y="1572768"/>
            <a:ext cx="5175504" cy="4114800"/>
          </a:xfrm>
          <a:prstGeom prst="roundRect">
            <a:avLst>
              <a:gd name="adj" fmla="val 17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0" name="Text 18"/>
          <p:cNvSpPr/>
          <p:nvPr/>
        </p:nvSpPr>
        <p:spPr>
          <a:xfrm>
            <a:off x="6720840" y="1755648"/>
            <a:ext cx="4663440" cy="365760"/>
          </a:xfrm>
          <a:prstGeom prst="rect">
            <a:avLst/>
          </a:prstGeom>
          <a:noFill/>
          <a:ln/>
        </p:spPr>
        <p:txBody>
          <a:bodyPr wrap="square" lIns="0" tIns="0" rIns="0" bIns="0" rtlCol="0" anchor="ctr"/>
          <a:lstStyle/>
          <a:p>
            <a:pPr indent="0" marL="0">
              <a:buNone/>
            </a:pPr>
            <a:r>
              <a:rPr lang="en-US" sz="1700" b="1" dirty="0">
                <a:solidFill>
                  <a:srgbClr val="16283C"/>
                </a:solidFill>
                <a:latin typeface="Cambria" pitchFamily="34" charset="0"/>
                <a:ea typeface="Cambria" pitchFamily="34" charset="-122"/>
                <a:cs typeface="Cambria" pitchFamily="34" charset="-120"/>
              </a:rPr>
              <a:t>Three habits that make the board work</a:t>
            </a:r>
            <a:endParaRPr lang="en-US" sz="1700" dirty="0"/>
          </a:p>
        </p:txBody>
      </p:sp>
      <p:sp>
        <p:nvSpPr>
          <p:cNvPr id="21" name="Shape 19"/>
          <p:cNvSpPr/>
          <p:nvPr/>
        </p:nvSpPr>
        <p:spPr>
          <a:xfrm>
            <a:off x="6720840" y="2240280"/>
            <a:ext cx="384048" cy="384048"/>
          </a:xfrm>
          <a:prstGeom prst="ellipse">
            <a:avLst/>
          </a:prstGeom>
          <a:solidFill>
            <a:srgbClr val="16283C"/>
          </a:solidFill>
          <a:ln w="12700">
            <a:solidFill>
              <a:srgbClr val="16283C"/>
            </a:solidFill>
            <a:prstDash val="solid"/>
          </a:ln>
        </p:spPr>
      </p:sp>
      <p:sp>
        <p:nvSpPr>
          <p:cNvPr id="22" name="Text 20"/>
          <p:cNvSpPr/>
          <p:nvPr/>
        </p:nvSpPr>
        <p:spPr>
          <a:xfrm>
            <a:off x="672084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3" name="Text 21"/>
          <p:cNvSpPr/>
          <p:nvPr/>
        </p:nvSpPr>
        <p:spPr>
          <a:xfrm>
            <a:off x="7242048" y="2221992"/>
            <a:ext cx="4114800" cy="292608"/>
          </a:xfrm>
          <a:prstGeom prst="rect">
            <a:avLst/>
          </a:prstGeom>
          <a:noFill/>
          <a:ln/>
        </p:spPr>
        <p:txBody>
          <a:bodyPr wrap="square" lIns="0" tIns="0" rIns="0" bIns="0" rtlCol="0" anchor="ctr"/>
          <a:lstStyle/>
          <a:p>
            <a:pPr indent="0" marL="0">
              <a:buNone/>
            </a:pPr>
            <a:r>
              <a:rPr lang="en-US" sz="1300" b="1" dirty="0">
                <a:solidFill>
                  <a:srgbClr val="16283C"/>
                </a:solidFill>
                <a:latin typeface="Calibri" pitchFamily="34" charset="0"/>
                <a:ea typeface="Calibri" pitchFamily="34" charset="-122"/>
                <a:cs typeface="Calibri" pitchFamily="34" charset="-120"/>
              </a:rPr>
              <a:t>Never erase.</a:t>
            </a:r>
            <a:endParaRPr lang="en-US" sz="1300" dirty="0"/>
          </a:p>
        </p:txBody>
      </p:sp>
      <p:sp>
        <p:nvSpPr>
          <p:cNvPr id="24" name="Text 22"/>
          <p:cNvSpPr/>
          <p:nvPr/>
        </p:nvSpPr>
        <p:spPr>
          <a:xfrm>
            <a:off x="7242048" y="2514600"/>
            <a:ext cx="4114800" cy="777240"/>
          </a:xfrm>
          <a:prstGeom prst="rect">
            <a:avLst/>
          </a:prstGeom>
          <a:noFill/>
          <a:ln/>
        </p:spPr>
        <p:txBody>
          <a:bodyPr wrap="square" lIns="0" tIns="0" rIns="0" bIns="0" rtlCol="0" anchor="ctr"/>
          <a:lstStyle/>
          <a:p>
            <a:pPr indent="0" marL="0">
              <a:lnSpc>
                <a:spcPts val="1500"/>
              </a:lnSpc>
              <a:buNone/>
            </a:pPr>
            <a:r>
              <a:rPr lang="en-US" sz="1150" dirty="0">
                <a:solidFill>
                  <a:srgbClr val="3D4855"/>
                </a:solidFill>
                <a:latin typeface="Calibri" pitchFamily="34" charset="0"/>
                <a:ea typeface="Calibri" pitchFamily="34" charset="-122"/>
                <a:cs typeface="Calibri" pitchFamily="34" charset="-120"/>
              </a:rPr>
              <a:t>A crossed-off diagnosis with a reason beside it is the single most useful thing on the board.</a:t>
            </a:r>
            <a:endParaRPr lang="en-US" sz="1150" dirty="0"/>
          </a:p>
        </p:txBody>
      </p:sp>
      <p:sp>
        <p:nvSpPr>
          <p:cNvPr id="25" name="Shape 23"/>
          <p:cNvSpPr/>
          <p:nvPr/>
        </p:nvSpPr>
        <p:spPr>
          <a:xfrm>
            <a:off x="6720840" y="3410712"/>
            <a:ext cx="384048" cy="384048"/>
          </a:xfrm>
          <a:prstGeom prst="ellipse">
            <a:avLst/>
          </a:prstGeom>
          <a:solidFill>
            <a:srgbClr val="16283C"/>
          </a:solidFill>
          <a:ln w="12700">
            <a:solidFill>
              <a:srgbClr val="16283C"/>
            </a:solidFill>
            <a:prstDash val="solid"/>
          </a:ln>
        </p:spPr>
      </p:sp>
      <p:sp>
        <p:nvSpPr>
          <p:cNvPr id="26" name="Text 24"/>
          <p:cNvSpPr/>
          <p:nvPr/>
        </p:nvSpPr>
        <p:spPr>
          <a:xfrm>
            <a:off x="6720840" y="34107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7" name="Text 25"/>
          <p:cNvSpPr/>
          <p:nvPr/>
        </p:nvSpPr>
        <p:spPr>
          <a:xfrm>
            <a:off x="7242048" y="3392424"/>
            <a:ext cx="4114800" cy="292608"/>
          </a:xfrm>
          <a:prstGeom prst="rect">
            <a:avLst/>
          </a:prstGeom>
          <a:noFill/>
          <a:ln/>
        </p:spPr>
        <p:txBody>
          <a:bodyPr wrap="square" lIns="0" tIns="0" rIns="0" bIns="0" rtlCol="0" anchor="ctr"/>
          <a:lstStyle/>
          <a:p>
            <a:pPr indent="0" marL="0">
              <a:buNone/>
            </a:pPr>
            <a:r>
              <a:rPr lang="en-US" sz="1300" b="1" dirty="0">
                <a:solidFill>
                  <a:srgbClr val="16283C"/>
                </a:solidFill>
                <a:latin typeface="Calibri" pitchFamily="34" charset="0"/>
                <a:ea typeface="Calibri" pitchFamily="34" charset="-122"/>
                <a:cs typeface="Calibri" pitchFamily="34" charset="-120"/>
              </a:rPr>
              <a:t>Write it the way they said it.</a:t>
            </a:r>
            <a:endParaRPr lang="en-US" sz="1300" dirty="0"/>
          </a:p>
        </p:txBody>
      </p:sp>
      <p:sp>
        <p:nvSpPr>
          <p:cNvPr id="28" name="Text 26"/>
          <p:cNvSpPr/>
          <p:nvPr/>
        </p:nvSpPr>
        <p:spPr>
          <a:xfrm>
            <a:off x="7242048" y="3685032"/>
            <a:ext cx="4114800" cy="777240"/>
          </a:xfrm>
          <a:prstGeom prst="rect">
            <a:avLst/>
          </a:prstGeom>
          <a:noFill/>
          <a:ln/>
        </p:spPr>
        <p:txBody>
          <a:bodyPr wrap="square" lIns="0" tIns="0" rIns="0" bIns="0" rtlCol="0" anchor="ctr"/>
          <a:lstStyle/>
          <a:p>
            <a:pPr indent="0" marL="0">
              <a:lnSpc>
                <a:spcPts val="1500"/>
              </a:lnSpc>
              <a:buNone/>
            </a:pPr>
            <a:r>
              <a:rPr lang="en-US" sz="1150" dirty="0">
                <a:solidFill>
                  <a:srgbClr val="3D4855"/>
                </a:solidFill>
                <a:latin typeface="Calibri" pitchFamily="34" charset="0"/>
                <a:ea typeface="Calibri" pitchFamily="34" charset="-122"/>
                <a:cs typeface="Calibri" pitchFamily="34" charset="-120"/>
              </a:rPr>
              <a:t>If the phrasing is vague, ask them to sharpen it — don't sharpen it for them.</a:t>
            </a:r>
            <a:endParaRPr lang="en-US" sz="1150" dirty="0"/>
          </a:p>
        </p:txBody>
      </p:sp>
      <p:sp>
        <p:nvSpPr>
          <p:cNvPr id="29" name="Shape 27"/>
          <p:cNvSpPr/>
          <p:nvPr/>
        </p:nvSpPr>
        <p:spPr>
          <a:xfrm>
            <a:off x="6720840" y="4581144"/>
            <a:ext cx="384048" cy="384048"/>
          </a:xfrm>
          <a:prstGeom prst="ellipse">
            <a:avLst/>
          </a:prstGeom>
          <a:solidFill>
            <a:srgbClr val="16283C"/>
          </a:solidFill>
          <a:ln w="12700">
            <a:solidFill>
              <a:srgbClr val="16283C"/>
            </a:solidFill>
            <a:prstDash val="solid"/>
          </a:ln>
        </p:spPr>
      </p:sp>
      <p:sp>
        <p:nvSpPr>
          <p:cNvPr id="30" name="Text 28"/>
          <p:cNvSpPr/>
          <p:nvPr/>
        </p:nvSpPr>
        <p:spPr>
          <a:xfrm>
            <a:off x="6720840" y="45811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1" name="Text 29"/>
          <p:cNvSpPr/>
          <p:nvPr/>
        </p:nvSpPr>
        <p:spPr>
          <a:xfrm>
            <a:off x="7242048" y="4562856"/>
            <a:ext cx="4114800" cy="292608"/>
          </a:xfrm>
          <a:prstGeom prst="rect">
            <a:avLst/>
          </a:prstGeom>
          <a:noFill/>
          <a:ln/>
        </p:spPr>
        <p:txBody>
          <a:bodyPr wrap="square" lIns="0" tIns="0" rIns="0" bIns="0" rtlCol="0" anchor="ctr"/>
          <a:lstStyle/>
          <a:p>
            <a:pPr indent="0" marL="0">
              <a:buNone/>
            </a:pPr>
            <a:r>
              <a:rPr lang="en-US" sz="1300" b="1" dirty="0">
                <a:solidFill>
                  <a:srgbClr val="16283C"/>
                </a:solidFill>
                <a:latin typeface="Calibri" pitchFamily="34" charset="0"/>
                <a:ea typeface="Calibri" pitchFamily="34" charset="-122"/>
                <a:cs typeface="Calibri" pitchFamily="34" charset="-120"/>
              </a:rPr>
              <a:t>Timestamp the reveal.</a:t>
            </a:r>
            <a:endParaRPr lang="en-US" sz="1300" dirty="0"/>
          </a:p>
        </p:txBody>
      </p:sp>
      <p:sp>
        <p:nvSpPr>
          <p:cNvPr id="32" name="Text 30"/>
          <p:cNvSpPr/>
          <p:nvPr/>
        </p:nvSpPr>
        <p:spPr>
          <a:xfrm>
            <a:off x="7242048" y="4855464"/>
            <a:ext cx="4114800" cy="777240"/>
          </a:xfrm>
          <a:prstGeom prst="rect">
            <a:avLst/>
          </a:prstGeom>
          <a:noFill/>
          <a:ln/>
        </p:spPr>
        <p:txBody>
          <a:bodyPr wrap="square" lIns="0" tIns="0" rIns="0" bIns="0" rtlCol="0" anchor="ctr"/>
          <a:lstStyle/>
          <a:p>
            <a:pPr indent="0" marL="0">
              <a:lnSpc>
                <a:spcPts val="1500"/>
              </a:lnSpc>
              <a:buNone/>
            </a:pPr>
            <a:r>
              <a:rPr lang="en-US" sz="1150" dirty="0">
                <a:solidFill>
                  <a:srgbClr val="3D4855"/>
                </a:solidFill>
                <a:latin typeface="Calibri" pitchFamily="34" charset="0"/>
                <a:ea typeface="Calibri" pitchFamily="34" charset="-122"/>
                <a:cs typeface="Calibri" pitchFamily="34" charset="-120"/>
              </a:rPr>
              <a:t>Draw a line across the board when data block 2 lands. Everything above it was reasoning without those results.</a:t>
            </a:r>
            <a:endParaRPr lang="en-US" sz="1150" dirty="0"/>
          </a:p>
        </p:txBody>
      </p:sp>
      <p:sp>
        <p:nvSpPr>
          <p:cNvPr id="33" name="Text 31"/>
          <p:cNvSpPr/>
          <p:nvPr/>
        </p:nvSpPr>
        <p:spPr>
          <a:xfrm>
            <a:off x="566928" y="5943600"/>
            <a:ext cx="11055096" cy="365760"/>
          </a:xfrm>
          <a:prstGeom prst="rect">
            <a:avLst/>
          </a:prstGeom>
          <a:noFill/>
          <a:ln/>
        </p:spPr>
        <p:txBody>
          <a:bodyPr wrap="square" lIns="0" tIns="0" rIns="0" bIns="0" rtlCol="0" anchor="ctr"/>
          <a:lstStyle/>
          <a:p>
            <a:pPr indent="0" marL="0">
              <a:buNone/>
            </a:pPr>
            <a:r>
              <a:rPr lang="en-US" sz="1300" b="1" i="1" dirty="0">
                <a:solidFill>
                  <a:srgbClr val="16283C"/>
                </a:solidFill>
                <a:latin typeface="Calibri" pitchFamily="34" charset="0"/>
                <a:ea typeface="Calibri" pitchFamily="34" charset="-122"/>
                <a:cs typeface="Calibri" pitchFamily="34" charset="-120"/>
              </a:rPr>
              <a:t>The exported board is the artifact of the session — not the slides.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FOR THE SENIOR DISCUSSANT AND THE SCRIBE</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The framework line — a menu</a:t>
            </a:r>
            <a:endParaRPr lang="en-US" sz="3200" dirty="0"/>
          </a:p>
        </p:txBody>
      </p:sp>
      <p:sp>
        <p:nvSpPr>
          <p:cNvPr id="4" name="Text 2"/>
          <p:cNvSpPr/>
          <p:nvPr/>
        </p:nvSpPr>
        <p:spPr>
          <a:xfrm>
            <a:off x="566928" y="1371600"/>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One line, written on the board before any diagnosis is listed. It is what lets a single test strike off a whole branch instead of one item.</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5096" cy="914400"/>
        </p:xfrm>
        <a:graphic>
          <a:graphicData uri="http://schemas.openxmlformats.org/drawingml/2006/table">
            <a:tbl>
              <a:tblPr/>
              <a:tblGrid>
                <a:gridCol w="2377440"/>
                <a:gridCol w="5257800"/>
                <a:gridCol w="3419856"/>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FRAMEWORK</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WRITTEN ON THE BOARD AS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FITS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Anatomic — by level</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Mouth → esophagus → stomach → pylorus → midgut</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Vomiting, dysphagia, obstruction</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Anatomic — by layer</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Skin → soft tissue → joint → bone → vessel → nerve</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Limp, swollen limb, focal pain</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Physiologic</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V/Q mismatch, shunt, hypoventilation, diffusion, low FiO₂</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Hypoxemia, acidosis, hyponatremia</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Pre / intra / post</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Prerenal, intrinsic, postrenal</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AKI, jaundice, hemolysis</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Mechanistic category</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Infectious, inflammatory, neoplastic, metabolic, structural, toxic</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Fever of unknown origin, rash</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Age-anchored</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Neonate vs infant vs toddler vs adolescent</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Seizure, sepsis, limp, bleeding</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Tempo</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Hyperacute, acute, subacute, chronic</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Neuro deficits, anemia</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Triage-based</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Can't miss / most likely / commonly missed</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050" i="1" dirty="0">
                          <a:solidFill>
                            <a:srgbClr val="5F6B78"/>
                          </a:solidFill>
                          <a:latin typeface="Calibri" pitchFamily="34" charset="0"/>
                          <a:ea typeface="Calibri" pitchFamily="34" charset="-122"/>
                          <a:cs typeface="Calibri" pitchFamily="34" charset="-120"/>
                        </a:rPr>
                        <a:t>Management problems, not diagnostic ones</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bl>
          </a:graphicData>
        </a:graphic>
      </p:graphicFrame>
      <p:sp>
        <p:nvSpPr>
          <p:cNvPr id="6" name="Text 3"/>
          <p:cNvSpPr/>
          <p:nvPr/>
        </p:nvSpPr>
        <p:spPr>
          <a:xfrm>
            <a:off x="566928" y="5943600"/>
            <a:ext cx="11055096" cy="320040"/>
          </a:xfrm>
          <a:prstGeom prst="rect">
            <a:avLst/>
          </a:prstGeom>
          <a:noFill/>
          <a:ln/>
        </p:spPr>
        <p:txBody>
          <a:bodyPr wrap="square" lIns="0" tIns="0" rIns="0" bIns="0" rtlCol="0" anchor="ctr"/>
          <a:lstStyle/>
          <a:p>
            <a:pPr indent="0" marL="0">
              <a:buNone/>
            </a:pPr>
            <a:r>
              <a:rPr lang="en-US" sz="1200" b="1" dirty="0">
                <a:solidFill>
                  <a:srgbClr val="16283C"/>
                </a:solidFill>
                <a:latin typeface="Calibri" pitchFamily="34" charset="0"/>
                <a:ea typeface="Calibri" pitchFamily="34" charset="-122"/>
                <a:cs typeface="Calibri" pitchFamily="34" charset="-120"/>
              </a:rPr>
              <a:t>The senior says the framework out loud; the scribe writes it before anything goes in the numbered list.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TWO WORKED EXAMPLES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What that looks like on the board</a:t>
            </a:r>
            <a:endParaRPr lang="en-US" sz="3200" dirty="0"/>
          </a:p>
        </p:txBody>
      </p:sp>
      <p:sp>
        <p:nvSpPr>
          <p:cNvPr id="4" name="Shape 2"/>
          <p:cNvSpPr/>
          <p:nvPr/>
        </p:nvSpPr>
        <p:spPr>
          <a:xfrm>
            <a:off x="566928" y="1481328"/>
            <a:ext cx="5394960" cy="3429000"/>
          </a:xfrm>
          <a:prstGeom prst="roundRect">
            <a:avLst>
              <a:gd name="adj" fmla="val 2133"/>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5" name="Text 3"/>
          <p:cNvSpPr/>
          <p:nvPr/>
        </p:nvSpPr>
        <p:spPr>
          <a:xfrm>
            <a:off x="859536" y="1664208"/>
            <a:ext cx="4809744" cy="365760"/>
          </a:xfrm>
          <a:prstGeom prst="rect">
            <a:avLst/>
          </a:prstGeom>
          <a:noFill/>
          <a:ln/>
        </p:spPr>
        <p:txBody>
          <a:bodyPr wrap="square" lIns="0" tIns="0" rIns="0" bIns="0" rtlCol="0" anchor="ctr"/>
          <a:lstStyle/>
          <a:p>
            <a:pPr indent="0" marL="0">
              <a:buNone/>
            </a:pPr>
            <a:r>
              <a:rPr lang="en-US" sz="1700" b="1" dirty="0">
                <a:solidFill>
                  <a:srgbClr val="16283C"/>
                </a:solidFill>
                <a:latin typeface="Cambria" pitchFamily="34" charset="0"/>
                <a:ea typeface="Cambria" pitchFamily="34" charset="-122"/>
                <a:cs typeface="Cambria" pitchFamily="34" charset="-120"/>
              </a:rPr>
              <a:t>6-week-old, non-bilious vomiting</a:t>
            </a:r>
            <a:endParaRPr lang="en-US" sz="1700" dirty="0"/>
          </a:p>
        </p:txBody>
      </p:sp>
      <p:sp>
        <p:nvSpPr>
          <p:cNvPr id="6" name="Shape 4"/>
          <p:cNvSpPr/>
          <p:nvPr/>
        </p:nvSpPr>
        <p:spPr>
          <a:xfrm>
            <a:off x="859536" y="2084832"/>
            <a:ext cx="4809744" cy="457200"/>
          </a:xfrm>
          <a:prstGeom prst="roundRect">
            <a:avLst>
              <a:gd name="adj" fmla="val 12000"/>
            </a:avLst>
          </a:prstGeom>
          <a:solidFill>
            <a:srgbClr val="FBF0DE"/>
          </a:solidFill>
          <a:ln w="12700">
            <a:solidFill>
              <a:srgbClr val="FBF0DE"/>
            </a:solidFill>
            <a:prstDash val="solid"/>
          </a:ln>
        </p:spPr>
      </p:sp>
      <p:sp>
        <p:nvSpPr>
          <p:cNvPr id="7" name="Text 5"/>
          <p:cNvSpPr/>
          <p:nvPr/>
        </p:nvSpPr>
        <p:spPr>
          <a:xfrm>
            <a:off x="1005840" y="2084832"/>
            <a:ext cx="4526280" cy="457200"/>
          </a:xfrm>
          <a:prstGeom prst="rect">
            <a:avLst/>
          </a:prstGeom>
          <a:noFill/>
          <a:ln/>
        </p:spPr>
        <p:txBody>
          <a:bodyPr wrap="square" lIns="0" tIns="0" rIns="0" bIns="0" rtlCol="0" anchor="ctr"/>
          <a:lstStyle/>
          <a:p>
            <a:pPr indent="0" marL="0">
              <a:buNone/>
            </a:pPr>
            <a:r>
              <a:rPr lang="en-US" sz="1250" b="1" dirty="0">
                <a:solidFill>
                  <a:srgbClr val="8A6014"/>
                </a:solidFill>
                <a:latin typeface="Calibri" pitchFamily="34" charset="0"/>
                <a:ea typeface="Calibri" pitchFamily="34" charset="-122"/>
                <a:cs typeface="Calibri" pitchFamily="34" charset="-120"/>
              </a:rPr>
              <a:t>Framework:  Anatomic level of obstruction</a:t>
            </a:r>
            <a:endParaRPr lang="en-US" sz="1250" dirty="0"/>
          </a:p>
        </p:txBody>
      </p:sp>
      <p:sp>
        <p:nvSpPr>
          <p:cNvPr id="8" name="Text 6"/>
          <p:cNvSpPr/>
          <p:nvPr/>
        </p:nvSpPr>
        <p:spPr>
          <a:xfrm>
            <a:off x="859536" y="2697480"/>
            <a:ext cx="1600200" cy="292608"/>
          </a:xfrm>
          <a:prstGeom prst="rect">
            <a:avLst/>
          </a:prstGeom>
          <a:noFill/>
          <a:ln/>
        </p:spPr>
        <p:txBody>
          <a:bodyPr wrap="square" lIns="0" tIns="0" rIns="0" bIns="0" rtlCol="0" anchor="ctr"/>
          <a:lstStyle/>
          <a:p>
            <a:pPr indent="0" marL="0">
              <a:buNone/>
            </a:pPr>
            <a:r>
              <a:rPr lang="en-US" sz="1150" b="1" dirty="0">
                <a:solidFill>
                  <a:srgbClr val="2E7D8F"/>
                </a:solidFill>
                <a:latin typeface="Calibri" pitchFamily="34" charset="0"/>
                <a:ea typeface="Calibri" pitchFamily="34" charset="-122"/>
                <a:cs typeface="Calibri" pitchFamily="34" charset="-120"/>
              </a:rPr>
              <a:t>Pre-pyloric</a:t>
            </a:r>
            <a:endParaRPr lang="en-US" sz="1150" dirty="0"/>
          </a:p>
        </p:txBody>
      </p:sp>
      <p:sp>
        <p:nvSpPr>
          <p:cNvPr id="9" name="Text 7"/>
          <p:cNvSpPr/>
          <p:nvPr/>
        </p:nvSpPr>
        <p:spPr>
          <a:xfrm>
            <a:off x="2505456" y="2697480"/>
            <a:ext cx="3163824" cy="292608"/>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GERD, overfeeding</a:t>
            </a:r>
            <a:endParaRPr lang="en-US" sz="1150" dirty="0"/>
          </a:p>
        </p:txBody>
      </p:sp>
      <p:sp>
        <p:nvSpPr>
          <p:cNvPr id="10" name="Text 8"/>
          <p:cNvSpPr/>
          <p:nvPr/>
        </p:nvSpPr>
        <p:spPr>
          <a:xfrm>
            <a:off x="859536" y="3044952"/>
            <a:ext cx="1600200" cy="292608"/>
          </a:xfrm>
          <a:prstGeom prst="rect">
            <a:avLst/>
          </a:prstGeom>
          <a:noFill/>
          <a:ln/>
        </p:spPr>
        <p:txBody>
          <a:bodyPr wrap="square" lIns="0" tIns="0" rIns="0" bIns="0" rtlCol="0" anchor="ctr"/>
          <a:lstStyle/>
          <a:p>
            <a:pPr indent="0" marL="0">
              <a:buNone/>
            </a:pPr>
            <a:r>
              <a:rPr lang="en-US" sz="1150" b="1" dirty="0">
                <a:solidFill>
                  <a:srgbClr val="2E7D8F"/>
                </a:solidFill>
                <a:latin typeface="Calibri" pitchFamily="34" charset="0"/>
                <a:ea typeface="Calibri" pitchFamily="34" charset="-122"/>
                <a:cs typeface="Calibri" pitchFamily="34" charset="-120"/>
              </a:rPr>
              <a:t>Pyloric</a:t>
            </a:r>
            <a:endParaRPr lang="en-US" sz="1150" dirty="0"/>
          </a:p>
        </p:txBody>
      </p:sp>
      <p:sp>
        <p:nvSpPr>
          <p:cNvPr id="11" name="Text 9"/>
          <p:cNvSpPr/>
          <p:nvPr/>
        </p:nvSpPr>
        <p:spPr>
          <a:xfrm>
            <a:off x="2505456" y="3044952"/>
            <a:ext cx="3163824" cy="292608"/>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Hypertrophic pyloric stenosis</a:t>
            </a:r>
            <a:endParaRPr lang="en-US" sz="1150" dirty="0"/>
          </a:p>
        </p:txBody>
      </p:sp>
      <p:sp>
        <p:nvSpPr>
          <p:cNvPr id="12" name="Text 10"/>
          <p:cNvSpPr/>
          <p:nvPr/>
        </p:nvSpPr>
        <p:spPr>
          <a:xfrm>
            <a:off x="859536" y="3392424"/>
            <a:ext cx="1600200" cy="292608"/>
          </a:xfrm>
          <a:prstGeom prst="rect">
            <a:avLst/>
          </a:prstGeom>
          <a:noFill/>
          <a:ln/>
        </p:spPr>
        <p:txBody>
          <a:bodyPr wrap="square" lIns="0" tIns="0" rIns="0" bIns="0" rtlCol="0" anchor="ctr"/>
          <a:lstStyle/>
          <a:p>
            <a:pPr indent="0" marL="0">
              <a:buNone/>
            </a:pPr>
            <a:r>
              <a:rPr lang="en-US" sz="1150" b="1" dirty="0">
                <a:solidFill>
                  <a:srgbClr val="2E7D8F"/>
                </a:solidFill>
                <a:latin typeface="Calibri" pitchFamily="34" charset="0"/>
                <a:ea typeface="Calibri" pitchFamily="34" charset="-122"/>
                <a:cs typeface="Calibri" pitchFamily="34" charset="-120"/>
              </a:rPr>
              <a:t>Post-pyloric</a:t>
            </a:r>
            <a:endParaRPr lang="en-US" sz="1150" dirty="0"/>
          </a:p>
        </p:txBody>
      </p:sp>
      <p:sp>
        <p:nvSpPr>
          <p:cNvPr id="13" name="Text 11"/>
          <p:cNvSpPr/>
          <p:nvPr/>
        </p:nvSpPr>
        <p:spPr>
          <a:xfrm>
            <a:off x="2505456" y="3392424"/>
            <a:ext cx="3163824" cy="292608"/>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Malrotation, duodenal web</a:t>
            </a:r>
            <a:endParaRPr lang="en-US" sz="1150" dirty="0"/>
          </a:p>
        </p:txBody>
      </p:sp>
      <p:sp>
        <p:nvSpPr>
          <p:cNvPr id="14" name="Text 12"/>
          <p:cNvSpPr/>
          <p:nvPr/>
        </p:nvSpPr>
        <p:spPr>
          <a:xfrm>
            <a:off x="859536" y="4315968"/>
            <a:ext cx="4809744" cy="457200"/>
          </a:xfrm>
          <a:prstGeom prst="rect">
            <a:avLst/>
          </a:prstGeom>
          <a:noFill/>
          <a:ln/>
        </p:spPr>
        <p:txBody>
          <a:bodyPr wrap="square" lIns="0" tIns="0" rIns="0" bIns="0" rtlCol="0" anchor="ctr"/>
          <a:lstStyle/>
          <a:p>
            <a:pPr indent="0" marL="0">
              <a:buNone/>
            </a:pPr>
            <a:r>
              <a:rPr lang="en-US" sz="1200" b="1" i="1" dirty="0">
                <a:solidFill>
                  <a:srgbClr val="16283C"/>
                </a:solidFill>
                <a:latin typeface="Calibri" pitchFamily="34" charset="0"/>
                <a:ea typeface="Calibri" pitchFamily="34" charset="-122"/>
                <a:cs typeface="Calibri" pitchFamily="34" charset="-120"/>
              </a:rPr>
              <a:t>→  Bilious vs non-bilious kills a whole tier, not one diagnosis.</a:t>
            </a:r>
            <a:endParaRPr lang="en-US" sz="1200" dirty="0"/>
          </a:p>
        </p:txBody>
      </p:sp>
      <p:sp>
        <p:nvSpPr>
          <p:cNvPr id="15" name="Shape 13"/>
          <p:cNvSpPr/>
          <p:nvPr/>
        </p:nvSpPr>
        <p:spPr>
          <a:xfrm>
            <a:off x="6227064" y="1481328"/>
            <a:ext cx="5394960" cy="3429000"/>
          </a:xfrm>
          <a:prstGeom prst="roundRect">
            <a:avLst>
              <a:gd name="adj" fmla="val 2133"/>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6" name="Text 14"/>
          <p:cNvSpPr/>
          <p:nvPr/>
        </p:nvSpPr>
        <p:spPr>
          <a:xfrm>
            <a:off x="6519672" y="1664208"/>
            <a:ext cx="4809744" cy="365760"/>
          </a:xfrm>
          <a:prstGeom prst="rect">
            <a:avLst/>
          </a:prstGeom>
          <a:noFill/>
          <a:ln/>
        </p:spPr>
        <p:txBody>
          <a:bodyPr wrap="square" lIns="0" tIns="0" rIns="0" bIns="0" rtlCol="0" anchor="ctr"/>
          <a:lstStyle/>
          <a:p>
            <a:pPr indent="0" marL="0">
              <a:buNone/>
            </a:pPr>
            <a:r>
              <a:rPr lang="en-US" sz="1700" b="1" dirty="0">
                <a:solidFill>
                  <a:srgbClr val="16283C"/>
                </a:solidFill>
                <a:latin typeface="Cambria" pitchFamily="34" charset="0"/>
                <a:ea typeface="Cambria" pitchFamily="34" charset="-122"/>
                <a:cs typeface="Cambria" pitchFamily="34" charset="-120"/>
              </a:rPr>
              <a:t>4-year-old refusing to bear weight</a:t>
            </a:r>
            <a:endParaRPr lang="en-US" sz="1700" dirty="0"/>
          </a:p>
        </p:txBody>
      </p:sp>
      <p:sp>
        <p:nvSpPr>
          <p:cNvPr id="17" name="Shape 15"/>
          <p:cNvSpPr/>
          <p:nvPr/>
        </p:nvSpPr>
        <p:spPr>
          <a:xfrm>
            <a:off x="6519672" y="2084832"/>
            <a:ext cx="4809744" cy="457200"/>
          </a:xfrm>
          <a:prstGeom prst="roundRect">
            <a:avLst>
              <a:gd name="adj" fmla="val 12000"/>
            </a:avLst>
          </a:prstGeom>
          <a:solidFill>
            <a:srgbClr val="FBF0DE"/>
          </a:solidFill>
          <a:ln w="12700">
            <a:solidFill>
              <a:srgbClr val="FBF0DE"/>
            </a:solidFill>
            <a:prstDash val="solid"/>
          </a:ln>
        </p:spPr>
      </p:sp>
      <p:sp>
        <p:nvSpPr>
          <p:cNvPr id="18" name="Text 16"/>
          <p:cNvSpPr/>
          <p:nvPr/>
        </p:nvSpPr>
        <p:spPr>
          <a:xfrm>
            <a:off x="6665976" y="2084832"/>
            <a:ext cx="4526280" cy="457200"/>
          </a:xfrm>
          <a:prstGeom prst="rect">
            <a:avLst/>
          </a:prstGeom>
          <a:noFill/>
          <a:ln/>
        </p:spPr>
        <p:txBody>
          <a:bodyPr wrap="square" lIns="0" tIns="0" rIns="0" bIns="0" rtlCol="0" anchor="ctr"/>
          <a:lstStyle/>
          <a:p>
            <a:pPr indent="0" marL="0">
              <a:buNone/>
            </a:pPr>
            <a:r>
              <a:rPr lang="en-US" sz="1250" b="1" dirty="0">
                <a:solidFill>
                  <a:srgbClr val="8A6014"/>
                </a:solidFill>
                <a:latin typeface="Calibri" pitchFamily="34" charset="0"/>
                <a:ea typeface="Calibri" pitchFamily="34" charset="-122"/>
                <a:cs typeface="Calibri" pitchFamily="34" charset="-120"/>
              </a:rPr>
              <a:t>Framework:  Anatomic layer, anchored by age</a:t>
            </a:r>
            <a:endParaRPr lang="en-US" sz="1250" dirty="0"/>
          </a:p>
        </p:txBody>
      </p:sp>
      <p:sp>
        <p:nvSpPr>
          <p:cNvPr id="19" name="Text 17"/>
          <p:cNvSpPr/>
          <p:nvPr/>
        </p:nvSpPr>
        <p:spPr>
          <a:xfrm>
            <a:off x="6519672" y="2697480"/>
            <a:ext cx="1600200" cy="292608"/>
          </a:xfrm>
          <a:prstGeom prst="rect">
            <a:avLst/>
          </a:prstGeom>
          <a:noFill/>
          <a:ln/>
        </p:spPr>
        <p:txBody>
          <a:bodyPr wrap="square" lIns="0" tIns="0" rIns="0" bIns="0" rtlCol="0" anchor="ctr"/>
          <a:lstStyle/>
          <a:p>
            <a:pPr indent="0" marL="0">
              <a:buNone/>
            </a:pPr>
            <a:r>
              <a:rPr lang="en-US" sz="1150" b="1" dirty="0">
                <a:solidFill>
                  <a:srgbClr val="2E7D8F"/>
                </a:solidFill>
                <a:latin typeface="Calibri" pitchFamily="34" charset="0"/>
                <a:ea typeface="Calibri" pitchFamily="34" charset="-122"/>
                <a:cs typeface="Calibri" pitchFamily="34" charset="-120"/>
              </a:rPr>
              <a:t>Skin / soft tissue</a:t>
            </a:r>
            <a:endParaRPr lang="en-US" sz="1150" dirty="0"/>
          </a:p>
        </p:txBody>
      </p:sp>
      <p:sp>
        <p:nvSpPr>
          <p:cNvPr id="20" name="Text 18"/>
          <p:cNvSpPr/>
          <p:nvPr/>
        </p:nvSpPr>
        <p:spPr>
          <a:xfrm>
            <a:off x="8165592" y="2697480"/>
            <a:ext cx="3163824" cy="292608"/>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Cellulitis</a:t>
            </a:r>
            <a:endParaRPr lang="en-US" sz="1150" dirty="0"/>
          </a:p>
        </p:txBody>
      </p:sp>
      <p:sp>
        <p:nvSpPr>
          <p:cNvPr id="21" name="Text 19"/>
          <p:cNvSpPr/>
          <p:nvPr/>
        </p:nvSpPr>
        <p:spPr>
          <a:xfrm>
            <a:off x="6519672" y="3044952"/>
            <a:ext cx="1600200" cy="292608"/>
          </a:xfrm>
          <a:prstGeom prst="rect">
            <a:avLst/>
          </a:prstGeom>
          <a:noFill/>
          <a:ln/>
        </p:spPr>
        <p:txBody>
          <a:bodyPr wrap="square" lIns="0" tIns="0" rIns="0" bIns="0" rtlCol="0" anchor="ctr"/>
          <a:lstStyle/>
          <a:p>
            <a:pPr indent="0" marL="0">
              <a:buNone/>
            </a:pPr>
            <a:r>
              <a:rPr lang="en-US" sz="1150" b="1" dirty="0">
                <a:solidFill>
                  <a:srgbClr val="2E7D8F"/>
                </a:solidFill>
                <a:latin typeface="Calibri" pitchFamily="34" charset="0"/>
                <a:ea typeface="Calibri" pitchFamily="34" charset="-122"/>
                <a:cs typeface="Calibri" pitchFamily="34" charset="-120"/>
              </a:rPr>
              <a:t>Joint</a:t>
            </a:r>
            <a:endParaRPr lang="en-US" sz="1150" dirty="0"/>
          </a:p>
        </p:txBody>
      </p:sp>
      <p:sp>
        <p:nvSpPr>
          <p:cNvPr id="22" name="Text 20"/>
          <p:cNvSpPr/>
          <p:nvPr/>
        </p:nvSpPr>
        <p:spPr>
          <a:xfrm>
            <a:off x="8165592" y="3044952"/>
            <a:ext cx="3163824" cy="292608"/>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Septic arthritis, transient synovitis</a:t>
            </a:r>
            <a:endParaRPr lang="en-US" sz="1150" dirty="0"/>
          </a:p>
        </p:txBody>
      </p:sp>
      <p:sp>
        <p:nvSpPr>
          <p:cNvPr id="23" name="Text 21"/>
          <p:cNvSpPr/>
          <p:nvPr/>
        </p:nvSpPr>
        <p:spPr>
          <a:xfrm>
            <a:off x="6519672" y="3392424"/>
            <a:ext cx="1600200" cy="292608"/>
          </a:xfrm>
          <a:prstGeom prst="rect">
            <a:avLst/>
          </a:prstGeom>
          <a:noFill/>
          <a:ln/>
        </p:spPr>
        <p:txBody>
          <a:bodyPr wrap="square" lIns="0" tIns="0" rIns="0" bIns="0" rtlCol="0" anchor="ctr"/>
          <a:lstStyle/>
          <a:p>
            <a:pPr indent="0" marL="0">
              <a:buNone/>
            </a:pPr>
            <a:r>
              <a:rPr lang="en-US" sz="1150" b="1" dirty="0">
                <a:solidFill>
                  <a:srgbClr val="2E7D8F"/>
                </a:solidFill>
                <a:latin typeface="Calibri" pitchFamily="34" charset="0"/>
                <a:ea typeface="Calibri" pitchFamily="34" charset="-122"/>
                <a:cs typeface="Calibri" pitchFamily="34" charset="-120"/>
              </a:rPr>
              <a:t>Bone</a:t>
            </a:r>
            <a:endParaRPr lang="en-US" sz="1150" dirty="0"/>
          </a:p>
        </p:txBody>
      </p:sp>
      <p:sp>
        <p:nvSpPr>
          <p:cNvPr id="24" name="Text 22"/>
          <p:cNvSpPr/>
          <p:nvPr/>
        </p:nvSpPr>
        <p:spPr>
          <a:xfrm>
            <a:off x="8165592" y="3392424"/>
            <a:ext cx="3163824" cy="292608"/>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Osteomyelitis, fracture, leukemic infiltrate</a:t>
            </a:r>
            <a:endParaRPr lang="en-US" sz="1150" dirty="0"/>
          </a:p>
        </p:txBody>
      </p:sp>
      <p:sp>
        <p:nvSpPr>
          <p:cNvPr id="25" name="Text 23"/>
          <p:cNvSpPr/>
          <p:nvPr/>
        </p:nvSpPr>
        <p:spPr>
          <a:xfrm>
            <a:off x="6519672" y="3739896"/>
            <a:ext cx="1600200" cy="292608"/>
          </a:xfrm>
          <a:prstGeom prst="rect">
            <a:avLst/>
          </a:prstGeom>
          <a:noFill/>
          <a:ln/>
        </p:spPr>
        <p:txBody>
          <a:bodyPr wrap="square" lIns="0" tIns="0" rIns="0" bIns="0" rtlCol="0" anchor="ctr"/>
          <a:lstStyle/>
          <a:p>
            <a:pPr indent="0" marL="0">
              <a:buNone/>
            </a:pPr>
            <a:r>
              <a:rPr lang="en-US" sz="1150" b="1" dirty="0">
                <a:solidFill>
                  <a:srgbClr val="2E7D8F"/>
                </a:solidFill>
                <a:latin typeface="Calibri" pitchFamily="34" charset="0"/>
                <a:ea typeface="Calibri" pitchFamily="34" charset="-122"/>
                <a:cs typeface="Calibri" pitchFamily="34" charset="-120"/>
              </a:rPr>
              <a:t>Referred</a:t>
            </a:r>
            <a:endParaRPr lang="en-US" sz="1150" dirty="0"/>
          </a:p>
        </p:txBody>
      </p:sp>
      <p:sp>
        <p:nvSpPr>
          <p:cNvPr id="26" name="Text 24"/>
          <p:cNvSpPr/>
          <p:nvPr/>
        </p:nvSpPr>
        <p:spPr>
          <a:xfrm>
            <a:off x="8165592" y="3739896"/>
            <a:ext cx="3163824" cy="292608"/>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Appendicitis, psoas abscess</a:t>
            </a:r>
            <a:endParaRPr lang="en-US" sz="1150" dirty="0"/>
          </a:p>
        </p:txBody>
      </p:sp>
      <p:sp>
        <p:nvSpPr>
          <p:cNvPr id="27" name="Text 25"/>
          <p:cNvSpPr/>
          <p:nvPr/>
        </p:nvSpPr>
        <p:spPr>
          <a:xfrm>
            <a:off x="6519672" y="4315968"/>
            <a:ext cx="4809744" cy="457200"/>
          </a:xfrm>
          <a:prstGeom prst="rect">
            <a:avLst/>
          </a:prstGeom>
          <a:noFill/>
          <a:ln/>
        </p:spPr>
        <p:txBody>
          <a:bodyPr wrap="square" lIns="0" tIns="0" rIns="0" bIns="0" rtlCol="0" anchor="ctr"/>
          <a:lstStyle/>
          <a:p>
            <a:pPr indent="0" marL="0">
              <a:buNone/>
            </a:pPr>
            <a:r>
              <a:rPr lang="en-US" sz="1200" b="1" i="1" dirty="0">
                <a:solidFill>
                  <a:srgbClr val="16283C"/>
                </a:solidFill>
                <a:latin typeface="Calibri" pitchFamily="34" charset="0"/>
                <a:ea typeface="Calibri" pitchFamily="34" charset="-122"/>
                <a:cs typeface="Calibri" pitchFamily="34" charset="-120"/>
              </a:rPr>
              <a:t>→  CRP and hip ultrasound each eliminate a layer.</a:t>
            </a:r>
            <a:endParaRPr lang="en-US" sz="1200" dirty="0"/>
          </a:p>
        </p:txBody>
      </p:sp>
      <p:sp>
        <p:nvSpPr>
          <p:cNvPr id="28" name="Shape 26"/>
          <p:cNvSpPr/>
          <p:nvPr/>
        </p:nvSpPr>
        <p:spPr>
          <a:xfrm>
            <a:off x="566928" y="5166360"/>
            <a:ext cx="11055096" cy="1143000"/>
          </a:xfrm>
          <a:prstGeom prst="roundRect">
            <a:avLst>
              <a:gd name="adj" fmla="val 6400"/>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29" name="Text 27"/>
          <p:cNvSpPr/>
          <p:nvPr/>
        </p:nvSpPr>
        <p:spPr>
          <a:xfrm>
            <a:off x="868680" y="5349240"/>
            <a:ext cx="210312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The anti-pattern:</a:t>
            </a:r>
            <a:endParaRPr lang="en-US" sz="1300" dirty="0"/>
          </a:p>
        </p:txBody>
      </p:sp>
      <p:sp>
        <p:nvSpPr>
          <p:cNvPr id="30" name="Text 28"/>
          <p:cNvSpPr/>
          <p:nvPr/>
        </p:nvSpPr>
        <p:spPr>
          <a:xfrm>
            <a:off x="2743200" y="5349240"/>
            <a:ext cx="8595360" cy="777240"/>
          </a:xfrm>
          <a:prstGeom prst="rect">
            <a:avLst/>
          </a:prstGeom>
          <a:noFill/>
          <a:ln/>
        </p:spPr>
        <p:txBody>
          <a:bodyPr wrap="square" lIns="0" tIns="0" rIns="0" bIns="0" rtlCol="0" anchor="ctr"/>
          <a:lstStyle/>
          <a:p>
            <a:pPr indent="0" marL="0">
              <a:lnSpc>
                <a:spcPts val="1700"/>
              </a:lnSpc>
              <a:buNone/>
            </a:pPr>
            <a:r>
              <a:rPr lang="en-US" sz="1250" dirty="0">
                <a:solidFill>
                  <a:srgbClr val="D7E2EC"/>
                </a:solidFill>
                <a:latin typeface="Calibri" pitchFamily="34" charset="0"/>
                <a:ea typeface="Calibri" pitchFamily="34" charset="-122"/>
                <a:cs typeface="Calibri" pitchFamily="34" charset="-120"/>
              </a:rPr>
              <a:t>writing the same mnemonic on the board every week regardless of case. That is decoration, not structure. The right framework is the one that makes this case's discriminating test do the most work — and choosing it is the skill you are asking the senior to demonstrate.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WRITING THE DIFFERENTIAL</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How specific is specific enough</a:t>
            </a:r>
            <a:endParaRPr lang="en-US" sz="3200" dirty="0"/>
          </a:p>
        </p:txBody>
      </p:sp>
      <p:sp>
        <p:nvSpPr>
          <p:cNvPr id="4" name="Text 2"/>
          <p:cNvSpPr/>
          <p:nvPr/>
        </p:nvSpPr>
        <p:spPr>
          <a:xfrm>
            <a:off x="566928" y="1353312"/>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An item belongs on the list only if you can name the test that would refute it. "Hepatitis" in a patient with transaminitis restates the data — it survives every result because it claims nothing.</a:t>
            </a:r>
            <a:endParaRPr lang="en-US" sz="1300" dirty="0"/>
          </a:p>
        </p:txBody>
      </p:sp>
      <p:sp>
        <p:nvSpPr>
          <p:cNvPr id="5" name="Shape 3"/>
          <p:cNvSpPr/>
          <p:nvPr/>
        </p:nvSpPr>
        <p:spPr>
          <a:xfrm>
            <a:off x="566928" y="1755648"/>
            <a:ext cx="6492240" cy="804672"/>
          </a:xfrm>
          <a:prstGeom prst="roundRect">
            <a:avLst>
              <a:gd name="adj" fmla="val 909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6" name="Shape 4"/>
          <p:cNvSpPr/>
          <p:nvPr/>
        </p:nvSpPr>
        <p:spPr>
          <a:xfrm>
            <a:off x="822960" y="1901952"/>
            <a:ext cx="164592" cy="164592"/>
          </a:xfrm>
          <a:prstGeom prst="ellipse">
            <a:avLst/>
          </a:prstGeom>
          <a:solidFill>
            <a:srgbClr val="B23A48"/>
          </a:solidFill>
          <a:ln w="12700">
            <a:solidFill>
              <a:srgbClr val="B23A48"/>
            </a:solidFill>
            <a:prstDash val="solid"/>
          </a:ln>
        </p:spPr>
      </p:sp>
      <p:sp>
        <p:nvSpPr>
          <p:cNvPr id="7" name="Text 5"/>
          <p:cNvSpPr/>
          <p:nvPr/>
        </p:nvSpPr>
        <p:spPr>
          <a:xfrm>
            <a:off x="1078992" y="1837944"/>
            <a:ext cx="1920240" cy="292608"/>
          </a:xfrm>
          <a:prstGeom prst="rect">
            <a:avLst/>
          </a:prstGeom>
          <a:noFill/>
          <a:ln/>
        </p:spPr>
        <p:txBody>
          <a:bodyPr wrap="square" lIns="0" tIns="0" rIns="0" bIns="0" rtlCol="0" anchor="ctr"/>
          <a:lstStyle/>
          <a:p>
            <a:pPr indent="0" marL="0">
              <a:buNone/>
            </a:pPr>
            <a:r>
              <a:rPr lang="en-US" sz="1150" b="1" dirty="0">
                <a:solidFill>
                  <a:srgbClr val="B23A48"/>
                </a:solidFill>
                <a:latin typeface="Calibri" pitchFamily="34" charset="0"/>
                <a:ea typeface="Calibri" pitchFamily="34" charset="-122"/>
                <a:cs typeface="Calibri" pitchFamily="34" charset="-120"/>
              </a:rPr>
              <a:t>Restates the data</a:t>
            </a:r>
            <a:endParaRPr lang="en-US" sz="1150" dirty="0"/>
          </a:p>
        </p:txBody>
      </p:sp>
      <p:sp>
        <p:nvSpPr>
          <p:cNvPr id="8" name="Text 6"/>
          <p:cNvSpPr/>
          <p:nvPr/>
        </p:nvSpPr>
        <p:spPr>
          <a:xfrm>
            <a:off x="822960" y="2130552"/>
            <a:ext cx="3063240" cy="310896"/>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“Hepatitis”</a:t>
            </a:r>
            <a:endParaRPr lang="en-US" sz="1450" dirty="0"/>
          </a:p>
        </p:txBody>
      </p:sp>
      <p:sp>
        <p:nvSpPr>
          <p:cNvPr id="9" name="Text 7"/>
          <p:cNvSpPr/>
          <p:nvPr/>
        </p:nvSpPr>
        <p:spPr>
          <a:xfrm>
            <a:off x="3977640" y="1892808"/>
            <a:ext cx="288036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Not a hypothesis. You already know the liver is inflamed.</a:t>
            </a:r>
            <a:endParaRPr lang="en-US" sz="1100" dirty="0"/>
          </a:p>
        </p:txBody>
      </p:sp>
      <p:sp>
        <p:nvSpPr>
          <p:cNvPr id="10" name="Shape 8"/>
          <p:cNvSpPr/>
          <p:nvPr/>
        </p:nvSpPr>
        <p:spPr>
          <a:xfrm>
            <a:off x="566928" y="2651760"/>
            <a:ext cx="6492240" cy="804672"/>
          </a:xfrm>
          <a:prstGeom prst="roundRect">
            <a:avLst>
              <a:gd name="adj" fmla="val 909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1" name="Shape 9"/>
          <p:cNvSpPr/>
          <p:nvPr/>
        </p:nvSpPr>
        <p:spPr>
          <a:xfrm>
            <a:off x="822960" y="2798064"/>
            <a:ext cx="164592" cy="164592"/>
          </a:xfrm>
          <a:prstGeom prst="ellipse">
            <a:avLst/>
          </a:prstGeom>
          <a:solidFill>
            <a:srgbClr val="E8A33D"/>
          </a:solidFill>
          <a:ln w="12700">
            <a:solidFill>
              <a:srgbClr val="E8A33D"/>
            </a:solidFill>
            <a:prstDash val="solid"/>
          </a:ln>
        </p:spPr>
      </p:sp>
      <p:sp>
        <p:nvSpPr>
          <p:cNvPr id="12" name="Text 10"/>
          <p:cNvSpPr/>
          <p:nvPr/>
        </p:nvSpPr>
        <p:spPr>
          <a:xfrm>
            <a:off x="1078992" y="2734056"/>
            <a:ext cx="1920240" cy="292608"/>
          </a:xfrm>
          <a:prstGeom prst="rect">
            <a:avLst/>
          </a:prstGeom>
          <a:noFill/>
          <a:ln/>
        </p:spPr>
        <p:txBody>
          <a:bodyPr wrap="square" lIns="0" tIns="0" rIns="0" bIns="0" rtlCol="0" anchor="ctr"/>
          <a:lstStyle/>
          <a:p>
            <a:pPr indent="0" marL="0">
              <a:buNone/>
            </a:pPr>
            <a:r>
              <a:rPr lang="en-US" sz="1150" b="1" dirty="0">
                <a:solidFill>
                  <a:srgbClr val="E8A33D"/>
                </a:solidFill>
                <a:latin typeface="Calibri" pitchFamily="34" charset="0"/>
                <a:ea typeface="Calibri" pitchFamily="34" charset="-122"/>
                <a:cs typeface="Calibri" pitchFamily="34" charset="-120"/>
              </a:rPr>
              <a:t>Category</a:t>
            </a:r>
            <a:endParaRPr lang="en-US" sz="1150" dirty="0"/>
          </a:p>
        </p:txBody>
      </p:sp>
      <p:sp>
        <p:nvSpPr>
          <p:cNvPr id="13" name="Text 11"/>
          <p:cNvSpPr/>
          <p:nvPr/>
        </p:nvSpPr>
        <p:spPr>
          <a:xfrm>
            <a:off x="822960" y="3026664"/>
            <a:ext cx="3063240" cy="310896"/>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“Infectious hepatitis”</a:t>
            </a:r>
            <a:endParaRPr lang="en-US" sz="1450" dirty="0"/>
          </a:p>
        </p:txBody>
      </p:sp>
      <p:sp>
        <p:nvSpPr>
          <p:cNvPr id="14" name="Text 12"/>
          <p:cNvSpPr/>
          <p:nvPr/>
        </p:nvSpPr>
        <p:spPr>
          <a:xfrm>
            <a:off x="3977640" y="2788920"/>
            <a:ext cx="288036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Belongs on the framework line, not in the numbered list.</a:t>
            </a:r>
            <a:endParaRPr lang="en-US" sz="1100" dirty="0"/>
          </a:p>
        </p:txBody>
      </p:sp>
      <p:sp>
        <p:nvSpPr>
          <p:cNvPr id="15" name="Shape 13"/>
          <p:cNvSpPr/>
          <p:nvPr/>
        </p:nvSpPr>
        <p:spPr>
          <a:xfrm>
            <a:off x="566928" y="3547872"/>
            <a:ext cx="6492240" cy="804672"/>
          </a:xfrm>
          <a:prstGeom prst="roundRect">
            <a:avLst>
              <a:gd name="adj" fmla="val 909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6" name="Shape 14"/>
          <p:cNvSpPr/>
          <p:nvPr/>
        </p:nvSpPr>
        <p:spPr>
          <a:xfrm>
            <a:off x="822960" y="3694176"/>
            <a:ext cx="164592" cy="164592"/>
          </a:xfrm>
          <a:prstGeom prst="ellipse">
            <a:avLst/>
          </a:prstGeom>
          <a:solidFill>
            <a:srgbClr val="3F7D5C"/>
          </a:solidFill>
          <a:ln w="12700">
            <a:solidFill>
              <a:srgbClr val="3F7D5C"/>
            </a:solidFill>
            <a:prstDash val="solid"/>
          </a:ln>
        </p:spPr>
      </p:sp>
      <p:sp>
        <p:nvSpPr>
          <p:cNvPr id="17" name="Text 15"/>
          <p:cNvSpPr/>
          <p:nvPr/>
        </p:nvSpPr>
        <p:spPr>
          <a:xfrm>
            <a:off x="1078992" y="3630168"/>
            <a:ext cx="1920240" cy="292608"/>
          </a:xfrm>
          <a:prstGeom prst="rect">
            <a:avLst/>
          </a:prstGeom>
          <a:noFill/>
          <a:ln/>
        </p:spPr>
        <p:txBody>
          <a:bodyPr wrap="square" lIns="0" tIns="0" rIns="0" bIns="0" rtlCol="0" anchor="ctr"/>
          <a:lstStyle/>
          <a:p>
            <a:pPr indent="0" marL="0">
              <a:buNone/>
            </a:pPr>
            <a:r>
              <a:rPr lang="en-US" sz="1150" b="1" dirty="0">
                <a:solidFill>
                  <a:srgbClr val="3F7D5C"/>
                </a:solidFill>
                <a:latin typeface="Calibri" pitchFamily="34" charset="0"/>
                <a:ea typeface="Calibri" pitchFamily="34" charset="-122"/>
                <a:cs typeface="Calibri" pitchFamily="34" charset="-120"/>
              </a:rPr>
              <a:t>Entity</a:t>
            </a:r>
            <a:endParaRPr lang="en-US" sz="1150" dirty="0"/>
          </a:p>
        </p:txBody>
      </p:sp>
      <p:sp>
        <p:nvSpPr>
          <p:cNvPr id="18" name="Text 16"/>
          <p:cNvSpPr/>
          <p:nvPr/>
        </p:nvSpPr>
        <p:spPr>
          <a:xfrm>
            <a:off x="822960" y="3922776"/>
            <a:ext cx="3063240" cy="310896"/>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Hepatitis A  ·  EBV  ·  Neonatal HSV</a:t>
            </a:r>
            <a:endParaRPr lang="en-US" sz="1450" dirty="0"/>
          </a:p>
        </p:txBody>
      </p:sp>
      <p:sp>
        <p:nvSpPr>
          <p:cNvPr id="19" name="Text 17"/>
          <p:cNvSpPr/>
          <p:nvPr/>
        </p:nvSpPr>
        <p:spPr>
          <a:xfrm>
            <a:off x="3977640" y="3685032"/>
            <a:ext cx="288036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Right level. Distinct test, distinct action.</a:t>
            </a:r>
            <a:endParaRPr lang="en-US" sz="1100" dirty="0"/>
          </a:p>
        </p:txBody>
      </p:sp>
      <p:sp>
        <p:nvSpPr>
          <p:cNvPr id="20" name="Shape 18"/>
          <p:cNvSpPr/>
          <p:nvPr/>
        </p:nvSpPr>
        <p:spPr>
          <a:xfrm>
            <a:off x="566928" y="4443984"/>
            <a:ext cx="6492240" cy="804672"/>
          </a:xfrm>
          <a:prstGeom prst="roundRect">
            <a:avLst>
              <a:gd name="adj" fmla="val 909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1" name="Shape 19"/>
          <p:cNvSpPr/>
          <p:nvPr/>
        </p:nvSpPr>
        <p:spPr>
          <a:xfrm>
            <a:off x="822960" y="4590288"/>
            <a:ext cx="164592" cy="164592"/>
          </a:xfrm>
          <a:prstGeom prst="ellipse">
            <a:avLst/>
          </a:prstGeom>
          <a:solidFill>
            <a:srgbClr val="5F6B78"/>
          </a:solidFill>
          <a:ln w="12700">
            <a:solidFill>
              <a:srgbClr val="5F6B78"/>
            </a:solidFill>
            <a:prstDash val="solid"/>
          </a:ln>
        </p:spPr>
      </p:sp>
      <p:sp>
        <p:nvSpPr>
          <p:cNvPr id="22" name="Text 20"/>
          <p:cNvSpPr/>
          <p:nvPr/>
        </p:nvSpPr>
        <p:spPr>
          <a:xfrm>
            <a:off x="1078992" y="4526280"/>
            <a:ext cx="1920240" cy="292608"/>
          </a:xfrm>
          <a:prstGeom prst="rect">
            <a:avLst/>
          </a:prstGeom>
          <a:noFill/>
          <a:ln/>
        </p:spPr>
        <p:txBody>
          <a:bodyPr wrap="square" lIns="0" tIns="0" rIns="0" bIns="0" rtlCol="0" anchor="ctr"/>
          <a:lstStyle/>
          <a:p>
            <a:pPr indent="0" marL="0">
              <a:buNone/>
            </a:pPr>
            <a:r>
              <a:rPr lang="en-US" sz="1150" b="1" dirty="0">
                <a:solidFill>
                  <a:srgbClr val="5F6B78"/>
                </a:solidFill>
                <a:latin typeface="Calibri" pitchFamily="34" charset="0"/>
                <a:ea typeface="Calibri" pitchFamily="34" charset="-122"/>
                <a:cs typeface="Calibri" pitchFamily="34" charset="-120"/>
              </a:rPr>
              <a:t>Sub-entity</a:t>
            </a:r>
            <a:endParaRPr lang="en-US" sz="1150" dirty="0"/>
          </a:p>
        </p:txBody>
      </p:sp>
      <p:sp>
        <p:nvSpPr>
          <p:cNvPr id="23" name="Text 21"/>
          <p:cNvSpPr/>
          <p:nvPr/>
        </p:nvSpPr>
        <p:spPr>
          <a:xfrm>
            <a:off x="822960" y="4818888"/>
            <a:ext cx="3063240" cy="310896"/>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“HAV genotype IB”</a:t>
            </a:r>
            <a:endParaRPr lang="en-US" sz="1450" dirty="0"/>
          </a:p>
        </p:txBody>
      </p:sp>
      <p:sp>
        <p:nvSpPr>
          <p:cNvPr id="24" name="Text 22"/>
          <p:cNvSpPr/>
          <p:nvPr/>
        </p:nvSpPr>
        <p:spPr>
          <a:xfrm>
            <a:off x="3977640" y="4581144"/>
            <a:ext cx="288036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Noise. Nothing you do tomorrow changes.</a:t>
            </a:r>
            <a:endParaRPr lang="en-US" sz="1100" dirty="0"/>
          </a:p>
        </p:txBody>
      </p:sp>
      <p:sp>
        <p:nvSpPr>
          <p:cNvPr id="25" name="Shape 23"/>
          <p:cNvSpPr/>
          <p:nvPr/>
        </p:nvSpPr>
        <p:spPr>
          <a:xfrm>
            <a:off x="7269480" y="1755648"/>
            <a:ext cx="4352544" cy="3529584"/>
          </a:xfrm>
          <a:prstGeom prst="roundRect">
            <a:avLst>
              <a:gd name="adj" fmla="val 2073"/>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6" name="Text 24"/>
          <p:cNvSpPr/>
          <p:nvPr/>
        </p:nvSpPr>
        <p:spPr>
          <a:xfrm>
            <a:off x="7543800" y="1920240"/>
            <a:ext cx="3840480" cy="365760"/>
          </a:xfrm>
          <a:prstGeom prst="rect">
            <a:avLst/>
          </a:prstGeom>
          <a:noFill/>
          <a:ln/>
        </p:spPr>
        <p:txBody>
          <a:bodyPr wrap="square" lIns="0" tIns="0" rIns="0" bIns="0" rtlCol="0" anchor="ctr"/>
          <a:lstStyle/>
          <a:p>
            <a:pPr indent="0" marL="0">
              <a:buNone/>
            </a:pPr>
            <a:r>
              <a:rPr lang="en-US" sz="1600" b="1" dirty="0">
                <a:solidFill>
                  <a:srgbClr val="16283C"/>
                </a:solidFill>
                <a:latin typeface="Cambria" pitchFamily="34" charset="0"/>
                <a:ea typeface="Cambria" pitchFamily="34" charset="-122"/>
                <a:cs typeface="Cambria" pitchFamily="34" charset="-120"/>
              </a:rPr>
              <a:t>Two questions that settle it</a:t>
            </a:r>
            <a:endParaRPr lang="en-US" sz="1600" dirty="0"/>
          </a:p>
        </p:txBody>
      </p:sp>
      <p:sp>
        <p:nvSpPr>
          <p:cNvPr id="27" name="Shape 25"/>
          <p:cNvSpPr/>
          <p:nvPr/>
        </p:nvSpPr>
        <p:spPr>
          <a:xfrm>
            <a:off x="7543800" y="2395728"/>
            <a:ext cx="384048" cy="384048"/>
          </a:xfrm>
          <a:prstGeom prst="ellipse">
            <a:avLst/>
          </a:prstGeom>
          <a:solidFill>
            <a:srgbClr val="16283C"/>
          </a:solidFill>
          <a:ln w="12700">
            <a:solidFill>
              <a:srgbClr val="16283C"/>
            </a:solidFill>
            <a:prstDash val="solid"/>
          </a:ln>
        </p:spPr>
      </p:sp>
      <p:sp>
        <p:nvSpPr>
          <p:cNvPr id="28" name="Text 26"/>
          <p:cNvSpPr/>
          <p:nvPr/>
        </p:nvSpPr>
        <p:spPr>
          <a:xfrm>
            <a:off x="754380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9" name="Text 27"/>
          <p:cNvSpPr/>
          <p:nvPr/>
        </p:nvSpPr>
        <p:spPr>
          <a:xfrm>
            <a:off x="8065008" y="2377440"/>
            <a:ext cx="3337560" cy="292608"/>
          </a:xfrm>
          <a:prstGeom prst="rect">
            <a:avLst/>
          </a:prstGeom>
          <a:noFill/>
          <a:ln/>
        </p:spPr>
        <p:txBody>
          <a:bodyPr wrap="square" lIns="0" tIns="0" rIns="0" bIns="0" rtlCol="0" anchor="ctr"/>
          <a:lstStyle/>
          <a:p>
            <a:pPr indent="0" marL="0">
              <a:buNone/>
            </a:pPr>
            <a:r>
              <a:rPr lang="en-US" sz="1250" b="1" dirty="0">
                <a:solidFill>
                  <a:srgbClr val="16283C"/>
                </a:solidFill>
                <a:latin typeface="Calibri" pitchFamily="34" charset="0"/>
                <a:ea typeface="Calibri" pitchFamily="34" charset="-122"/>
                <a:cs typeface="Calibri" pitchFamily="34" charset="-120"/>
              </a:rPr>
              <a:t>What test would refute this?</a:t>
            </a:r>
            <a:endParaRPr lang="en-US" sz="1250" dirty="0"/>
          </a:p>
        </p:txBody>
      </p:sp>
      <p:sp>
        <p:nvSpPr>
          <p:cNvPr id="30" name="Text 28"/>
          <p:cNvSpPr/>
          <p:nvPr/>
        </p:nvSpPr>
        <p:spPr>
          <a:xfrm>
            <a:off x="8065008" y="2651760"/>
            <a:ext cx="3337560" cy="59436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No answer means it is not a hypothesis. “Hepatitis A” has one: IgM anti-HAV, back tomorrow.</a:t>
            </a:r>
            <a:endParaRPr lang="en-US" sz="1100" dirty="0"/>
          </a:p>
        </p:txBody>
      </p:sp>
      <p:sp>
        <p:nvSpPr>
          <p:cNvPr id="31" name="Shape 29"/>
          <p:cNvSpPr/>
          <p:nvPr/>
        </p:nvSpPr>
        <p:spPr>
          <a:xfrm>
            <a:off x="7543800" y="3364992"/>
            <a:ext cx="384048" cy="384048"/>
          </a:xfrm>
          <a:prstGeom prst="ellipse">
            <a:avLst/>
          </a:prstGeom>
          <a:solidFill>
            <a:srgbClr val="16283C"/>
          </a:solidFill>
          <a:ln w="12700">
            <a:solidFill>
              <a:srgbClr val="16283C"/>
            </a:solidFill>
            <a:prstDash val="solid"/>
          </a:ln>
        </p:spPr>
      </p:sp>
      <p:sp>
        <p:nvSpPr>
          <p:cNvPr id="32" name="Text 30"/>
          <p:cNvSpPr/>
          <p:nvPr/>
        </p:nvSpPr>
        <p:spPr>
          <a:xfrm>
            <a:off x="7543800" y="3364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3" name="Text 31"/>
          <p:cNvSpPr/>
          <p:nvPr/>
        </p:nvSpPr>
        <p:spPr>
          <a:xfrm>
            <a:off x="8065008" y="3346704"/>
            <a:ext cx="3337560" cy="292608"/>
          </a:xfrm>
          <a:prstGeom prst="rect">
            <a:avLst/>
          </a:prstGeom>
          <a:noFill/>
          <a:ln/>
        </p:spPr>
        <p:txBody>
          <a:bodyPr wrap="square" lIns="0" tIns="0" rIns="0" bIns="0" rtlCol="0" anchor="ctr"/>
          <a:lstStyle/>
          <a:p>
            <a:pPr indent="0" marL="0">
              <a:buNone/>
            </a:pPr>
            <a:r>
              <a:rPr lang="en-US" sz="1250" b="1" dirty="0">
                <a:solidFill>
                  <a:srgbClr val="16283C"/>
                </a:solidFill>
                <a:latin typeface="Calibri" pitchFamily="34" charset="0"/>
                <a:ea typeface="Calibri" pitchFamily="34" charset="-122"/>
                <a:cs typeface="Calibri" pitchFamily="34" charset="-120"/>
              </a:rPr>
              <a:t>Would tomorrow look different?</a:t>
            </a:r>
            <a:endParaRPr lang="en-US" sz="1250" dirty="0"/>
          </a:p>
        </p:txBody>
      </p:sp>
      <p:sp>
        <p:nvSpPr>
          <p:cNvPr id="34" name="Text 32"/>
          <p:cNvSpPr/>
          <p:nvPr/>
        </p:nvSpPr>
        <p:spPr>
          <a:xfrm>
            <a:off x="8065008" y="3621024"/>
            <a:ext cx="333756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Split two items only if you would act differently on each. Otherwise merge them.</a:t>
            </a:r>
            <a:endParaRPr lang="en-US" sz="1100" dirty="0"/>
          </a:p>
        </p:txBody>
      </p:sp>
      <p:sp>
        <p:nvSpPr>
          <p:cNvPr id="35" name="Shape 33"/>
          <p:cNvSpPr/>
          <p:nvPr/>
        </p:nvSpPr>
        <p:spPr>
          <a:xfrm>
            <a:off x="7543800" y="4279392"/>
            <a:ext cx="3803904" cy="18288"/>
          </a:xfrm>
          <a:prstGeom prst="rect">
            <a:avLst/>
          </a:prstGeom>
          <a:solidFill>
            <a:srgbClr val="DDE4EA"/>
          </a:solidFill>
          <a:ln w="12700">
            <a:solidFill>
              <a:srgbClr val="DDE4EA"/>
            </a:solidFill>
            <a:prstDash val="solid"/>
          </a:ln>
        </p:spPr>
      </p:sp>
      <p:sp>
        <p:nvSpPr>
          <p:cNvPr id="36" name="Text 34"/>
          <p:cNvSpPr/>
          <p:nvPr/>
        </p:nvSpPr>
        <p:spPr>
          <a:xfrm>
            <a:off x="7543800" y="4407408"/>
            <a:ext cx="3803904" cy="777240"/>
          </a:xfrm>
          <a:prstGeom prst="rect">
            <a:avLst/>
          </a:prstGeom>
          <a:noFill/>
          <a:ln/>
        </p:spPr>
        <p:txBody>
          <a:bodyPr wrap="square" lIns="0" tIns="0" rIns="0" bIns="0" rtlCol="0" anchor="ctr"/>
          <a:lstStyle/>
          <a:p>
            <a:pPr indent="0" marL="0">
              <a:lnSpc>
                <a:spcPts val="1400"/>
              </a:lnSpc>
              <a:buNone/>
            </a:pPr>
            <a:r>
              <a:rPr lang="en-US" sz="1100" i="1" dirty="0">
                <a:solidFill>
                  <a:srgbClr val="16283C"/>
                </a:solidFill>
                <a:latin typeface="Calibri" pitchFamily="34" charset="0"/>
                <a:ea typeface="Calibri" pitchFamily="34" charset="-122"/>
                <a:cs typeface="Calibri" pitchFamily="34" charset="-120"/>
              </a:rPr>
              <a:t>10-day-old, transaminases in the thousands, coagulopathy. “Infectious hepatitis” makes nobody reach for acyclovir. “Disseminated neonatal HSV” does — before the PCR resolves.</a:t>
            </a:r>
            <a:endParaRPr lang="en-US" sz="1100" dirty="0"/>
          </a:p>
        </p:txBody>
      </p:sp>
      <p:sp>
        <p:nvSpPr>
          <p:cNvPr id="37" name="Shape 35"/>
          <p:cNvSpPr/>
          <p:nvPr/>
        </p:nvSpPr>
        <p:spPr>
          <a:xfrm>
            <a:off x="566928" y="5440680"/>
            <a:ext cx="11055096" cy="1005840"/>
          </a:xfrm>
          <a:prstGeom prst="roundRect">
            <a:avLst>
              <a:gd name="adj" fmla="val 7273"/>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38" name="Text 36"/>
          <p:cNvSpPr/>
          <p:nvPr/>
        </p:nvSpPr>
        <p:spPr>
          <a:xfrm>
            <a:off x="868680" y="5559552"/>
            <a:ext cx="4114800" cy="292608"/>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A vague item can never be crossed off.</a:t>
            </a:r>
            <a:endParaRPr lang="en-US" sz="1500" dirty="0"/>
          </a:p>
        </p:txBody>
      </p:sp>
      <p:sp>
        <p:nvSpPr>
          <p:cNvPr id="39" name="Text 37"/>
          <p:cNvSpPr/>
          <p:nvPr/>
        </p:nvSpPr>
        <p:spPr>
          <a:xfrm>
            <a:off x="868680" y="5852160"/>
            <a:ext cx="10424160" cy="502920"/>
          </a:xfrm>
          <a:prstGeom prst="rect">
            <a:avLst/>
          </a:prstGeom>
          <a:noFill/>
          <a:ln/>
        </p:spPr>
        <p:txBody>
          <a:bodyPr wrap="square" lIns="0" tIns="0" rIns="0" bIns="0" rtlCol="0" anchor="ctr"/>
          <a:lstStyle/>
          <a:p>
            <a:pPr indent="0" marL="0">
              <a:lnSpc>
                <a:spcPts val="1600"/>
              </a:lnSpc>
              <a:buNone/>
            </a:pPr>
            <a:r>
              <a:rPr lang="en-US" sz="1200" dirty="0">
                <a:solidFill>
                  <a:srgbClr val="D7E2EC"/>
                </a:solidFill>
                <a:latin typeface="Calibri" pitchFamily="34" charset="0"/>
                <a:ea typeface="Calibri" pitchFamily="34" charset="-122"/>
                <a:cs typeface="Calibri" pitchFamily="34" charset="-120"/>
              </a:rPr>
              <a:t>It absorbs every result without ever being refuted, and the middle column stops moving. When a PGY-1 says “hepatitis” — which is developmentally normal — the senior's move is a question, not a correction: “Which one, and what would you send?”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PGY-1 BLOCK, OUT LOUD</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What a first pass sounds like</a:t>
            </a:r>
            <a:endParaRPr lang="en-US" sz="3200" dirty="0"/>
          </a:p>
        </p:txBody>
      </p:sp>
      <p:sp>
        <p:nvSpPr>
          <p:cNvPr id="4" name="Text 2"/>
          <p:cNvSpPr/>
          <p:nvPr/>
        </p:nvSpPr>
        <p:spPr>
          <a:xfrm>
            <a:off x="566928" y="1353312"/>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Same case both times: a 3-year-old, two days of fever, refusing to bear weight, hip held flexed and externally rotated, CRP 8.4.</a:t>
            </a:r>
            <a:endParaRPr lang="en-US" sz="1300" dirty="0"/>
          </a:p>
        </p:txBody>
      </p:sp>
      <p:sp>
        <p:nvSpPr>
          <p:cNvPr id="5" name="Shape 3"/>
          <p:cNvSpPr/>
          <p:nvPr/>
        </p:nvSpPr>
        <p:spPr>
          <a:xfrm>
            <a:off x="566928" y="1691640"/>
            <a:ext cx="5394960" cy="3657600"/>
          </a:xfrm>
          <a:prstGeom prst="roundRect">
            <a:avLst>
              <a:gd name="adj" fmla="val 2000"/>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6" name="Shape 4"/>
          <p:cNvSpPr/>
          <p:nvPr/>
        </p:nvSpPr>
        <p:spPr>
          <a:xfrm>
            <a:off x="566928" y="1691640"/>
            <a:ext cx="5394960" cy="512064"/>
          </a:xfrm>
          <a:prstGeom prst="rect">
            <a:avLst/>
          </a:prstGeom>
          <a:solidFill>
            <a:srgbClr val="B23A48"/>
          </a:solidFill>
          <a:ln w="12700">
            <a:solidFill>
              <a:srgbClr val="B23A48"/>
            </a:solidFill>
            <a:prstDash val="solid"/>
          </a:ln>
        </p:spPr>
      </p:sp>
      <p:sp>
        <p:nvSpPr>
          <p:cNvPr id="7" name="Text 5"/>
          <p:cNvSpPr/>
          <p:nvPr/>
        </p:nvSpPr>
        <p:spPr>
          <a:xfrm>
            <a:off x="822960" y="1691640"/>
            <a:ext cx="4882896" cy="51206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Breadth — the failure mode</a:t>
            </a:r>
            <a:endParaRPr lang="en-US" sz="1500" dirty="0"/>
          </a:p>
        </p:txBody>
      </p:sp>
      <p:sp>
        <p:nvSpPr>
          <p:cNvPr id="8" name="Text 6"/>
          <p:cNvSpPr/>
          <p:nvPr/>
        </p:nvSpPr>
        <p:spPr>
          <a:xfrm>
            <a:off x="822960" y="2331720"/>
            <a:ext cx="4882896" cy="1600200"/>
          </a:xfrm>
          <a:prstGeom prst="rect">
            <a:avLst/>
          </a:prstGeom>
          <a:noFill/>
          <a:ln/>
        </p:spPr>
        <p:txBody>
          <a:bodyPr wrap="square" lIns="0" tIns="0" rIns="0" bIns="0" rtlCol="0" anchor="t"/>
          <a:lstStyle/>
          <a:p>
            <a:pPr indent="0" marL="0">
              <a:lnSpc>
                <a:spcPts val="1600"/>
              </a:lnSpc>
              <a:buNone/>
            </a:pPr>
            <a:r>
              <a:rPr lang="en-US" sz="1200" i="1" dirty="0">
                <a:solidFill>
                  <a:srgbClr val="16283C"/>
                </a:solidFill>
                <a:latin typeface="Cambria" pitchFamily="34" charset="0"/>
                <a:ea typeface="Cambria" pitchFamily="34" charset="-122"/>
                <a:cs typeface="Cambria" pitchFamily="34" charset="-120"/>
              </a:rPr>
              <a:t>“This could be infectious, inflammatory, oncologic, or traumatic — so maybe leukemia, maybe JIA, maybe a bone tumor, maybe septic arthritis, maybe transient synovitis.”</a:t>
            </a:r>
            <a:endParaRPr lang="en-US" sz="1200" dirty="0"/>
          </a:p>
        </p:txBody>
      </p:sp>
      <p:sp>
        <p:nvSpPr>
          <p:cNvPr id="9" name="Text 7"/>
          <p:cNvSpPr/>
          <p:nvPr/>
        </p:nvSpPr>
        <p:spPr>
          <a:xfrm>
            <a:off x="822960" y="3730752"/>
            <a:ext cx="4882896" cy="310896"/>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Five categories, no leader, no test — nothing the board can act on.</a:t>
            </a:r>
            <a:endParaRPr lang="en-US" sz="1100" dirty="0"/>
          </a:p>
        </p:txBody>
      </p:sp>
      <p:sp>
        <p:nvSpPr>
          <p:cNvPr id="10" name="Shape 8"/>
          <p:cNvSpPr/>
          <p:nvPr/>
        </p:nvSpPr>
        <p:spPr>
          <a:xfrm>
            <a:off x="822960" y="4078224"/>
            <a:ext cx="4882896" cy="18288"/>
          </a:xfrm>
          <a:prstGeom prst="rect">
            <a:avLst/>
          </a:prstGeom>
          <a:solidFill>
            <a:srgbClr val="C9D3DC"/>
          </a:solidFill>
          <a:ln w="12700">
            <a:solidFill>
              <a:srgbClr val="C9D3DC"/>
            </a:solidFill>
            <a:prstDash val="solid"/>
          </a:ln>
        </p:spPr>
      </p:sp>
      <p:sp>
        <p:nvSpPr>
          <p:cNvPr id="11" name="Text 9"/>
          <p:cNvSpPr/>
          <p:nvPr/>
        </p:nvSpPr>
        <p:spPr>
          <a:xfrm>
            <a:off x="822960" y="4187952"/>
            <a:ext cx="4882896" cy="10972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Nobody can act on it</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Nobody can refute it</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Nothing gets struck off the board</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It survives every result — the same disease as “hepatitis”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Categories, not diagnoses. This is the framework line, said as if it were the list</a:t>
            </a:r>
            <a:endParaRPr lang="en-US" sz="1050" dirty="0"/>
          </a:p>
        </p:txBody>
      </p:sp>
      <p:sp>
        <p:nvSpPr>
          <p:cNvPr id="12" name="Shape 10"/>
          <p:cNvSpPr/>
          <p:nvPr/>
        </p:nvSpPr>
        <p:spPr>
          <a:xfrm>
            <a:off x="6227064" y="1691640"/>
            <a:ext cx="5394960" cy="3657600"/>
          </a:xfrm>
          <a:prstGeom prst="roundRect">
            <a:avLst>
              <a:gd name="adj" fmla="val 2000"/>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3" name="Shape 11"/>
          <p:cNvSpPr/>
          <p:nvPr/>
        </p:nvSpPr>
        <p:spPr>
          <a:xfrm>
            <a:off x="6227064" y="1691640"/>
            <a:ext cx="5394960" cy="512064"/>
          </a:xfrm>
          <a:prstGeom prst="rect">
            <a:avLst/>
          </a:prstGeom>
          <a:solidFill>
            <a:srgbClr val="3F7D5C"/>
          </a:solidFill>
          <a:ln w="12700">
            <a:solidFill>
              <a:srgbClr val="3F7D5C"/>
            </a:solidFill>
            <a:prstDash val="solid"/>
          </a:ln>
        </p:spPr>
      </p:sp>
      <p:sp>
        <p:nvSpPr>
          <p:cNvPr id="14" name="Text 12"/>
          <p:cNvSpPr/>
          <p:nvPr/>
        </p:nvSpPr>
        <p:spPr>
          <a:xfrm>
            <a:off x="6483096" y="1691640"/>
            <a:ext cx="4882896" cy="51206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Commitment — the goal</a:t>
            </a:r>
            <a:endParaRPr lang="en-US" sz="1500" dirty="0"/>
          </a:p>
        </p:txBody>
      </p:sp>
      <p:sp>
        <p:nvSpPr>
          <p:cNvPr id="15" name="Text 13"/>
          <p:cNvSpPr/>
          <p:nvPr/>
        </p:nvSpPr>
        <p:spPr>
          <a:xfrm>
            <a:off x="6483096" y="2331720"/>
            <a:ext cx="4882896" cy="1600200"/>
          </a:xfrm>
          <a:prstGeom prst="rect">
            <a:avLst/>
          </a:prstGeom>
          <a:noFill/>
          <a:ln/>
        </p:spPr>
        <p:txBody>
          <a:bodyPr wrap="square" lIns="0" tIns="0" rIns="0" bIns="0" rtlCol="0" anchor="t"/>
          <a:lstStyle/>
          <a:p>
            <a:pPr indent="0" marL="0">
              <a:lnSpc>
                <a:spcPts val="1600"/>
              </a:lnSpc>
              <a:buNone/>
            </a:pPr>
            <a:r>
              <a:rPr lang="en-US" sz="1200" i="1" dirty="0">
                <a:solidFill>
                  <a:srgbClr val="16283C"/>
                </a:solidFill>
                <a:latin typeface="Cambria" pitchFamily="34" charset="0"/>
                <a:ea typeface="Cambria" pitchFamily="34" charset="-122"/>
                <a:cs typeface="Cambria" pitchFamily="34" charset="-120"/>
              </a:rPr>
              <a:t>“Three-year-old, previously healthy, two days of fever and refusal to bear weight, holding the hip flexed and externally rotated. I think this is septic arthritis of the hip until proven otherwise — the positioning plus the CRP is what worries me. Transient synovitis is my main competitor and I can’t separate them on exam. Osteomyelitis is possible. My can’t-miss is septic arthritis because of the joint-destruction clock. What I most want is the hip ultrasound.”</a:t>
            </a:r>
            <a:endParaRPr lang="en-US" sz="1200" dirty="0"/>
          </a:p>
        </p:txBody>
      </p:sp>
      <p:sp>
        <p:nvSpPr>
          <p:cNvPr id="16" name="Text 14"/>
          <p:cNvSpPr/>
          <p:nvPr/>
        </p:nvSpPr>
        <p:spPr>
          <a:xfrm>
            <a:off x="6483096" y="3730752"/>
            <a:ext cx="4882896" cy="310896"/>
          </a:xfrm>
          <a:prstGeom prst="rect">
            <a:avLst/>
          </a:prstGeom>
          <a:noFill/>
          <a:ln/>
        </p:spPr>
        <p:txBody>
          <a:bodyPr wrap="square" lIns="0" tIns="0" rIns="0" bIns="0" rtlCol="0" anchor="ctr"/>
          <a:lstStyle/>
          <a:p>
            <a:pPr indent="0" marL="0">
              <a:buNone/>
            </a:pPr>
            <a:r>
              <a:rPr lang="en-US" sz="1100" b="1" dirty="0">
                <a:solidFill>
                  <a:srgbClr val="3F7D5C"/>
                </a:solidFill>
                <a:latin typeface="Calibri" pitchFamily="34" charset="0"/>
                <a:ea typeface="Calibri" pitchFamily="34" charset="-122"/>
                <a:cs typeface="Calibri" pitchFamily="34" charset="-120"/>
              </a:rPr>
              <a:t>Four diagnoses, a leader, a competitor, a can’t-miss, and a test.</a:t>
            </a:r>
            <a:endParaRPr lang="en-US" sz="1100" dirty="0"/>
          </a:p>
        </p:txBody>
      </p:sp>
      <p:sp>
        <p:nvSpPr>
          <p:cNvPr id="17" name="Shape 15"/>
          <p:cNvSpPr/>
          <p:nvPr/>
        </p:nvSpPr>
        <p:spPr>
          <a:xfrm>
            <a:off x="6483096" y="4078224"/>
            <a:ext cx="4882896" cy="18288"/>
          </a:xfrm>
          <a:prstGeom prst="rect">
            <a:avLst/>
          </a:prstGeom>
          <a:solidFill>
            <a:srgbClr val="C9D3DC"/>
          </a:solidFill>
          <a:ln w="12700">
            <a:solidFill>
              <a:srgbClr val="C9D3DC"/>
            </a:solidFill>
            <a:prstDash val="solid"/>
          </a:ln>
        </p:spPr>
      </p:sp>
      <p:sp>
        <p:nvSpPr>
          <p:cNvPr id="18" name="Text 16"/>
          <p:cNvSpPr/>
          <p:nvPr/>
        </p:nvSpPr>
        <p:spPr>
          <a:xfrm>
            <a:off x="6483096" y="4187952"/>
            <a:ext cx="4882896" cy="10972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Problem representation in one sentence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 leader, with the reason it leads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 named competitor — and an admission of what exam cannot settle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The can’t-miss, with why it earns that label</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The test they want, ready to be argued with</a:t>
            </a:r>
            <a:endParaRPr lang="en-US" sz="1050" dirty="0"/>
          </a:p>
        </p:txBody>
      </p:sp>
      <p:sp>
        <p:nvSpPr>
          <p:cNvPr id="19" name="Shape 17"/>
          <p:cNvSpPr/>
          <p:nvPr/>
        </p:nvSpPr>
        <p:spPr>
          <a:xfrm>
            <a:off x="566928" y="5532120"/>
            <a:ext cx="11055096" cy="914400"/>
          </a:xfrm>
          <a:prstGeom prst="roundRect">
            <a:avLst>
              <a:gd name="adj" fmla="val 8000"/>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20" name="Text 18"/>
          <p:cNvSpPr/>
          <p:nvPr/>
        </p:nvSpPr>
        <p:spPr>
          <a:xfrm>
            <a:off x="868680" y="5532120"/>
            <a:ext cx="10424160" cy="91440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An intern who names four diagnoses and is wrong has done the exercise. An intern who names twelve has avoided it.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SENIOR BLOCK, SAME CASE</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What the second pass sounds like</a:t>
            </a:r>
            <a:endParaRPr lang="en-US" sz="3200" dirty="0"/>
          </a:p>
        </p:txBody>
      </p:sp>
      <p:sp>
        <p:nvSpPr>
          <p:cNvPr id="4" name="Text 2"/>
          <p:cNvSpPr/>
          <p:nvPr/>
        </p:nvSpPr>
        <p:spPr>
          <a:xfrm>
            <a:off x="566928" y="1353312"/>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Five moves, in order. The senior is not producing a better list — they are turning the intern’s list into an argument.</a:t>
            </a:r>
            <a:endParaRPr lang="en-US" sz="1300" dirty="0"/>
          </a:p>
        </p:txBody>
      </p:sp>
      <p:sp>
        <p:nvSpPr>
          <p:cNvPr id="5" name="Shape 3"/>
          <p:cNvSpPr/>
          <p:nvPr/>
        </p:nvSpPr>
        <p:spPr>
          <a:xfrm>
            <a:off x="566928" y="1700784"/>
            <a:ext cx="11055096"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6" name="Shape 4"/>
          <p:cNvSpPr/>
          <p:nvPr/>
        </p:nvSpPr>
        <p:spPr>
          <a:xfrm>
            <a:off x="822960" y="1929384"/>
            <a:ext cx="402336" cy="402336"/>
          </a:xfrm>
          <a:prstGeom prst="ellipse">
            <a:avLst/>
          </a:prstGeom>
          <a:solidFill>
            <a:srgbClr val="2E7D8F"/>
          </a:solidFill>
          <a:ln w="12700">
            <a:solidFill>
              <a:srgbClr val="2E7D8F"/>
            </a:solidFill>
            <a:prstDash val="solid"/>
          </a:ln>
        </p:spPr>
      </p:sp>
      <p:sp>
        <p:nvSpPr>
          <p:cNvPr id="7" name="Text 5"/>
          <p:cNvSpPr/>
          <p:nvPr/>
        </p:nvSpPr>
        <p:spPr>
          <a:xfrm>
            <a:off x="822960" y="19293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417320" y="1810512"/>
            <a:ext cx="2331720" cy="640080"/>
          </a:xfrm>
          <a:prstGeom prst="rect">
            <a:avLst/>
          </a:prstGeom>
          <a:noFill/>
          <a:ln/>
        </p:spPr>
        <p:txBody>
          <a:bodyPr wrap="square" lIns="0" tIns="0" rIns="0" bIns="0" rtlCol="0" anchor="ctr"/>
          <a:lstStyle/>
          <a:p>
            <a:pPr indent="0" marL="0">
              <a:buNone/>
            </a:pPr>
            <a:r>
              <a:rPr lang="en-US" sz="1200" b="1" dirty="0">
                <a:solidFill>
                  <a:srgbClr val="16283C"/>
                </a:solidFill>
                <a:latin typeface="Calibri" pitchFamily="34" charset="0"/>
                <a:ea typeface="Calibri" pitchFamily="34" charset="-122"/>
                <a:cs typeface="Calibri" pitchFamily="34" charset="-120"/>
              </a:rPr>
              <a:t>Organize into a framework</a:t>
            </a:r>
            <a:endParaRPr lang="en-US" sz="1200" dirty="0"/>
          </a:p>
        </p:txBody>
      </p:sp>
      <p:sp>
        <p:nvSpPr>
          <p:cNvPr id="9" name="Text 7"/>
          <p:cNvSpPr/>
          <p:nvPr/>
        </p:nvSpPr>
        <p:spPr>
          <a:xfrm>
            <a:off x="3886200" y="1783080"/>
            <a:ext cx="7452360" cy="676656"/>
          </a:xfrm>
          <a:prstGeom prst="rect">
            <a:avLst/>
          </a:prstGeom>
          <a:noFill/>
          <a:ln/>
        </p:spPr>
        <p:txBody>
          <a:bodyPr wrap="square" lIns="0" tIns="0" rIns="0" bIns="0" rtlCol="0" anchor="ctr"/>
          <a:lstStyle/>
          <a:p>
            <a:pPr indent="0" marL="0">
              <a:lnSpc>
                <a:spcPts val="1400"/>
              </a:lnSpc>
              <a:buNone/>
            </a:pPr>
            <a:r>
              <a:rPr lang="en-US" sz="1100" i="1" dirty="0">
                <a:solidFill>
                  <a:srgbClr val="2B3440"/>
                </a:solidFill>
                <a:latin typeface="Cambria" pitchFamily="34" charset="0"/>
                <a:ea typeface="Cambria" pitchFamily="34" charset="-122"/>
                <a:cs typeface="Cambria" pitchFamily="34" charset="-120"/>
              </a:rPr>
              <a:t>“Let me take this by layer, because that’s what the imaging will sort out. Skin and soft tissue — no cellulitis, off. Joint — septic arthritis and transient synovitis, both live. Bone — proximal femoral osteomyelitis, live. Referred — psoas, appendicitis, off; he localizes and the abdomen is soft.”</a:t>
            </a:r>
            <a:endParaRPr lang="en-US" sz="1100" dirty="0"/>
          </a:p>
        </p:txBody>
      </p:sp>
      <p:sp>
        <p:nvSpPr>
          <p:cNvPr id="10" name="Shape 8"/>
          <p:cNvSpPr/>
          <p:nvPr/>
        </p:nvSpPr>
        <p:spPr>
          <a:xfrm>
            <a:off x="566928" y="2615184"/>
            <a:ext cx="11055096"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1" name="Shape 9"/>
          <p:cNvSpPr/>
          <p:nvPr/>
        </p:nvSpPr>
        <p:spPr>
          <a:xfrm>
            <a:off x="822960" y="2843784"/>
            <a:ext cx="402336" cy="402336"/>
          </a:xfrm>
          <a:prstGeom prst="ellipse">
            <a:avLst/>
          </a:prstGeom>
          <a:solidFill>
            <a:srgbClr val="2E7D8F"/>
          </a:solidFill>
          <a:ln w="12700">
            <a:solidFill>
              <a:srgbClr val="2E7D8F"/>
            </a:solidFill>
            <a:prstDash val="solid"/>
          </a:ln>
        </p:spPr>
      </p:sp>
      <p:sp>
        <p:nvSpPr>
          <p:cNvPr id="12" name="Text 10"/>
          <p:cNvSpPr/>
          <p:nvPr/>
        </p:nvSpPr>
        <p:spPr>
          <a:xfrm>
            <a:off x="822960" y="28437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1417320" y="2724912"/>
            <a:ext cx="2331720" cy="640080"/>
          </a:xfrm>
          <a:prstGeom prst="rect">
            <a:avLst/>
          </a:prstGeom>
          <a:noFill/>
          <a:ln/>
        </p:spPr>
        <p:txBody>
          <a:bodyPr wrap="square" lIns="0" tIns="0" rIns="0" bIns="0" rtlCol="0" anchor="ctr"/>
          <a:lstStyle/>
          <a:p>
            <a:pPr indent="0" marL="0">
              <a:buNone/>
            </a:pPr>
            <a:r>
              <a:rPr lang="en-US" sz="1200" b="1" dirty="0">
                <a:solidFill>
                  <a:srgbClr val="16283C"/>
                </a:solidFill>
                <a:latin typeface="Calibri" pitchFamily="34" charset="0"/>
                <a:ea typeface="Calibri" pitchFamily="34" charset="-122"/>
                <a:cs typeface="Calibri" pitchFamily="34" charset="-120"/>
              </a:rPr>
              <a:t>Prune out loud, with the reason</a:t>
            </a:r>
            <a:endParaRPr lang="en-US" sz="1200" dirty="0"/>
          </a:p>
        </p:txBody>
      </p:sp>
      <p:sp>
        <p:nvSpPr>
          <p:cNvPr id="14" name="Text 12"/>
          <p:cNvSpPr/>
          <p:nvPr/>
        </p:nvSpPr>
        <p:spPr>
          <a:xfrm>
            <a:off x="3886200" y="2697480"/>
            <a:ext cx="7452360" cy="676656"/>
          </a:xfrm>
          <a:prstGeom prst="rect">
            <a:avLst/>
          </a:prstGeom>
          <a:noFill/>
          <a:ln/>
        </p:spPr>
        <p:txBody>
          <a:bodyPr wrap="square" lIns="0" tIns="0" rIns="0" bIns="0" rtlCol="0" anchor="ctr"/>
          <a:lstStyle/>
          <a:p>
            <a:pPr indent="0" marL="0">
              <a:lnSpc>
                <a:spcPts val="1400"/>
              </a:lnSpc>
              <a:buNone/>
            </a:pPr>
            <a:r>
              <a:rPr lang="en-US" sz="1100" i="1" dirty="0">
                <a:solidFill>
                  <a:srgbClr val="2B3440"/>
                </a:solidFill>
                <a:latin typeface="Cambria" pitchFamily="34" charset="0"/>
                <a:ea typeface="Cambria" pitchFamily="34" charset="-122"/>
                <a:cs typeface="Cambria" pitchFamily="34" charset="-120"/>
              </a:rPr>
              <a:t>“Febrile at 38.6, CRP 8.4, refusing to bear weight — that’s three of four Kocher criteria, which is past the point where I keep trying to talk myself out of it.”</a:t>
            </a:r>
            <a:endParaRPr lang="en-US" sz="1100" dirty="0"/>
          </a:p>
        </p:txBody>
      </p:sp>
      <p:sp>
        <p:nvSpPr>
          <p:cNvPr id="15" name="Shape 13"/>
          <p:cNvSpPr/>
          <p:nvPr/>
        </p:nvSpPr>
        <p:spPr>
          <a:xfrm>
            <a:off x="566928" y="3529584"/>
            <a:ext cx="11055096"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6" name="Shape 14"/>
          <p:cNvSpPr/>
          <p:nvPr/>
        </p:nvSpPr>
        <p:spPr>
          <a:xfrm>
            <a:off x="822960" y="3758184"/>
            <a:ext cx="402336" cy="402336"/>
          </a:xfrm>
          <a:prstGeom prst="ellipse">
            <a:avLst/>
          </a:prstGeom>
          <a:solidFill>
            <a:srgbClr val="2E7D8F"/>
          </a:solidFill>
          <a:ln w="12700">
            <a:solidFill>
              <a:srgbClr val="2E7D8F"/>
            </a:solidFill>
            <a:prstDash val="solid"/>
          </a:ln>
        </p:spPr>
      </p:sp>
      <p:sp>
        <p:nvSpPr>
          <p:cNvPr id="17" name="Text 15"/>
          <p:cNvSpPr/>
          <p:nvPr/>
        </p:nvSpPr>
        <p:spPr>
          <a:xfrm>
            <a:off x="822960" y="37581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1417320" y="3639312"/>
            <a:ext cx="2331720" cy="640080"/>
          </a:xfrm>
          <a:prstGeom prst="rect">
            <a:avLst/>
          </a:prstGeom>
          <a:noFill/>
          <a:ln/>
        </p:spPr>
        <p:txBody>
          <a:bodyPr wrap="square" lIns="0" tIns="0" rIns="0" bIns="0" rtlCol="0" anchor="ctr"/>
          <a:lstStyle/>
          <a:p>
            <a:pPr indent="0" marL="0">
              <a:buNone/>
            </a:pPr>
            <a:r>
              <a:rPr lang="en-US" sz="1200" b="1" dirty="0">
                <a:solidFill>
                  <a:srgbClr val="16283C"/>
                </a:solidFill>
                <a:latin typeface="Calibri" pitchFamily="34" charset="0"/>
                <a:ea typeface="Calibri" pitchFamily="34" charset="-122"/>
                <a:cs typeface="Calibri" pitchFamily="34" charset="-120"/>
              </a:rPr>
              <a:t>Apply the illness script</a:t>
            </a:r>
            <a:endParaRPr lang="en-US" sz="1200" dirty="0"/>
          </a:p>
        </p:txBody>
      </p:sp>
      <p:sp>
        <p:nvSpPr>
          <p:cNvPr id="19" name="Text 17"/>
          <p:cNvSpPr/>
          <p:nvPr/>
        </p:nvSpPr>
        <p:spPr>
          <a:xfrm>
            <a:off x="3886200" y="3611880"/>
            <a:ext cx="7452360" cy="676656"/>
          </a:xfrm>
          <a:prstGeom prst="rect">
            <a:avLst/>
          </a:prstGeom>
          <a:noFill/>
          <a:ln/>
        </p:spPr>
        <p:txBody>
          <a:bodyPr wrap="square" lIns="0" tIns="0" rIns="0" bIns="0" rtlCol="0" anchor="ctr"/>
          <a:lstStyle/>
          <a:p>
            <a:pPr indent="0" marL="0">
              <a:lnSpc>
                <a:spcPts val="1400"/>
              </a:lnSpc>
              <a:buNone/>
            </a:pPr>
            <a:r>
              <a:rPr lang="en-US" sz="1100" i="1" dirty="0">
                <a:solidFill>
                  <a:srgbClr val="2B3440"/>
                </a:solidFill>
                <a:latin typeface="Cambria" pitchFamily="34" charset="0"/>
                <a:ea typeface="Cambria" pitchFamily="34" charset="-122"/>
                <a:cs typeface="Cambria" pitchFamily="34" charset="-120"/>
              </a:rPr>
              <a:t>“Classic transient synovitis follows a viral illness, the child is afebrile or low-grade, and they’ll usually weight-bear if you coax them. That is not this kid.”</a:t>
            </a:r>
            <a:endParaRPr lang="en-US" sz="1100" dirty="0"/>
          </a:p>
        </p:txBody>
      </p:sp>
      <p:sp>
        <p:nvSpPr>
          <p:cNvPr id="20" name="Shape 18"/>
          <p:cNvSpPr/>
          <p:nvPr/>
        </p:nvSpPr>
        <p:spPr>
          <a:xfrm>
            <a:off x="566928" y="4443984"/>
            <a:ext cx="11055096"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1" name="Shape 19"/>
          <p:cNvSpPr/>
          <p:nvPr/>
        </p:nvSpPr>
        <p:spPr>
          <a:xfrm>
            <a:off x="822960" y="4672584"/>
            <a:ext cx="402336" cy="402336"/>
          </a:xfrm>
          <a:prstGeom prst="ellipse">
            <a:avLst/>
          </a:prstGeom>
          <a:solidFill>
            <a:srgbClr val="2E7D8F"/>
          </a:solidFill>
          <a:ln w="12700">
            <a:solidFill>
              <a:srgbClr val="2E7D8F"/>
            </a:solidFill>
            <a:prstDash val="solid"/>
          </a:ln>
        </p:spPr>
      </p:sp>
      <p:sp>
        <p:nvSpPr>
          <p:cNvPr id="22" name="Text 20"/>
          <p:cNvSpPr/>
          <p:nvPr/>
        </p:nvSpPr>
        <p:spPr>
          <a:xfrm>
            <a:off x="822960" y="46725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1417320" y="4553712"/>
            <a:ext cx="2331720" cy="640080"/>
          </a:xfrm>
          <a:prstGeom prst="rect">
            <a:avLst/>
          </a:prstGeom>
          <a:noFill/>
          <a:ln/>
        </p:spPr>
        <p:txBody>
          <a:bodyPr wrap="square" lIns="0" tIns="0" rIns="0" bIns="0" rtlCol="0" anchor="ctr"/>
          <a:lstStyle/>
          <a:p>
            <a:pPr indent="0" marL="0">
              <a:buNone/>
            </a:pPr>
            <a:r>
              <a:rPr lang="en-US" sz="1200" b="1" dirty="0">
                <a:solidFill>
                  <a:srgbClr val="16283C"/>
                </a:solidFill>
                <a:latin typeface="Calibri" pitchFamily="34" charset="0"/>
                <a:ea typeface="Calibri" pitchFamily="34" charset="-122"/>
                <a:cs typeface="Calibri" pitchFamily="34" charset="-120"/>
              </a:rPr>
              <a:t>Name the discriminating test</a:t>
            </a:r>
            <a:endParaRPr lang="en-US" sz="1200" dirty="0"/>
          </a:p>
        </p:txBody>
      </p:sp>
      <p:sp>
        <p:nvSpPr>
          <p:cNvPr id="24" name="Text 22"/>
          <p:cNvSpPr/>
          <p:nvPr/>
        </p:nvSpPr>
        <p:spPr>
          <a:xfrm>
            <a:off x="3886200" y="4526280"/>
            <a:ext cx="7452360" cy="676656"/>
          </a:xfrm>
          <a:prstGeom prst="rect">
            <a:avLst/>
          </a:prstGeom>
          <a:noFill/>
          <a:ln/>
        </p:spPr>
        <p:txBody>
          <a:bodyPr wrap="square" lIns="0" tIns="0" rIns="0" bIns="0" rtlCol="0" anchor="ctr"/>
          <a:lstStyle/>
          <a:p>
            <a:pPr indent="0" marL="0">
              <a:lnSpc>
                <a:spcPts val="1400"/>
              </a:lnSpc>
              <a:buNone/>
            </a:pPr>
            <a:r>
              <a:rPr lang="en-US" sz="1100" i="1" dirty="0">
                <a:solidFill>
                  <a:srgbClr val="2B3440"/>
                </a:solidFill>
                <a:latin typeface="Cambria" pitchFamily="34" charset="0"/>
                <a:ea typeface="Cambria" pitchFamily="34" charset="-122"/>
                <a:cs typeface="Cambria" pitchFamily="34" charset="-120"/>
              </a:rPr>
              <a:t>“Hip ultrasound, with aspiration if there’s an effusion. Effusion plus that CRP and I’m calling ortho tonight. No effusion pushes me to MRI for osteomyelitis, not back to synovitis.”</a:t>
            </a:r>
            <a:endParaRPr lang="en-US" sz="1100" dirty="0"/>
          </a:p>
        </p:txBody>
      </p:sp>
      <p:sp>
        <p:nvSpPr>
          <p:cNvPr id="25" name="Shape 23"/>
          <p:cNvSpPr/>
          <p:nvPr/>
        </p:nvSpPr>
        <p:spPr>
          <a:xfrm>
            <a:off x="566928" y="5358384"/>
            <a:ext cx="11055096" cy="841248"/>
          </a:xfrm>
          <a:prstGeom prst="roundRect">
            <a:avLst>
              <a:gd name="adj" fmla="val 8696"/>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6" name="Shape 24"/>
          <p:cNvSpPr/>
          <p:nvPr/>
        </p:nvSpPr>
        <p:spPr>
          <a:xfrm>
            <a:off x="822960" y="5586984"/>
            <a:ext cx="402336" cy="402336"/>
          </a:xfrm>
          <a:prstGeom prst="ellipse">
            <a:avLst/>
          </a:prstGeom>
          <a:solidFill>
            <a:srgbClr val="2E7D8F"/>
          </a:solidFill>
          <a:ln w="12700">
            <a:solidFill>
              <a:srgbClr val="2E7D8F"/>
            </a:solidFill>
            <a:prstDash val="solid"/>
          </a:ln>
        </p:spPr>
      </p:sp>
      <p:sp>
        <p:nvSpPr>
          <p:cNvPr id="27" name="Text 25"/>
          <p:cNvSpPr/>
          <p:nvPr/>
        </p:nvSpPr>
        <p:spPr>
          <a:xfrm>
            <a:off x="822960" y="5586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8" name="Text 26"/>
          <p:cNvSpPr/>
          <p:nvPr/>
        </p:nvSpPr>
        <p:spPr>
          <a:xfrm>
            <a:off x="1417320" y="5468112"/>
            <a:ext cx="2331720" cy="640080"/>
          </a:xfrm>
          <a:prstGeom prst="rect">
            <a:avLst/>
          </a:prstGeom>
          <a:noFill/>
          <a:ln/>
        </p:spPr>
        <p:txBody>
          <a:bodyPr wrap="square" lIns="0" tIns="0" rIns="0" bIns="0" rtlCol="0" anchor="ctr"/>
          <a:lstStyle/>
          <a:p>
            <a:pPr indent="0" marL="0">
              <a:buNone/>
            </a:pPr>
            <a:r>
              <a:rPr lang="en-US" sz="1200" b="1" dirty="0">
                <a:solidFill>
                  <a:srgbClr val="16283C"/>
                </a:solidFill>
                <a:latin typeface="Calibri" pitchFamily="34" charset="0"/>
                <a:ea typeface="Calibri" pitchFamily="34" charset="-122"/>
                <a:cs typeface="Calibri" pitchFamily="34" charset="-120"/>
              </a:rPr>
              <a:t>State confidence, trigger, and bias</a:t>
            </a:r>
            <a:endParaRPr lang="en-US" sz="1200" dirty="0"/>
          </a:p>
        </p:txBody>
      </p:sp>
      <p:sp>
        <p:nvSpPr>
          <p:cNvPr id="29" name="Text 27"/>
          <p:cNvSpPr/>
          <p:nvPr/>
        </p:nvSpPr>
        <p:spPr>
          <a:xfrm>
            <a:off x="3886200" y="5440680"/>
            <a:ext cx="7452360" cy="676656"/>
          </a:xfrm>
          <a:prstGeom prst="rect">
            <a:avLst/>
          </a:prstGeom>
          <a:noFill/>
          <a:ln/>
        </p:spPr>
        <p:txBody>
          <a:bodyPr wrap="square" lIns="0" tIns="0" rIns="0" bIns="0" rtlCol="0" anchor="ctr"/>
          <a:lstStyle/>
          <a:p>
            <a:pPr indent="0" marL="0">
              <a:lnSpc>
                <a:spcPts val="1400"/>
              </a:lnSpc>
              <a:buNone/>
            </a:pPr>
            <a:r>
              <a:rPr lang="en-US" sz="1100" i="1" dirty="0">
                <a:solidFill>
                  <a:srgbClr val="2B3440"/>
                </a:solidFill>
                <a:latin typeface="Cambria" pitchFamily="34" charset="0"/>
                <a:ea typeface="Cambria" pitchFamily="34" charset="-122"/>
                <a:cs typeface="Cambria" pitchFamily="34" charset="-120"/>
              </a:rPr>
              <a:t>“Working diagnosis septic arthritis of the hip, about 70%. What would change my mind is a dry tap with a normal-looking joint — then I’m in bone, not joint. I’m watching myself for premature closure: I anchored on hip the second I heard the positioning, and nobody has looked at the smear.”</a:t>
            </a:r>
            <a:endParaRPr lang="en-US" sz="1100" dirty="0"/>
          </a:p>
        </p:txBody>
      </p:sp>
      <p:sp>
        <p:nvSpPr>
          <p:cNvPr id="30" name="Text 28"/>
          <p:cNvSpPr/>
          <p:nvPr/>
        </p:nvSpPr>
        <p:spPr>
          <a:xfrm>
            <a:off x="566928" y="6345936"/>
            <a:ext cx="11055096" cy="320040"/>
          </a:xfrm>
          <a:prstGeom prst="rect">
            <a:avLst/>
          </a:prstGeom>
          <a:noFill/>
          <a:ln/>
        </p:spPr>
        <p:txBody>
          <a:bodyPr wrap="square" lIns="0" tIns="0" rIns="0" bIns="0" rtlCol="0" anchor="ctr"/>
          <a:lstStyle/>
          <a:p>
            <a:pPr indent="0" marL="0">
              <a:buNone/>
            </a:pPr>
            <a:r>
              <a:rPr lang="en-US" sz="1150" b="1" i="1" dirty="0">
                <a:solidFill>
                  <a:srgbClr val="16283C"/>
                </a:solidFill>
                <a:latin typeface="Calibri" pitchFamily="34" charset="0"/>
                <a:ea typeface="Calibri" pitchFamily="34" charset="-122"/>
                <a:cs typeface="Calibri" pitchFamily="34" charset="-120"/>
              </a:rPr>
              <a:t>Notice what the senior never does: hand over the answer. Every move is a claim the group can push back on.</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ACROSS THE ACADEMIC YEAR</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Raising the ask on the intern</a:t>
            </a:r>
            <a:endParaRPr lang="en-US" sz="3200" dirty="0"/>
          </a:p>
        </p:txBody>
      </p:sp>
      <p:sp>
        <p:nvSpPr>
          <p:cNvPr id="4" name="Text 2"/>
          <p:cNvSpPr/>
          <p:nvPr/>
        </p:nvSpPr>
        <p:spPr>
          <a:xfrm>
            <a:off x="566928" y="1353312"/>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The transition is a ratchet, not a date. Add one senior demand at a time, and shrink the senior's block to make room for it.</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5096" cy="914400"/>
        </p:xfrm>
        <a:graphic>
          <a:graphicData uri="http://schemas.openxmlformats.org/drawingml/2006/table">
            <a:tbl>
              <a:tblPr/>
              <a:tblGrid>
                <a:gridCol w="1188720"/>
                <a:gridCol w="5074920"/>
                <a:gridCol w="3694176"/>
                <a:gridCol w="1097280"/>
              </a:tblGrid>
              <a:tr h="51206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BLOCK</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 PGY-1 OWES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 SENIOR DOES</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SR BLOCK</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r>
              <a:tr h="51206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Jul – Sep</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The four deliverables only. Protected and uninterrupted.</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i="1" dirty="0">
                          <a:solidFill>
                            <a:srgbClr val="5F6B78"/>
                          </a:solidFill>
                          <a:latin typeface="Calibri" pitchFamily="34" charset="0"/>
                          <a:ea typeface="Calibri" pitchFamily="34" charset="-122"/>
                          <a:cs typeface="Calibri" pitchFamily="34" charset="-120"/>
                        </a:rPr>
                        <a:t>Supplies the framework. Does all the pruning.</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283C"/>
                          </a:solidFill>
                          <a:latin typeface="Calibri" pitchFamily="34" charset="0"/>
                          <a:ea typeface="Calibri" pitchFamily="34" charset="-122"/>
                          <a:cs typeface="Calibri" pitchFamily="34" charset="-120"/>
                        </a:rPr>
                        <a:t>5 min</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Oct – Dec</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 the test that separates their top two, and what each result would mean</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i="1" dirty="0">
                          <a:solidFill>
                            <a:srgbClr val="5F6B78"/>
                          </a:solidFill>
                          <a:latin typeface="Calibri" pitchFamily="34" charset="0"/>
                          <a:ea typeface="Calibri" pitchFamily="34" charset="-122"/>
                          <a:cs typeface="Calibri" pitchFamily="34" charset="-120"/>
                        </a:rPr>
                        <a:t>Still supplies the framework. Validates the test choice.</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algn="ctr" indent="0" marL="0">
                        <a:buNone/>
                      </a:pPr>
                      <a:r>
                        <a:rPr lang="en-US" sz="1100" b="1" dirty="0">
                          <a:solidFill>
                            <a:srgbClr val="16283C"/>
                          </a:solidFill>
                          <a:latin typeface="Calibri" pitchFamily="34" charset="0"/>
                          <a:ea typeface="Calibri" pitchFamily="34" charset="-122"/>
                          <a:cs typeface="Calibri" pitchFamily="34" charset="-120"/>
                        </a:rPr>
                        <a:t>5 min</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r h="51206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Jan – Mar</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 the framework, named before the list. Theirs to pick, and allowed to be wrong.</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indent="0" marL="0">
                        <a:buNone/>
                      </a:pPr>
                      <a:r>
                        <a:rPr lang="en-US" sz="1100" i="1" dirty="0">
                          <a:solidFill>
                            <a:srgbClr val="5F6B78"/>
                          </a:solidFill>
                          <a:latin typeface="Calibri" pitchFamily="34" charset="0"/>
                          <a:ea typeface="Calibri" pitchFamily="34" charset="-122"/>
                          <a:cs typeface="Calibri" pitchFamily="34" charset="-120"/>
                        </a:rPr>
                        <a:t>Critiques the choice: "Why anatomic and not tempo?"</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283C"/>
                          </a:solidFill>
                          <a:latin typeface="Calibri" pitchFamily="34" charset="0"/>
                          <a:ea typeface="Calibri" pitchFamily="34" charset="-122"/>
                          <a:cs typeface="Calibri" pitchFamily="34" charset="-120"/>
                        </a:rPr>
                        <a:t>4 min</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rgbClr val="2E7D8F"/>
                          </a:solidFill>
                          <a:latin typeface="Calibri" pitchFamily="34" charset="0"/>
                          <a:ea typeface="Calibri" pitchFamily="34" charset="-122"/>
                          <a:cs typeface="Calibri" pitchFamily="34" charset="-120"/>
                        </a:rPr>
                        <a:t>Apr – Jun</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 explicit pruning: what argues against #2, and what would change their mind</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indent="0" marL="0">
                        <a:buNone/>
                      </a:pPr>
                      <a:r>
                        <a:rPr lang="en-US" sz="1100" i="1" dirty="0">
                          <a:solidFill>
                            <a:srgbClr val="5F6B78"/>
                          </a:solidFill>
                          <a:latin typeface="Calibri" pitchFamily="34" charset="0"/>
                          <a:ea typeface="Calibri" pitchFamily="34" charset="-122"/>
                          <a:cs typeface="Calibri" pitchFamily="34" charset="-120"/>
                        </a:rPr>
                        <a:t>Backstop only. Adds what the intern missed.</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algn="ctr" indent="0" marL="0">
                        <a:buNone/>
                      </a:pPr>
                      <a:r>
                        <a:rPr lang="en-US" sz="1100" b="1" dirty="0">
                          <a:solidFill>
                            <a:srgbClr val="16283C"/>
                          </a:solidFill>
                          <a:latin typeface="Calibri" pitchFamily="34" charset="0"/>
                          <a:ea typeface="Calibri" pitchFamily="34" charset="-122"/>
                          <a:cs typeface="Calibri" pitchFamily="34" charset="-120"/>
                        </a:rPr>
                        <a:t>3 min</a:t>
                      </a:r>
                      <a:endParaRPr lang="en-US" sz="110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r>
            </a:tbl>
          </a:graphicData>
        </a:graphic>
      </p:graphicFrame>
      <p:sp>
        <p:nvSpPr>
          <p:cNvPr id="6" name="Shape 3"/>
          <p:cNvSpPr/>
          <p:nvPr/>
        </p:nvSpPr>
        <p:spPr>
          <a:xfrm>
            <a:off x="566928" y="4572000"/>
            <a:ext cx="5394960" cy="1417320"/>
          </a:xfrm>
          <a:prstGeom prst="roundRect">
            <a:avLst>
              <a:gd name="adj" fmla="val 5161"/>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7" name="Text 4"/>
          <p:cNvSpPr/>
          <p:nvPr/>
        </p:nvSpPr>
        <p:spPr>
          <a:xfrm>
            <a:off x="841248" y="4718304"/>
            <a:ext cx="4846320" cy="274320"/>
          </a:xfrm>
          <a:prstGeom prst="rect">
            <a:avLst/>
          </a:prstGeom>
          <a:noFill/>
          <a:ln/>
        </p:spPr>
        <p:txBody>
          <a:bodyPr wrap="square" lIns="0" tIns="0" rIns="0" bIns="0" rtlCol="0" anchor="ctr"/>
          <a:lstStyle/>
          <a:p>
            <a:pPr indent="0" marL="0">
              <a:buNone/>
            </a:pPr>
            <a:r>
              <a:rPr lang="en-US" sz="1200" b="1" dirty="0">
                <a:solidFill>
                  <a:srgbClr val="3F7D5C"/>
                </a:solidFill>
                <a:latin typeface="Calibri" pitchFamily="34" charset="0"/>
                <a:ea typeface="Calibri" pitchFamily="34" charset="-122"/>
                <a:cs typeface="Calibri" pitchFamily="34" charset="-120"/>
              </a:rPr>
              <a:t>Move someone up early when they</a:t>
            </a:r>
            <a:endParaRPr lang="en-US" sz="1200" dirty="0"/>
          </a:p>
        </p:txBody>
      </p:sp>
      <p:sp>
        <p:nvSpPr>
          <p:cNvPr id="8" name="Text 5"/>
          <p:cNvSpPr/>
          <p:nvPr/>
        </p:nvSpPr>
        <p:spPr>
          <a:xfrm>
            <a:off x="841248" y="5029200"/>
            <a:ext cx="4846320" cy="9144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Volunteer a framework before anyone asks</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Give three or four items, not eight</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Say why an item is on the list unprompted</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Self-correct mid-pass</a:t>
            </a:r>
            <a:endParaRPr lang="en-US" sz="1100" dirty="0"/>
          </a:p>
        </p:txBody>
      </p:sp>
      <p:sp>
        <p:nvSpPr>
          <p:cNvPr id="9" name="Shape 6"/>
          <p:cNvSpPr/>
          <p:nvPr/>
        </p:nvSpPr>
        <p:spPr>
          <a:xfrm>
            <a:off x="6227064" y="4572000"/>
            <a:ext cx="5394960" cy="1417320"/>
          </a:xfrm>
          <a:prstGeom prst="roundRect">
            <a:avLst>
              <a:gd name="adj" fmla="val 5161"/>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10" name="Text 7"/>
          <p:cNvSpPr/>
          <p:nvPr/>
        </p:nvSpPr>
        <p:spPr>
          <a:xfrm>
            <a:off x="6501384" y="4718304"/>
            <a:ext cx="4846320" cy="274320"/>
          </a:xfrm>
          <a:prstGeom prst="rect">
            <a:avLst/>
          </a:prstGeom>
          <a:noFill/>
          <a:ln/>
        </p:spPr>
        <p:txBody>
          <a:bodyPr wrap="square" lIns="0" tIns="0" rIns="0" bIns="0" rtlCol="0" anchor="ctr"/>
          <a:lstStyle/>
          <a:p>
            <a:pPr indent="0" marL="0">
              <a:buNone/>
            </a:pPr>
            <a:r>
              <a:rPr lang="en-US" sz="1200" b="1" dirty="0">
                <a:solidFill>
                  <a:srgbClr val="8A6014"/>
                </a:solidFill>
                <a:latin typeface="Calibri" pitchFamily="34" charset="0"/>
                <a:ea typeface="Calibri" pitchFamily="34" charset="-122"/>
                <a:cs typeface="Calibri" pitchFamily="34" charset="-120"/>
              </a:rPr>
              <a:t>The one sign it is going wrong</a:t>
            </a:r>
            <a:endParaRPr lang="en-US" sz="1200" dirty="0"/>
          </a:p>
        </p:txBody>
      </p:sp>
      <p:sp>
        <p:nvSpPr>
          <p:cNvPr id="11" name="Text 8"/>
          <p:cNvSpPr/>
          <p:nvPr/>
        </p:nvSpPr>
        <p:spPr>
          <a:xfrm>
            <a:off x="6501384" y="5029200"/>
            <a:ext cx="4846320" cy="914400"/>
          </a:xfrm>
          <a:prstGeom prst="rect">
            <a:avLst/>
          </a:prstGeom>
          <a:noFill/>
          <a:ln/>
        </p:spPr>
        <p:txBody>
          <a:bodyPr wrap="square" lIns="0" tIns="0" rIns="0" bIns="0" rtlCol="0" anchor="ctr"/>
          <a:lstStyle/>
          <a:p>
            <a:pPr indent="0" marL="0">
              <a:lnSpc>
                <a:spcPts val="1400"/>
              </a:lnSpc>
              <a:buNone/>
            </a:pPr>
            <a:r>
              <a:rPr lang="en-US" sz="1100" dirty="0">
                <a:solidFill>
                  <a:srgbClr val="4A3520"/>
                </a:solidFill>
                <a:latin typeface="Calibri" pitchFamily="34" charset="0"/>
                <a:ea typeface="Calibri" pitchFamily="34" charset="-122"/>
                <a:cs typeface="Calibri" pitchFamily="34" charset="-120"/>
              </a:rPr>
              <a:t>The list gets longer after you escalate. That is covering, not committing — reaching for breadth to avoid being pinned to a choice. Back off one rung and say plainly that four with reasons beats eight without.</a:t>
            </a:r>
            <a:endParaRPr lang="en-US" sz="1100" dirty="0"/>
          </a:p>
        </p:txBody>
      </p:sp>
      <p:sp>
        <p:nvSpPr>
          <p:cNvPr id="12" name="Text 9"/>
          <p:cNvSpPr/>
          <p:nvPr/>
        </p:nvSpPr>
        <p:spPr>
          <a:xfrm>
            <a:off x="566928" y="6172200"/>
            <a:ext cx="11055096" cy="320040"/>
          </a:xfrm>
          <a:prstGeom prst="rect">
            <a:avLst/>
          </a:prstGeom>
          <a:noFill/>
          <a:ln/>
        </p:spPr>
        <p:txBody>
          <a:bodyPr wrap="square" lIns="0" tIns="0" rIns="0" bIns="0" rtlCol="0" anchor="ctr"/>
          <a:lstStyle/>
          <a:p>
            <a:pPr indent="0" marL="0">
              <a:buNone/>
            </a:pPr>
            <a:r>
              <a:rPr lang="en-US" sz="1150" b="1" i="1" dirty="0">
                <a:solidFill>
                  <a:srgbClr val="16283C"/>
                </a:solidFill>
                <a:latin typeface="Calibri" pitchFamily="34" charset="0"/>
                <a:ea typeface="Calibri" pitchFamily="34" charset="-122"/>
                <a:cs typeface="Calibri" pitchFamily="34" charset="-120"/>
              </a:rPr>
              <a:t>Escalate in the pre-report email, never on camera — the one-liner already goes out 24 hours ahead. Add one line naming the new ask.</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WHAT PROGRESS ACTUALLY SOUNDS LIKE</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The same intern, four times a year</a:t>
            </a:r>
            <a:endParaRPr lang="en-US" sz="3200" dirty="0"/>
          </a:p>
        </p:txBody>
      </p:sp>
      <p:sp>
        <p:nvSpPr>
          <p:cNvPr id="4" name="Text 2"/>
          <p:cNvSpPr/>
          <p:nvPr/>
        </p:nvSpPr>
        <p:spPr>
          <a:xfrm>
            <a:off x="566928" y="1353312"/>
            <a:ext cx="11055096"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One resident, four similar cases. Nobody taught them a framework directly — they watched seniors choose one against real patients, twice a week, for nine months.</a:t>
            </a:r>
            <a:endParaRPr lang="en-US" sz="1300" dirty="0"/>
          </a:p>
        </p:txBody>
      </p:sp>
      <p:sp>
        <p:nvSpPr>
          <p:cNvPr id="5" name="Shape 3"/>
          <p:cNvSpPr/>
          <p:nvPr/>
        </p:nvSpPr>
        <p:spPr>
          <a:xfrm>
            <a:off x="566928" y="1691640"/>
            <a:ext cx="2660904" cy="3200400"/>
          </a:xfrm>
          <a:prstGeom prst="roundRect">
            <a:avLst>
              <a:gd name="adj" fmla="val 2749"/>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6" name="Shape 4"/>
          <p:cNvSpPr/>
          <p:nvPr/>
        </p:nvSpPr>
        <p:spPr>
          <a:xfrm>
            <a:off x="566928" y="1691640"/>
            <a:ext cx="2660904" cy="457200"/>
          </a:xfrm>
          <a:prstGeom prst="rect">
            <a:avLst/>
          </a:prstGeom>
          <a:solidFill>
            <a:srgbClr val="9AA7B4"/>
          </a:solidFill>
          <a:ln w="12700">
            <a:solidFill>
              <a:srgbClr val="9AA7B4"/>
            </a:solidFill>
            <a:prstDash val="solid"/>
          </a:ln>
        </p:spPr>
      </p:sp>
      <p:sp>
        <p:nvSpPr>
          <p:cNvPr id="7" name="Text 5"/>
          <p:cNvSpPr/>
          <p:nvPr/>
        </p:nvSpPr>
        <p:spPr>
          <a:xfrm>
            <a:off x="786384" y="1691640"/>
            <a:ext cx="2221992" cy="457200"/>
          </a:xfrm>
          <a:prstGeom prst="rect">
            <a:avLst/>
          </a:prstGeom>
          <a:noFill/>
          <a:ln/>
        </p:spPr>
        <p:txBody>
          <a:bodyPr wrap="square" lIns="0" tIns="0" rIns="0" bIns="0" rtlCol="0" anchor="ctr"/>
          <a:lstStyle/>
          <a:p>
            <a:pPr indent="0" marL="0">
              <a:buNone/>
            </a:pPr>
            <a:r>
              <a:rPr lang="en-US" sz="1150" b="1" spc="150" kern="0" dirty="0">
                <a:solidFill>
                  <a:srgbClr val="FFFFFF"/>
                </a:solidFill>
                <a:latin typeface="Calibri" pitchFamily="34" charset="0"/>
                <a:ea typeface="Calibri" pitchFamily="34" charset="-122"/>
                <a:cs typeface="Calibri" pitchFamily="34" charset="-120"/>
              </a:rPr>
              <a:t>JULY</a:t>
            </a:r>
            <a:endParaRPr lang="en-US" sz="1150" dirty="0"/>
          </a:p>
        </p:txBody>
      </p:sp>
      <p:sp>
        <p:nvSpPr>
          <p:cNvPr id="8" name="Text 6"/>
          <p:cNvSpPr/>
          <p:nvPr/>
        </p:nvSpPr>
        <p:spPr>
          <a:xfrm>
            <a:off x="786384" y="2249424"/>
            <a:ext cx="2221992" cy="502920"/>
          </a:xfrm>
          <a:prstGeom prst="rect">
            <a:avLst/>
          </a:prstGeom>
          <a:noFill/>
          <a:ln/>
        </p:spPr>
        <p:txBody>
          <a:bodyPr wrap="square" lIns="0" tIns="0" rIns="0" bIns="0" rtlCol="0" anchor="ctr"/>
          <a:lstStyle/>
          <a:p>
            <a:pPr indent="0" marL="0">
              <a:buNone/>
            </a:pPr>
            <a:r>
              <a:rPr lang="en-US" sz="1350" b="1" dirty="0">
                <a:solidFill>
                  <a:srgbClr val="16283C"/>
                </a:solidFill>
                <a:latin typeface="Cambria" pitchFamily="34" charset="0"/>
                <a:ea typeface="Cambria" pitchFamily="34" charset="-122"/>
                <a:cs typeface="Cambria" pitchFamily="34" charset="-120"/>
              </a:rPr>
              <a:t>Categories, no commitment</a:t>
            </a:r>
            <a:endParaRPr lang="en-US" sz="1350" dirty="0"/>
          </a:p>
        </p:txBody>
      </p:sp>
      <p:sp>
        <p:nvSpPr>
          <p:cNvPr id="9" name="Text 7"/>
          <p:cNvSpPr/>
          <p:nvPr/>
        </p:nvSpPr>
        <p:spPr>
          <a:xfrm>
            <a:off x="786384" y="2798064"/>
            <a:ext cx="2221992" cy="1691640"/>
          </a:xfrm>
          <a:prstGeom prst="rect">
            <a:avLst/>
          </a:prstGeom>
          <a:noFill/>
          <a:ln/>
        </p:spPr>
        <p:txBody>
          <a:bodyPr wrap="square" lIns="0" tIns="0" rIns="0" bIns="0" rtlCol="0" anchor="t"/>
          <a:lstStyle/>
          <a:p>
            <a:pPr indent="0" marL="0">
              <a:lnSpc>
                <a:spcPts val="1400"/>
              </a:lnSpc>
              <a:buNone/>
            </a:pPr>
            <a:r>
              <a:rPr lang="en-US" sz="1050" i="1" dirty="0">
                <a:solidFill>
                  <a:srgbClr val="2B3440"/>
                </a:solidFill>
                <a:latin typeface="Cambria" pitchFamily="34" charset="0"/>
                <a:ea typeface="Cambria" pitchFamily="34" charset="-122"/>
                <a:cs typeface="Cambria" pitchFamily="34" charset="-120"/>
              </a:rPr>
              <a:t>“Fever and a limp. Could be infection, could be inflammatory, could be malignancy. Maybe septic arthritis? Maybe leukemia?”</a:t>
            </a:r>
            <a:endParaRPr lang="en-US" sz="1050" dirty="0"/>
          </a:p>
        </p:txBody>
      </p:sp>
      <p:sp>
        <p:nvSpPr>
          <p:cNvPr id="10" name="Shape 8"/>
          <p:cNvSpPr/>
          <p:nvPr/>
        </p:nvSpPr>
        <p:spPr>
          <a:xfrm>
            <a:off x="786384" y="4114800"/>
            <a:ext cx="2221992" cy="18288"/>
          </a:xfrm>
          <a:prstGeom prst="rect">
            <a:avLst/>
          </a:prstGeom>
          <a:solidFill>
            <a:srgbClr val="C9D3DC"/>
          </a:solidFill>
          <a:ln w="12700">
            <a:solidFill>
              <a:srgbClr val="C9D3DC"/>
            </a:solidFill>
            <a:prstDash val="solid"/>
          </a:ln>
        </p:spPr>
      </p:sp>
      <p:sp>
        <p:nvSpPr>
          <p:cNvPr id="11" name="Text 9"/>
          <p:cNvSpPr/>
          <p:nvPr/>
        </p:nvSpPr>
        <p:spPr>
          <a:xfrm>
            <a:off x="786384" y="4224528"/>
            <a:ext cx="2221992" cy="594360"/>
          </a:xfrm>
          <a:prstGeom prst="rect">
            <a:avLst/>
          </a:prstGeom>
          <a:noFill/>
          <a:ln/>
        </p:spPr>
        <p:txBody>
          <a:bodyPr wrap="square" lIns="0" tIns="0" rIns="0" bIns="0" rtlCol="0" anchor="ctr"/>
          <a:lstStyle/>
          <a:p>
            <a:pPr indent="0" marL="0">
              <a:lnSpc>
                <a:spcPts val="1300"/>
              </a:lnSpc>
              <a:buNone/>
            </a:pPr>
            <a:r>
              <a:rPr lang="en-US" sz="1050" b="1" dirty="0">
                <a:solidFill>
                  <a:srgbClr val="9AA7B4"/>
                </a:solidFill>
                <a:latin typeface="Calibri" pitchFamily="34" charset="0"/>
                <a:ea typeface="Calibri" pitchFamily="34" charset="-122"/>
                <a:cs typeface="Calibri" pitchFamily="34" charset="-120"/>
              </a:rPr>
              <a:t>Names buckets. Asks the room to decide.</a:t>
            </a:r>
            <a:endParaRPr lang="en-US" sz="1050" dirty="0"/>
          </a:p>
        </p:txBody>
      </p:sp>
      <p:sp>
        <p:nvSpPr>
          <p:cNvPr id="12" name="Shape 10"/>
          <p:cNvSpPr/>
          <p:nvPr/>
        </p:nvSpPr>
        <p:spPr>
          <a:xfrm>
            <a:off x="3364992" y="1691640"/>
            <a:ext cx="2660904" cy="3200400"/>
          </a:xfrm>
          <a:prstGeom prst="roundRect">
            <a:avLst>
              <a:gd name="adj" fmla="val 2749"/>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3" name="Shape 11"/>
          <p:cNvSpPr/>
          <p:nvPr/>
        </p:nvSpPr>
        <p:spPr>
          <a:xfrm>
            <a:off x="3364992" y="1691640"/>
            <a:ext cx="2660904" cy="457200"/>
          </a:xfrm>
          <a:prstGeom prst="rect">
            <a:avLst/>
          </a:prstGeom>
          <a:solidFill>
            <a:srgbClr val="2E7D8F"/>
          </a:solidFill>
          <a:ln w="12700">
            <a:solidFill>
              <a:srgbClr val="2E7D8F"/>
            </a:solidFill>
            <a:prstDash val="solid"/>
          </a:ln>
        </p:spPr>
      </p:sp>
      <p:sp>
        <p:nvSpPr>
          <p:cNvPr id="14" name="Text 12"/>
          <p:cNvSpPr/>
          <p:nvPr/>
        </p:nvSpPr>
        <p:spPr>
          <a:xfrm>
            <a:off x="3584448" y="1691640"/>
            <a:ext cx="2221992" cy="457200"/>
          </a:xfrm>
          <a:prstGeom prst="rect">
            <a:avLst/>
          </a:prstGeom>
          <a:noFill/>
          <a:ln/>
        </p:spPr>
        <p:txBody>
          <a:bodyPr wrap="square" lIns="0" tIns="0" rIns="0" bIns="0" rtlCol="0" anchor="ctr"/>
          <a:lstStyle/>
          <a:p>
            <a:pPr indent="0" marL="0">
              <a:buNone/>
            </a:pPr>
            <a:r>
              <a:rPr lang="en-US" sz="1150" b="1" spc="150" kern="0" dirty="0">
                <a:solidFill>
                  <a:srgbClr val="FFFFFF"/>
                </a:solidFill>
                <a:latin typeface="Calibri" pitchFamily="34" charset="0"/>
                <a:ea typeface="Calibri" pitchFamily="34" charset="-122"/>
                <a:cs typeface="Calibri" pitchFamily="34" charset="-120"/>
              </a:rPr>
              <a:t>NOVEMBER</a:t>
            </a:r>
            <a:endParaRPr lang="en-US" sz="1150" dirty="0"/>
          </a:p>
        </p:txBody>
      </p:sp>
      <p:sp>
        <p:nvSpPr>
          <p:cNvPr id="15" name="Text 13"/>
          <p:cNvSpPr/>
          <p:nvPr/>
        </p:nvSpPr>
        <p:spPr>
          <a:xfrm>
            <a:off x="3584448" y="2249424"/>
            <a:ext cx="2221992" cy="502920"/>
          </a:xfrm>
          <a:prstGeom prst="rect">
            <a:avLst/>
          </a:prstGeom>
          <a:noFill/>
          <a:ln/>
        </p:spPr>
        <p:txBody>
          <a:bodyPr wrap="square" lIns="0" tIns="0" rIns="0" bIns="0" rtlCol="0" anchor="ctr"/>
          <a:lstStyle/>
          <a:p>
            <a:pPr indent="0" marL="0">
              <a:buNone/>
            </a:pPr>
            <a:r>
              <a:rPr lang="en-US" sz="1350" b="1" dirty="0">
                <a:solidFill>
                  <a:srgbClr val="16283C"/>
                </a:solidFill>
                <a:latin typeface="Cambria" pitchFamily="34" charset="0"/>
                <a:ea typeface="Cambria" pitchFamily="34" charset="-122"/>
                <a:cs typeface="Cambria" pitchFamily="34" charset="-120"/>
              </a:rPr>
              <a:t>Commits, and names a test</a:t>
            </a:r>
            <a:endParaRPr lang="en-US" sz="1350" dirty="0"/>
          </a:p>
        </p:txBody>
      </p:sp>
      <p:sp>
        <p:nvSpPr>
          <p:cNvPr id="16" name="Text 14"/>
          <p:cNvSpPr/>
          <p:nvPr/>
        </p:nvSpPr>
        <p:spPr>
          <a:xfrm>
            <a:off x="3584448" y="2798064"/>
            <a:ext cx="2221992" cy="1691640"/>
          </a:xfrm>
          <a:prstGeom prst="rect">
            <a:avLst/>
          </a:prstGeom>
          <a:noFill/>
          <a:ln/>
        </p:spPr>
        <p:txBody>
          <a:bodyPr wrap="square" lIns="0" tIns="0" rIns="0" bIns="0" rtlCol="0" anchor="t"/>
          <a:lstStyle/>
          <a:p>
            <a:pPr indent="0" marL="0">
              <a:lnSpc>
                <a:spcPts val="1400"/>
              </a:lnSpc>
              <a:buNone/>
            </a:pPr>
            <a:r>
              <a:rPr lang="en-US" sz="1050" i="1" dirty="0">
                <a:solidFill>
                  <a:srgbClr val="2B3440"/>
                </a:solidFill>
                <a:latin typeface="Cambria" pitchFamily="34" charset="0"/>
                <a:ea typeface="Cambria" pitchFamily="34" charset="-122"/>
                <a:cs typeface="Cambria" pitchFamily="34" charset="-120"/>
              </a:rPr>
              <a:t>“Two days of fever, won’t bear weight, hip flexed and externally rotated. I think septic arthritis. Transient synovitis is possible. I’d want a hip ultrasound.”</a:t>
            </a:r>
            <a:endParaRPr lang="en-US" sz="1050" dirty="0"/>
          </a:p>
        </p:txBody>
      </p:sp>
      <p:sp>
        <p:nvSpPr>
          <p:cNvPr id="17" name="Shape 15"/>
          <p:cNvSpPr/>
          <p:nvPr/>
        </p:nvSpPr>
        <p:spPr>
          <a:xfrm>
            <a:off x="3584448" y="4114800"/>
            <a:ext cx="2221992" cy="18288"/>
          </a:xfrm>
          <a:prstGeom prst="rect">
            <a:avLst/>
          </a:prstGeom>
          <a:solidFill>
            <a:srgbClr val="C9D3DC"/>
          </a:solidFill>
          <a:ln w="12700">
            <a:solidFill>
              <a:srgbClr val="C9D3DC"/>
            </a:solidFill>
            <a:prstDash val="solid"/>
          </a:ln>
        </p:spPr>
      </p:sp>
      <p:sp>
        <p:nvSpPr>
          <p:cNvPr id="18" name="Text 16"/>
          <p:cNvSpPr/>
          <p:nvPr/>
        </p:nvSpPr>
        <p:spPr>
          <a:xfrm>
            <a:off x="3584448" y="4224528"/>
            <a:ext cx="2221992" cy="594360"/>
          </a:xfrm>
          <a:prstGeom prst="rect">
            <a:avLst/>
          </a:prstGeom>
          <a:noFill/>
          <a:ln/>
        </p:spPr>
        <p:txBody>
          <a:bodyPr wrap="square" lIns="0" tIns="0" rIns="0" bIns="0" rtlCol="0" anchor="ctr"/>
          <a:lstStyle/>
          <a:p>
            <a:pPr indent="0" marL="0">
              <a:lnSpc>
                <a:spcPts val="1300"/>
              </a:lnSpc>
              <a:buNone/>
            </a:pPr>
            <a:r>
              <a:rPr lang="en-US" sz="1050" b="1" dirty="0">
                <a:solidFill>
                  <a:srgbClr val="2E7D8F"/>
                </a:solidFill>
                <a:latin typeface="Calibri" pitchFamily="34" charset="0"/>
                <a:ea typeface="Calibri" pitchFamily="34" charset="-122"/>
                <a:cs typeface="Calibri" pitchFamily="34" charset="-120"/>
              </a:rPr>
              <a:t>A leader and a next step. Still no structure.</a:t>
            </a:r>
            <a:endParaRPr lang="en-US" sz="1050" dirty="0"/>
          </a:p>
        </p:txBody>
      </p:sp>
      <p:sp>
        <p:nvSpPr>
          <p:cNvPr id="19" name="Shape 17"/>
          <p:cNvSpPr/>
          <p:nvPr/>
        </p:nvSpPr>
        <p:spPr>
          <a:xfrm>
            <a:off x="6163056" y="1691640"/>
            <a:ext cx="2660904" cy="3200400"/>
          </a:xfrm>
          <a:prstGeom prst="roundRect">
            <a:avLst>
              <a:gd name="adj" fmla="val 2749"/>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0" name="Shape 18"/>
          <p:cNvSpPr/>
          <p:nvPr/>
        </p:nvSpPr>
        <p:spPr>
          <a:xfrm>
            <a:off x="6163056" y="1691640"/>
            <a:ext cx="2660904" cy="457200"/>
          </a:xfrm>
          <a:prstGeom prst="rect">
            <a:avLst/>
          </a:prstGeom>
          <a:solidFill>
            <a:srgbClr val="24405E"/>
          </a:solidFill>
          <a:ln w="12700">
            <a:solidFill>
              <a:srgbClr val="24405E"/>
            </a:solidFill>
            <a:prstDash val="solid"/>
          </a:ln>
        </p:spPr>
      </p:sp>
      <p:sp>
        <p:nvSpPr>
          <p:cNvPr id="21" name="Text 19"/>
          <p:cNvSpPr/>
          <p:nvPr/>
        </p:nvSpPr>
        <p:spPr>
          <a:xfrm>
            <a:off x="6382512" y="1691640"/>
            <a:ext cx="2221992" cy="457200"/>
          </a:xfrm>
          <a:prstGeom prst="rect">
            <a:avLst/>
          </a:prstGeom>
          <a:noFill/>
          <a:ln/>
        </p:spPr>
        <p:txBody>
          <a:bodyPr wrap="square" lIns="0" tIns="0" rIns="0" bIns="0" rtlCol="0" anchor="ctr"/>
          <a:lstStyle/>
          <a:p>
            <a:pPr indent="0" marL="0">
              <a:buNone/>
            </a:pPr>
            <a:r>
              <a:rPr lang="en-US" sz="1150" b="1" spc="150" kern="0" dirty="0">
                <a:solidFill>
                  <a:srgbClr val="FFFFFF"/>
                </a:solidFill>
                <a:latin typeface="Calibri" pitchFamily="34" charset="0"/>
                <a:ea typeface="Calibri" pitchFamily="34" charset="-122"/>
                <a:cs typeface="Calibri" pitchFamily="34" charset="-120"/>
              </a:rPr>
              <a:t>MARCH</a:t>
            </a:r>
            <a:endParaRPr lang="en-US" sz="1150" dirty="0"/>
          </a:p>
        </p:txBody>
      </p:sp>
      <p:sp>
        <p:nvSpPr>
          <p:cNvPr id="22" name="Text 20"/>
          <p:cNvSpPr/>
          <p:nvPr/>
        </p:nvSpPr>
        <p:spPr>
          <a:xfrm>
            <a:off x="6382512" y="2249424"/>
            <a:ext cx="2221992" cy="502920"/>
          </a:xfrm>
          <a:prstGeom prst="rect">
            <a:avLst/>
          </a:prstGeom>
          <a:noFill/>
          <a:ln/>
        </p:spPr>
        <p:txBody>
          <a:bodyPr wrap="square" lIns="0" tIns="0" rIns="0" bIns="0" rtlCol="0" anchor="ctr"/>
          <a:lstStyle/>
          <a:p>
            <a:pPr indent="0" marL="0">
              <a:buNone/>
            </a:pPr>
            <a:r>
              <a:rPr lang="en-US" sz="1350" b="1" dirty="0">
                <a:solidFill>
                  <a:srgbClr val="16283C"/>
                </a:solidFill>
                <a:latin typeface="Cambria" pitchFamily="34" charset="0"/>
                <a:ea typeface="Cambria" pitchFamily="34" charset="-122"/>
                <a:cs typeface="Cambria" pitchFamily="34" charset="-120"/>
              </a:rPr>
              <a:t>Brings a framework unprompted</a:t>
            </a:r>
            <a:endParaRPr lang="en-US" sz="1350" dirty="0"/>
          </a:p>
        </p:txBody>
      </p:sp>
      <p:sp>
        <p:nvSpPr>
          <p:cNvPr id="23" name="Text 21"/>
          <p:cNvSpPr/>
          <p:nvPr/>
        </p:nvSpPr>
        <p:spPr>
          <a:xfrm>
            <a:off x="6382512" y="2798064"/>
            <a:ext cx="2221992" cy="1691640"/>
          </a:xfrm>
          <a:prstGeom prst="rect">
            <a:avLst/>
          </a:prstGeom>
          <a:noFill/>
          <a:ln/>
        </p:spPr>
        <p:txBody>
          <a:bodyPr wrap="square" lIns="0" tIns="0" rIns="0" bIns="0" rtlCol="0" anchor="t"/>
          <a:lstStyle/>
          <a:p>
            <a:pPr indent="0" marL="0">
              <a:lnSpc>
                <a:spcPts val="1400"/>
              </a:lnSpc>
              <a:buNone/>
            </a:pPr>
            <a:r>
              <a:rPr lang="en-US" sz="1050" i="1" dirty="0">
                <a:solidFill>
                  <a:srgbClr val="2B3440"/>
                </a:solidFill>
                <a:latin typeface="Cambria" pitchFamily="34" charset="0"/>
                <a:ea typeface="Cambria" pitchFamily="34" charset="-122"/>
                <a:cs typeface="Cambria" pitchFamily="34" charset="-120"/>
              </a:rPr>
              <a:t>“I’m taking this by layer — joint versus bone versus referred. Septic arthritis leads, transient synovitis competes, and the ultrasound is what separates them.”</a:t>
            </a:r>
            <a:endParaRPr lang="en-US" sz="1050" dirty="0"/>
          </a:p>
        </p:txBody>
      </p:sp>
      <p:sp>
        <p:nvSpPr>
          <p:cNvPr id="24" name="Shape 22"/>
          <p:cNvSpPr/>
          <p:nvPr/>
        </p:nvSpPr>
        <p:spPr>
          <a:xfrm>
            <a:off x="6382512" y="4114800"/>
            <a:ext cx="2221992" cy="18288"/>
          </a:xfrm>
          <a:prstGeom prst="rect">
            <a:avLst/>
          </a:prstGeom>
          <a:solidFill>
            <a:srgbClr val="C9D3DC"/>
          </a:solidFill>
          <a:ln w="12700">
            <a:solidFill>
              <a:srgbClr val="C9D3DC"/>
            </a:solidFill>
            <a:prstDash val="solid"/>
          </a:ln>
        </p:spPr>
      </p:sp>
      <p:sp>
        <p:nvSpPr>
          <p:cNvPr id="25" name="Text 23"/>
          <p:cNvSpPr/>
          <p:nvPr/>
        </p:nvSpPr>
        <p:spPr>
          <a:xfrm>
            <a:off x="6382512" y="4224528"/>
            <a:ext cx="2221992" cy="594360"/>
          </a:xfrm>
          <a:prstGeom prst="rect">
            <a:avLst/>
          </a:prstGeom>
          <a:noFill/>
          <a:ln/>
        </p:spPr>
        <p:txBody>
          <a:bodyPr wrap="square" lIns="0" tIns="0" rIns="0" bIns="0" rtlCol="0" anchor="ctr"/>
          <a:lstStyle/>
          <a:p>
            <a:pPr indent="0" marL="0">
              <a:lnSpc>
                <a:spcPts val="1300"/>
              </a:lnSpc>
              <a:buNone/>
            </a:pPr>
            <a:r>
              <a:rPr lang="en-US" sz="1050" b="1" dirty="0">
                <a:solidFill>
                  <a:srgbClr val="24405E"/>
                </a:solidFill>
                <a:latin typeface="Calibri" pitchFamily="34" charset="0"/>
                <a:ea typeface="Calibri" pitchFamily="34" charset="-122"/>
                <a:cs typeface="Calibri" pitchFamily="34" charset="-120"/>
              </a:rPr>
              <a:t>Organizes before listing. Nobody asked them to.</a:t>
            </a:r>
            <a:endParaRPr lang="en-US" sz="1050" dirty="0"/>
          </a:p>
        </p:txBody>
      </p:sp>
      <p:sp>
        <p:nvSpPr>
          <p:cNvPr id="26" name="Shape 24"/>
          <p:cNvSpPr/>
          <p:nvPr/>
        </p:nvSpPr>
        <p:spPr>
          <a:xfrm>
            <a:off x="8961120" y="1691640"/>
            <a:ext cx="2660904" cy="3200400"/>
          </a:xfrm>
          <a:prstGeom prst="roundRect">
            <a:avLst>
              <a:gd name="adj" fmla="val 2749"/>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7" name="Shape 25"/>
          <p:cNvSpPr/>
          <p:nvPr/>
        </p:nvSpPr>
        <p:spPr>
          <a:xfrm>
            <a:off x="8961120" y="1691640"/>
            <a:ext cx="2660904" cy="457200"/>
          </a:xfrm>
          <a:prstGeom prst="rect">
            <a:avLst/>
          </a:prstGeom>
          <a:solidFill>
            <a:srgbClr val="3F7D5C"/>
          </a:solidFill>
          <a:ln w="12700">
            <a:solidFill>
              <a:srgbClr val="3F7D5C"/>
            </a:solidFill>
            <a:prstDash val="solid"/>
          </a:ln>
        </p:spPr>
      </p:sp>
      <p:sp>
        <p:nvSpPr>
          <p:cNvPr id="28" name="Text 26"/>
          <p:cNvSpPr/>
          <p:nvPr/>
        </p:nvSpPr>
        <p:spPr>
          <a:xfrm>
            <a:off x="9180576" y="1691640"/>
            <a:ext cx="2221992" cy="457200"/>
          </a:xfrm>
          <a:prstGeom prst="rect">
            <a:avLst/>
          </a:prstGeom>
          <a:noFill/>
          <a:ln/>
        </p:spPr>
        <p:txBody>
          <a:bodyPr wrap="square" lIns="0" tIns="0" rIns="0" bIns="0" rtlCol="0" anchor="ctr"/>
          <a:lstStyle/>
          <a:p>
            <a:pPr indent="0" marL="0">
              <a:buNone/>
            </a:pPr>
            <a:r>
              <a:rPr lang="en-US" sz="1150" b="1" spc="150" kern="0" dirty="0">
                <a:solidFill>
                  <a:srgbClr val="FFFFFF"/>
                </a:solidFill>
                <a:latin typeface="Calibri" pitchFamily="34" charset="0"/>
                <a:ea typeface="Calibri" pitchFamily="34" charset="-122"/>
                <a:cs typeface="Calibri" pitchFamily="34" charset="-120"/>
              </a:rPr>
              <a:t>JUNE</a:t>
            </a:r>
            <a:endParaRPr lang="en-US" sz="1150" dirty="0"/>
          </a:p>
        </p:txBody>
      </p:sp>
      <p:sp>
        <p:nvSpPr>
          <p:cNvPr id="29" name="Text 27"/>
          <p:cNvSpPr/>
          <p:nvPr/>
        </p:nvSpPr>
        <p:spPr>
          <a:xfrm>
            <a:off x="9180576" y="2249424"/>
            <a:ext cx="2221992" cy="502920"/>
          </a:xfrm>
          <a:prstGeom prst="rect">
            <a:avLst/>
          </a:prstGeom>
          <a:noFill/>
          <a:ln/>
        </p:spPr>
        <p:txBody>
          <a:bodyPr wrap="square" lIns="0" tIns="0" rIns="0" bIns="0" rtlCol="0" anchor="ctr"/>
          <a:lstStyle/>
          <a:p>
            <a:pPr indent="0" marL="0">
              <a:buNone/>
            </a:pPr>
            <a:r>
              <a:rPr lang="en-US" sz="1350" b="1" dirty="0">
                <a:solidFill>
                  <a:srgbClr val="16283C"/>
                </a:solidFill>
                <a:latin typeface="Cambria" pitchFamily="34" charset="0"/>
                <a:ea typeface="Cambria" pitchFamily="34" charset="-122"/>
                <a:cs typeface="Cambria" pitchFamily="34" charset="-120"/>
              </a:rPr>
              <a:t>A senior pass, from an intern</a:t>
            </a:r>
            <a:endParaRPr lang="en-US" sz="1350" dirty="0"/>
          </a:p>
        </p:txBody>
      </p:sp>
      <p:sp>
        <p:nvSpPr>
          <p:cNvPr id="30" name="Text 28"/>
          <p:cNvSpPr/>
          <p:nvPr/>
        </p:nvSpPr>
        <p:spPr>
          <a:xfrm>
            <a:off x="9180576" y="2798064"/>
            <a:ext cx="2221992" cy="1691640"/>
          </a:xfrm>
          <a:prstGeom prst="rect">
            <a:avLst/>
          </a:prstGeom>
          <a:noFill/>
          <a:ln/>
        </p:spPr>
        <p:txBody>
          <a:bodyPr wrap="square" lIns="0" tIns="0" rIns="0" bIns="0" rtlCol="0" anchor="t"/>
          <a:lstStyle/>
          <a:p>
            <a:pPr indent="0" marL="0">
              <a:lnSpc>
                <a:spcPts val="1400"/>
              </a:lnSpc>
              <a:buNone/>
            </a:pPr>
            <a:r>
              <a:rPr lang="en-US" sz="1050" i="1" dirty="0">
                <a:solidFill>
                  <a:srgbClr val="2B3440"/>
                </a:solidFill>
                <a:latin typeface="Cambria" pitchFamily="34" charset="0"/>
                <a:ea typeface="Cambria" pitchFamily="34" charset="-122"/>
                <a:cs typeface="Cambria" pitchFamily="34" charset="-120"/>
              </a:rPr>
              <a:t>“Septic arthritis, about 70%. A dry tap with a normal joint moves me to bone. I’m watching myself for premature closure on the hip.”</a:t>
            </a:r>
            <a:endParaRPr lang="en-US" sz="1050" dirty="0"/>
          </a:p>
        </p:txBody>
      </p:sp>
      <p:sp>
        <p:nvSpPr>
          <p:cNvPr id="31" name="Shape 29"/>
          <p:cNvSpPr/>
          <p:nvPr/>
        </p:nvSpPr>
        <p:spPr>
          <a:xfrm>
            <a:off x="9180576" y="4114800"/>
            <a:ext cx="2221992" cy="18288"/>
          </a:xfrm>
          <a:prstGeom prst="rect">
            <a:avLst/>
          </a:prstGeom>
          <a:solidFill>
            <a:srgbClr val="C9D3DC"/>
          </a:solidFill>
          <a:ln w="12700">
            <a:solidFill>
              <a:srgbClr val="C9D3DC"/>
            </a:solidFill>
            <a:prstDash val="solid"/>
          </a:ln>
        </p:spPr>
      </p:sp>
      <p:sp>
        <p:nvSpPr>
          <p:cNvPr id="32" name="Text 30"/>
          <p:cNvSpPr/>
          <p:nvPr/>
        </p:nvSpPr>
        <p:spPr>
          <a:xfrm>
            <a:off x="9180576" y="4224528"/>
            <a:ext cx="2221992" cy="594360"/>
          </a:xfrm>
          <a:prstGeom prst="rect">
            <a:avLst/>
          </a:prstGeom>
          <a:noFill/>
          <a:ln/>
        </p:spPr>
        <p:txBody>
          <a:bodyPr wrap="square" lIns="0" tIns="0" rIns="0" bIns="0" rtlCol="0" anchor="ctr"/>
          <a:lstStyle/>
          <a:p>
            <a:pPr indent="0" marL="0">
              <a:lnSpc>
                <a:spcPts val="1300"/>
              </a:lnSpc>
              <a:buNone/>
            </a:pPr>
            <a:r>
              <a:rPr lang="en-US" sz="1050" b="1" dirty="0">
                <a:solidFill>
                  <a:srgbClr val="3F7D5C"/>
                </a:solidFill>
                <a:latin typeface="Calibri" pitchFamily="34" charset="0"/>
                <a:ea typeface="Calibri" pitchFamily="34" charset="-122"/>
                <a:cs typeface="Calibri" pitchFamily="34" charset="-120"/>
              </a:rPr>
              <a:t>Confidence, trigger, and named bias.</a:t>
            </a:r>
            <a:endParaRPr lang="en-US" sz="1050" dirty="0"/>
          </a:p>
        </p:txBody>
      </p:sp>
      <p:sp>
        <p:nvSpPr>
          <p:cNvPr id="33" name="Shape 31"/>
          <p:cNvSpPr/>
          <p:nvPr/>
        </p:nvSpPr>
        <p:spPr>
          <a:xfrm>
            <a:off x="566928" y="5138928"/>
            <a:ext cx="11055096" cy="1188720"/>
          </a:xfrm>
          <a:prstGeom prst="roundRect">
            <a:avLst>
              <a:gd name="adj" fmla="val 6154"/>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34" name="Text 32"/>
          <p:cNvSpPr/>
          <p:nvPr/>
        </p:nvSpPr>
        <p:spPr>
          <a:xfrm>
            <a:off x="868680" y="5303520"/>
            <a:ext cx="3840480" cy="320040"/>
          </a:xfrm>
          <a:prstGeom prst="rect">
            <a:avLst/>
          </a:prstGeom>
          <a:noFill/>
          <a:ln/>
        </p:spPr>
        <p:txBody>
          <a:bodyPr wrap="square" lIns="0" tIns="0" rIns="0" bIns="0" rtlCol="0" anchor="ctr"/>
          <a:lstStyle/>
          <a:p>
            <a:pPr indent="0" marL="0">
              <a:buNone/>
            </a:pPr>
            <a:r>
              <a:rPr lang="en-US" sz="1550" b="1" dirty="0">
                <a:solidFill>
                  <a:srgbClr val="E8A33D"/>
                </a:solidFill>
                <a:latin typeface="Cambria" pitchFamily="34" charset="0"/>
                <a:ea typeface="Cambria" pitchFamily="34" charset="-122"/>
                <a:cs typeface="Cambria" pitchFamily="34" charset="-120"/>
              </a:rPr>
              <a:t>This is the argument for morning report.</a:t>
            </a:r>
            <a:endParaRPr lang="en-US" sz="1550" dirty="0"/>
          </a:p>
        </p:txBody>
      </p:sp>
      <p:sp>
        <p:nvSpPr>
          <p:cNvPr id="35" name="Text 33"/>
          <p:cNvSpPr/>
          <p:nvPr/>
        </p:nvSpPr>
        <p:spPr>
          <a:xfrm>
            <a:off x="868680" y="5650992"/>
            <a:ext cx="10424160" cy="548640"/>
          </a:xfrm>
          <a:prstGeom prst="rect">
            <a:avLst/>
          </a:prstGeom>
          <a:noFill/>
          <a:ln/>
        </p:spPr>
        <p:txBody>
          <a:bodyPr wrap="square" lIns="0" tIns="0" rIns="0" bIns="0" rtlCol="0" anchor="ctr"/>
          <a:lstStyle/>
          <a:p>
            <a:pPr indent="0" marL="0">
              <a:lnSpc>
                <a:spcPts val="1600"/>
              </a:lnSpc>
              <a:buNone/>
            </a:pPr>
            <a:r>
              <a:rPr lang="en-US" sz="1200" dirty="0">
                <a:solidFill>
                  <a:srgbClr val="D7E2EC"/>
                </a:solidFill>
                <a:latin typeface="Calibri" pitchFamily="34" charset="0"/>
                <a:ea typeface="Calibri" pitchFamily="34" charset="-122"/>
                <a:cs typeface="Calibri" pitchFamily="34" charset="-120"/>
              </a:rPr>
              <a:t>Nothing else in the week asks a resident to commit to a diagnosis out loud, in front of peers, and be checked on it in real time. Rounds ask them to report. Lectures ask them to listen. This is the only place they get reps at the thing we are actually training them to do.</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HARD CAP: 8 SLIDES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Presenter slide template — the whole set</a:t>
            </a:r>
            <a:endParaRPr lang="en-US" sz="3200" dirty="0"/>
          </a:p>
        </p:txBody>
      </p:sp>
      <p:sp>
        <p:nvSpPr>
          <p:cNvPr id="4" name="Shape 2"/>
          <p:cNvSpPr/>
          <p:nvPr/>
        </p:nvSpPr>
        <p:spPr>
          <a:xfrm>
            <a:off x="566928" y="1600200"/>
            <a:ext cx="2660904"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5" name="Shape 3"/>
          <p:cNvSpPr/>
          <p:nvPr/>
        </p:nvSpPr>
        <p:spPr>
          <a:xfrm>
            <a:off x="786384" y="1801368"/>
            <a:ext cx="411480" cy="411480"/>
          </a:xfrm>
          <a:prstGeom prst="ellipse">
            <a:avLst/>
          </a:prstGeom>
          <a:solidFill>
            <a:srgbClr val="16283C"/>
          </a:solidFill>
          <a:ln w="12700">
            <a:solidFill>
              <a:srgbClr val="16283C"/>
            </a:solidFill>
            <a:prstDash val="solid"/>
          </a:ln>
        </p:spPr>
      </p:sp>
      <p:sp>
        <p:nvSpPr>
          <p:cNvPr id="6" name="Text 4"/>
          <p:cNvSpPr/>
          <p:nvPr/>
        </p:nvSpPr>
        <p:spPr>
          <a:xfrm>
            <a:off x="786384" y="18013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86384" y="231343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Cover</a:t>
            </a:r>
            <a:endParaRPr lang="en-US" sz="1500" dirty="0"/>
          </a:p>
        </p:txBody>
      </p:sp>
      <p:sp>
        <p:nvSpPr>
          <p:cNvPr id="8" name="Text 6"/>
          <p:cNvSpPr/>
          <p:nvPr/>
        </p:nvSpPr>
        <p:spPr>
          <a:xfrm>
            <a:off x="786384" y="267919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Roles, one objective, PHI reminder. Up before 0:00.</a:t>
            </a:r>
            <a:endParaRPr lang="en-US" sz="1050" dirty="0"/>
          </a:p>
        </p:txBody>
      </p:sp>
      <p:sp>
        <p:nvSpPr>
          <p:cNvPr id="9" name="Shape 7"/>
          <p:cNvSpPr/>
          <p:nvPr/>
        </p:nvSpPr>
        <p:spPr>
          <a:xfrm>
            <a:off x="3364992" y="1600200"/>
            <a:ext cx="2660904"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0" name="Shape 8"/>
          <p:cNvSpPr/>
          <p:nvPr/>
        </p:nvSpPr>
        <p:spPr>
          <a:xfrm>
            <a:off x="3584448" y="1801368"/>
            <a:ext cx="411480" cy="411480"/>
          </a:xfrm>
          <a:prstGeom prst="ellipse">
            <a:avLst/>
          </a:prstGeom>
          <a:solidFill>
            <a:srgbClr val="16283C"/>
          </a:solidFill>
          <a:ln w="12700">
            <a:solidFill>
              <a:srgbClr val="16283C"/>
            </a:solidFill>
            <a:prstDash val="solid"/>
          </a:ln>
        </p:spPr>
      </p:sp>
      <p:sp>
        <p:nvSpPr>
          <p:cNvPr id="11" name="Text 9"/>
          <p:cNvSpPr/>
          <p:nvPr/>
        </p:nvSpPr>
        <p:spPr>
          <a:xfrm>
            <a:off x="3584448" y="18013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584448" y="231343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The hook</a:t>
            </a:r>
            <a:endParaRPr lang="en-US" sz="1500" dirty="0"/>
          </a:p>
        </p:txBody>
      </p:sp>
      <p:sp>
        <p:nvSpPr>
          <p:cNvPr id="13" name="Text 11"/>
          <p:cNvSpPr/>
          <p:nvPr/>
        </p:nvSpPr>
        <p:spPr>
          <a:xfrm>
            <a:off x="3584448" y="267919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One-liner + one provocative datum. Stop.</a:t>
            </a:r>
            <a:endParaRPr lang="en-US" sz="1050" dirty="0"/>
          </a:p>
        </p:txBody>
      </p:sp>
      <p:sp>
        <p:nvSpPr>
          <p:cNvPr id="14" name="Shape 12"/>
          <p:cNvSpPr/>
          <p:nvPr/>
        </p:nvSpPr>
        <p:spPr>
          <a:xfrm>
            <a:off x="6163056" y="1600200"/>
            <a:ext cx="2660904"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5" name="Shape 13"/>
          <p:cNvSpPr/>
          <p:nvPr/>
        </p:nvSpPr>
        <p:spPr>
          <a:xfrm>
            <a:off x="6382512" y="1801368"/>
            <a:ext cx="411480" cy="411480"/>
          </a:xfrm>
          <a:prstGeom prst="ellipse">
            <a:avLst/>
          </a:prstGeom>
          <a:solidFill>
            <a:srgbClr val="16283C"/>
          </a:solidFill>
          <a:ln w="12700">
            <a:solidFill>
              <a:srgbClr val="16283C"/>
            </a:solidFill>
            <a:prstDash val="solid"/>
          </a:ln>
        </p:spPr>
      </p:sp>
      <p:sp>
        <p:nvSpPr>
          <p:cNvPr id="16" name="Text 14"/>
          <p:cNvSpPr/>
          <p:nvPr/>
        </p:nvSpPr>
        <p:spPr>
          <a:xfrm>
            <a:off x="6382512" y="18013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382512" y="231343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History + exam</a:t>
            </a:r>
            <a:endParaRPr lang="en-US" sz="1500" dirty="0"/>
          </a:p>
        </p:txBody>
      </p:sp>
      <p:sp>
        <p:nvSpPr>
          <p:cNvPr id="18" name="Text 16"/>
          <p:cNvSpPr/>
          <p:nvPr/>
        </p:nvSpPr>
        <p:spPr>
          <a:xfrm>
            <a:off x="6382512" y="267919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Both on one screen, before the first pass. No labs or imaging yet.</a:t>
            </a:r>
            <a:endParaRPr lang="en-US" sz="1050" dirty="0"/>
          </a:p>
        </p:txBody>
      </p:sp>
      <p:sp>
        <p:nvSpPr>
          <p:cNvPr id="19" name="Shape 17"/>
          <p:cNvSpPr/>
          <p:nvPr/>
        </p:nvSpPr>
        <p:spPr>
          <a:xfrm>
            <a:off x="8961120" y="1600200"/>
            <a:ext cx="2660904" cy="2103120"/>
          </a:xfrm>
          <a:prstGeom prst="roundRect">
            <a:avLst>
              <a:gd name="adj" fmla="val 3478"/>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20" name="Shape 18"/>
          <p:cNvSpPr/>
          <p:nvPr/>
        </p:nvSpPr>
        <p:spPr>
          <a:xfrm>
            <a:off x="9180576" y="1801368"/>
            <a:ext cx="411480" cy="411480"/>
          </a:xfrm>
          <a:prstGeom prst="ellipse">
            <a:avLst/>
          </a:prstGeom>
          <a:solidFill>
            <a:srgbClr val="E8A33D"/>
          </a:solidFill>
          <a:ln w="12700">
            <a:solidFill>
              <a:srgbClr val="E8A33D"/>
            </a:solidFill>
            <a:prstDash val="solid"/>
          </a:ln>
        </p:spPr>
      </p:sp>
      <p:sp>
        <p:nvSpPr>
          <p:cNvPr id="21" name="Text 19"/>
          <p:cNvSpPr/>
          <p:nvPr/>
        </p:nvSpPr>
        <p:spPr>
          <a:xfrm>
            <a:off x="9180576" y="18013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180576" y="231343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PAUSE</a:t>
            </a:r>
            <a:endParaRPr lang="en-US" sz="1500" dirty="0"/>
          </a:p>
        </p:txBody>
      </p:sp>
      <p:sp>
        <p:nvSpPr>
          <p:cNvPr id="23" name="Text 21"/>
          <p:cNvSpPr/>
          <p:nvPr/>
        </p:nvSpPr>
        <p:spPr>
          <a:xfrm>
            <a:off x="9180576" y="267919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Blank by design. Cue to hand the share to the scribe.</a:t>
            </a:r>
            <a:endParaRPr lang="en-US" sz="1050" dirty="0"/>
          </a:p>
        </p:txBody>
      </p:sp>
      <p:sp>
        <p:nvSpPr>
          <p:cNvPr id="24" name="Shape 22"/>
          <p:cNvSpPr/>
          <p:nvPr/>
        </p:nvSpPr>
        <p:spPr>
          <a:xfrm>
            <a:off x="566928" y="3840480"/>
            <a:ext cx="2660904"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5" name="Shape 23"/>
          <p:cNvSpPr/>
          <p:nvPr/>
        </p:nvSpPr>
        <p:spPr>
          <a:xfrm>
            <a:off x="786384" y="4041648"/>
            <a:ext cx="411480" cy="411480"/>
          </a:xfrm>
          <a:prstGeom prst="ellipse">
            <a:avLst/>
          </a:prstGeom>
          <a:solidFill>
            <a:srgbClr val="16283C"/>
          </a:solidFill>
          <a:ln w="12700">
            <a:solidFill>
              <a:srgbClr val="16283C"/>
            </a:solidFill>
            <a:prstDash val="solid"/>
          </a:ln>
        </p:spPr>
      </p:sp>
      <p:sp>
        <p:nvSpPr>
          <p:cNvPr id="26" name="Text 24"/>
          <p:cNvSpPr/>
          <p:nvPr/>
        </p:nvSpPr>
        <p:spPr>
          <a:xfrm>
            <a:off x="786384" y="4041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786384" y="455371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Data block 2</a:t>
            </a:r>
            <a:endParaRPr lang="en-US" sz="1500" dirty="0"/>
          </a:p>
        </p:txBody>
      </p:sp>
      <p:sp>
        <p:nvSpPr>
          <p:cNvPr id="28" name="Text 26"/>
          <p:cNvSpPr/>
          <p:nvPr/>
        </p:nvSpPr>
        <p:spPr>
          <a:xfrm>
            <a:off x="786384" y="491947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Labs, imaging, micro — one screen, no walls of text.</a:t>
            </a:r>
            <a:endParaRPr lang="en-US" sz="1050" dirty="0"/>
          </a:p>
        </p:txBody>
      </p:sp>
      <p:sp>
        <p:nvSpPr>
          <p:cNvPr id="29" name="Shape 27"/>
          <p:cNvSpPr/>
          <p:nvPr/>
        </p:nvSpPr>
        <p:spPr>
          <a:xfrm>
            <a:off x="3364992" y="3840480"/>
            <a:ext cx="2660904" cy="2103120"/>
          </a:xfrm>
          <a:prstGeom prst="roundRect">
            <a:avLst>
              <a:gd name="adj" fmla="val 3478"/>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30" name="Shape 28"/>
          <p:cNvSpPr/>
          <p:nvPr/>
        </p:nvSpPr>
        <p:spPr>
          <a:xfrm>
            <a:off x="3584448" y="4041648"/>
            <a:ext cx="411480" cy="411480"/>
          </a:xfrm>
          <a:prstGeom prst="ellipse">
            <a:avLst/>
          </a:prstGeom>
          <a:solidFill>
            <a:srgbClr val="E8A33D"/>
          </a:solidFill>
          <a:ln w="12700">
            <a:solidFill>
              <a:srgbClr val="E8A33D"/>
            </a:solidFill>
            <a:prstDash val="solid"/>
          </a:ln>
        </p:spPr>
      </p:sp>
      <p:sp>
        <p:nvSpPr>
          <p:cNvPr id="31" name="Text 29"/>
          <p:cNvSpPr/>
          <p:nvPr/>
        </p:nvSpPr>
        <p:spPr>
          <a:xfrm>
            <a:off x="3584448" y="4041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3584448" y="455371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PAUSE</a:t>
            </a:r>
            <a:endParaRPr lang="en-US" sz="1500" dirty="0"/>
          </a:p>
        </p:txBody>
      </p:sp>
      <p:sp>
        <p:nvSpPr>
          <p:cNvPr id="33" name="Text 31"/>
          <p:cNvSpPr/>
          <p:nvPr/>
        </p:nvSpPr>
        <p:spPr>
          <a:xfrm>
            <a:off x="3584448" y="491947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"What changed?" Second handoff to the board.</a:t>
            </a:r>
            <a:endParaRPr lang="en-US" sz="1050" dirty="0"/>
          </a:p>
        </p:txBody>
      </p:sp>
      <p:sp>
        <p:nvSpPr>
          <p:cNvPr id="34" name="Shape 32"/>
          <p:cNvSpPr/>
          <p:nvPr/>
        </p:nvSpPr>
        <p:spPr>
          <a:xfrm>
            <a:off x="6163056" y="3840480"/>
            <a:ext cx="2660904"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35" name="Shape 33"/>
          <p:cNvSpPr/>
          <p:nvPr/>
        </p:nvSpPr>
        <p:spPr>
          <a:xfrm>
            <a:off x="6382512" y="4041648"/>
            <a:ext cx="411480" cy="411480"/>
          </a:xfrm>
          <a:prstGeom prst="ellipse">
            <a:avLst/>
          </a:prstGeom>
          <a:solidFill>
            <a:srgbClr val="16283C"/>
          </a:solidFill>
          <a:ln w="12700">
            <a:solidFill>
              <a:srgbClr val="16283C"/>
            </a:solidFill>
            <a:prstDash val="solid"/>
          </a:ln>
        </p:spPr>
      </p:sp>
      <p:sp>
        <p:nvSpPr>
          <p:cNvPr id="36" name="Text 34"/>
          <p:cNvSpPr/>
          <p:nvPr/>
        </p:nvSpPr>
        <p:spPr>
          <a:xfrm>
            <a:off x="6382512" y="4041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p:nvPr/>
        </p:nvSpPr>
        <p:spPr>
          <a:xfrm>
            <a:off x="6382512" y="455371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Reveal</a:t>
            </a:r>
            <a:endParaRPr lang="en-US" sz="1500" dirty="0"/>
          </a:p>
        </p:txBody>
      </p:sp>
      <p:sp>
        <p:nvSpPr>
          <p:cNvPr id="38" name="Text 36"/>
          <p:cNvSpPr/>
          <p:nvPr/>
        </p:nvSpPr>
        <p:spPr>
          <a:xfrm>
            <a:off x="6382512" y="491947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Diagnosis, course in three lines, what was missed and why.</a:t>
            </a:r>
            <a:endParaRPr lang="en-US" sz="1050" dirty="0"/>
          </a:p>
        </p:txBody>
      </p:sp>
      <p:sp>
        <p:nvSpPr>
          <p:cNvPr id="39" name="Shape 37"/>
          <p:cNvSpPr/>
          <p:nvPr/>
        </p:nvSpPr>
        <p:spPr>
          <a:xfrm>
            <a:off x="8961120" y="3840480"/>
            <a:ext cx="2660904"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40" name="Shape 38"/>
          <p:cNvSpPr/>
          <p:nvPr/>
        </p:nvSpPr>
        <p:spPr>
          <a:xfrm>
            <a:off x="9180576" y="4041648"/>
            <a:ext cx="411480" cy="411480"/>
          </a:xfrm>
          <a:prstGeom prst="ellipse">
            <a:avLst/>
          </a:prstGeom>
          <a:solidFill>
            <a:srgbClr val="16283C"/>
          </a:solidFill>
          <a:ln w="12700">
            <a:solidFill>
              <a:srgbClr val="16283C"/>
            </a:solidFill>
            <a:prstDash val="solid"/>
          </a:ln>
        </p:spPr>
      </p:sp>
      <p:sp>
        <p:nvSpPr>
          <p:cNvPr id="41" name="Text 39"/>
          <p:cNvSpPr/>
          <p:nvPr/>
        </p:nvSpPr>
        <p:spPr>
          <a:xfrm>
            <a:off x="9180576" y="4041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40"/>
          <p:cNvSpPr/>
          <p:nvPr/>
        </p:nvSpPr>
        <p:spPr>
          <a:xfrm>
            <a:off x="9180576" y="4553712"/>
            <a:ext cx="2221992" cy="3657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Take-home</a:t>
            </a:r>
            <a:endParaRPr lang="en-US" sz="1500" dirty="0"/>
          </a:p>
        </p:txBody>
      </p:sp>
      <p:sp>
        <p:nvSpPr>
          <p:cNvPr id="43" name="Text 41"/>
          <p:cNvSpPr/>
          <p:nvPr/>
        </p:nvSpPr>
        <p:spPr>
          <a:xfrm>
            <a:off x="9180576" y="4919472"/>
            <a:ext cx="2221992" cy="868680"/>
          </a:xfrm>
          <a:prstGeom prst="rect">
            <a:avLst/>
          </a:prstGeom>
          <a:noFill/>
          <a:ln/>
        </p:spPr>
        <p:txBody>
          <a:bodyPr wrap="square" lIns="0" tIns="0" rIns="0" bIns="0" rtlCol="0" anchor="ctr"/>
          <a:lstStyle/>
          <a:p>
            <a:pPr indent="0" marL="0">
              <a:lnSpc>
                <a:spcPts val="1400"/>
              </a:lnSpc>
              <a:buNone/>
            </a:pPr>
            <a:r>
              <a:rPr lang="en-US" sz="1050" dirty="0">
                <a:solidFill>
                  <a:srgbClr val="3D4855"/>
                </a:solidFill>
                <a:latin typeface="Calibri" pitchFamily="34" charset="0"/>
                <a:ea typeface="Calibri" pitchFamily="34" charset="-122"/>
                <a:cs typeface="Calibri" pitchFamily="34" charset="-120"/>
              </a:rPr>
              <a:t>2–3 big-picture points. Board question posted afterward.</a:t>
            </a:r>
            <a:endParaRPr lang="en-US" sz="1050" dirty="0"/>
          </a:p>
        </p:txBody>
      </p:sp>
      <p:sp>
        <p:nvSpPr>
          <p:cNvPr id="44" name="Text 42"/>
          <p:cNvSpPr/>
          <p:nvPr/>
        </p:nvSpPr>
        <p:spPr>
          <a:xfrm>
            <a:off x="566928" y="6217920"/>
            <a:ext cx="11055096" cy="320040"/>
          </a:xfrm>
          <a:prstGeom prst="rect">
            <a:avLst/>
          </a:prstGeom>
          <a:noFill/>
          <a:ln/>
        </p:spPr>
        <p:txBody>
          <a:bodyPr wrap="square" lIns="0" tIns="0" rIns="0" bIns="0" rtlCol="0" anchor="ctr"/>
          <a:lstStyle/>
          <a:p>
            <a:pPr indent="0" marL="0">
              <a:buNone/>
            </a:pPr>
            <a:r>
              <a:rPr lang="en-US" sz="1100" i="1" dirty="0">
                <a:solidFill>
                  <a:srgbClr val="5F6B78"/>
                </a:solidFill>
                <a:latin typeface="Calibri" pitchFamily="34" charset="0"/>
                <a:ea typeface="Calibri" pitchFamily="34" charset="-122"/>
                <a:cs typeface="Calibri" pitchFamily="34" charset="-120"/>
              </a:rPr>
              <a:t>The literature says 5 to 10 slides for a full-hour report. At 25 minutes, 8 is the ceiling and 6 is better — slides support the case, they are not the case.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7315200" cy="27432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TEMPLATE 1 — COPY THIS SLIDE</a:t>
            </a:r>
            <a:endParaRPr lang="en-US" sz="1100" dirty="0"/>
          </a:p>
        </p:txBody>
      </p:sp>
      <p:sp>
        <p:nvSpPr>
          <p:cNvPr id="3" name="Shape 1"/>
          <p:cNvSpPr/>
          <p:nvPr/>
        </p:nvSpPr>
        <p:spPr>
          <a:xfrm>
            <a:off x="566928" y="777240"/>
            <a:ext cx="11055096" cy="5349240"/>
          </a:xfrm>
          <a:prstGeom prst="rect">
            <a:avLst/>
          </a:prstGeom>
          <a:solidFill>
            <a:srgbClr val="16283C"/>
          </a:solidFill>
          <a:ln w="12700">
            <a:solidFill>
              <a:srgbClr val="9AA7B4"/>
            </a:solidFill>
            <a:prstDash val="solid"/>
          </a:ln>
        </p:spPr>
      </p:sp>
      <p:sp>
        <p:nvSpPr>
          <p:cNvPr id="4" name="Text 2"/>
          <p:cNvSpPr/>
          <p:nvPr/>
        </p:nvSpPr>
        <p:spPr>
          <a:xfrm>
            <a:off x="1207008" y="1463040"/>
            <a:ext cx="7315200" cy="320040"/>
          </a:xfrm>
          <a:prstGeom prst="rect">
            <a:avLst/>
          </a:prstGeom>
          <a:noFill/>
          <a:ln/>
        </p:spPr>
        <p:txBody>
          <a:bodyPr wrap="square" lIns="0" tIns="0" rIns="0" bIns="0" rtlCol="0" anchor="ctr"/>
          <a:lstStyle/>
          <a:p>
            <a:pPr indent="0" marL="0">
              <a:buNone/>
            </a:pPr>
            <a:r>
              <a:rPr lang="en-US" sz="1300" b="1" spc="250" kern="0" dirty="0">
                <a:solidFill>
                  <a:srgbClr val="E8A33D"/>
                </a:solidFill>
                <a:latin typeface="Calibri" pitchFamily="34" charset="0"/>
                <a:ea typeface="Calibri" pitchFamily="34" charset="-122"/>
                <a:cs typeface="Calibri" pitchFamily="34" charset="-120"/>
              </a:rPr>
              <a:t>PEDIATRIC MORNING REPORT</a:t>
            </a:r>
            <a:endParaRPr lang="en-US" sz="1300" dirty="0"/>
          </a:p>
        </p:txBody>
      </p:sp>
      <p:sp>
        <p:nvSpPr>
          <p:cNvPr id="5" name="Text 3"/>
          <p:cNvSpPr/>
          <p:nvPr/>
        </p:nvSpPr>
        <p:spPr>
          <a:xfrm>
            <a:off x="1207008" y="1874520"/>
            <a:ext cx="96012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[Case title — the syndrome, not the diagnosis]</a:t>
            </a:r>
            <a:endParaRPr lang="en-US" sz="3400" dirty="0"/>
          </a:p>
        </p:txBody>
      </p:sp>
      <p:sp>
        <p:nvSpPr>
          <p:cNvPr id="6" name="Text 4"/>
          <p:cNvSpPr/>
          <p:nvPr/>
        </p:nvSpPr>
        <p:spPr>
          <a:xfrm>
            <a:off x="1207008" y="2697480"/>
            <a:ext cx="7315200" cy="365760"/>
          </a:xfrm>
          <a:prstGeom prst="rect">
            <a:avLst/>
          </a:prstGeom>
          <a:noFill/>
          <a:ln/>
        </p:spPr>
        <p:txBody>
          <a:bodyPr wrap="square" lIns="0" tIns="0" rIns="0" bIns="0" rtlCol="0" anchor="ctr"/>
          <a:lstStyle/>
          <a:p>
            <a:pPr indent="0" marL="0">
              <a:buNone/>
            </a:pPr>
            <a:r>
              <a:rPr lang="en-US" sz="1400" dirty="0">
                <a:solidFill>
                  <a:srgbClr val="BFD0E0"/>
                </a:solidFill>
                <a:latin typeface="Calibri" pitchFamily="34" charset="0"/>
                <a:ea typeface="Calibri" pitchFamily="34" charset="-122"/>
                <a:cs typeface="Calibri" pitchFamily="34" charset="-120"/>
              </a:rPr>
              <a:t>Case ID PEDS-MR-##   ·   [Date]</a:t>
            </a:r>
            <a:endParaRPr lang="en-US" sz="1400" dirty="0"/>
          </a:p>
        </p:txBody>
      </p:sp>
      <p:sp>
        <p:nvSpPr>
          <p:cNvPr id="7" name="Text 5"/>
          <p:cNvSpPr/>
          <p:nvPr/>
        </p:nvSpPr>
        <p:spPr>
          <a:xfrm>
            <a:off x="1207008" y="3337560"/>
            <a:ext cx="4572000" cy="27432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TODAY'S OBJECTIVE</a:t>
            </a:r>
            <a:endParaRPr lang="en-US" sz="1100" dirty="0"/>
          </a:p>
        </p:txBody>
      </p:sp>
      <p:sp>
        <p:nvSpPr>
          <p:cNvPr id="8" name="Text 6"/>
          <p:cNvSpPr/>
          <p:nvPr/>
        </p:nvSpPr>
        <p:spPr>
          <a:xfrm>
            <a:off x="1207008" y="3657600"/>
            <a:ext cx="4846320" cy="914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D7E2EC"/>
                </a:solidFill>
                <a:latin typeface="Calibri" pitchFamily="34" charset="0"/>
                <a:ea typeface="Calibri" pitchFamily="34" charset="-122"/>
                <a:cs typeface="Calibri" pitchFamily="34" charset="-120"/>
              </a:rPr>
              <a:t>[One objective — a verb the group can actually do in 25 minutes]</a:t>
            </a:r>
            <a:endParaRPr lang="en-US" sz="1300" dirty="0"/>
          </a:p>
        </p:txBody>
      </p:sp>
      <p:sp>
        <p:nvSpPr>
          <p:cNvPr id="9" name="Text 7"/>
          <p:cNvSpPr/>
          <p:nvPr/>
        </p:nvSpPr>
        <p:spPr>
          <a:xfrm>
            <a:off x="6601968" y="3337560"/>
            <a:ext cx="4572000" cy="27432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ROLES</a:t>
            </a:r>
            <a:endParaRPr lang="en-US" sz="1100" dirty="0"/>
          </a:p>
        </p:txBody>
      </p:sp>
      <p:sp>
        <p:nvSpPr>
          <p:cNvPr id="10" name="Text 8"/>
          <p:cNvSpPr/>
          <p:nvPr/>
        </p:nvSpPr>
        <p:spPr>
          <a:xfrm>
            <a:off x="6601968" y="3657600"/>
            <a:ext cx="4297680"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D7E2EC"/>
                </a:solidFill>
                <a:latin typeface="Calibri" pitchFamily="34" charset="0"/>
                <a:ea typeface="Calibri" pitchFamily="34" charset="-122"/>
                <a:cs typeface="Calibri" pitchFamily="34" charset="-120"/>
              </a:rPr>
              <a:t>Presenter: [name]</a:t>
            </a:r>
            <a:endParaRPr lang="en-US" sz="1250" dirty="0"/>
          </a:p>
          <a:p>
            <a:pPr marL="342900" indent="-342900">
              <a:spcAft>
                <a:spcPts val="600"/>
              </a:spcAft>
              <a:buSzPct val="100000"/>
              <a:buChar char="•"/>
            </a:pPr>
            <a:r>
              <a:rPr lang="en-US" sz="1250" dirty="0">
                <a:solidFill>
                  <a:srgbClr val="D7E2EC"/>
                </a:solidFill>
                <a:latin typeface="Calibri" pitchFamily="34" charset="0"/>
                <a:ea typeface="Calibri" pitchFamily="34" charset="-122"/>
                <a:cs typeface="Calibri" pitchFamily="34" charset="-120"/>
              </a:rPr>
              <a:t>Scribe: [name]</a:t>
            </a:r>
            <a:endParaRPr lang="en-US" sz="1250" dirty="0"/>
          </a:p>
          <a:p>
            <a:pPr marL="342900" indent="-342900">
              <a:spcAft>
                <a:spcPts val="600"/>
              </a:spcAft>
              <a:buSzPct val="100000"/>
              <a:buChar char="•"/>
            </a:pPr>
            <a:r>
              <a:rPr lang="en-US" sz="1250" dirty="0">
                <a:solidFill>
                  <a:srgbClr val="D7E2EC"/>
                </a:solidFill>
                <a:latin typeface="Calibri" pitchFamily="34" charset="0"/>
                <a:ea typeface="Calibri" pitchFamily="34" charset="-122"/>
                <a:cs typeface="Calibri" pitchFamily="34" charset="-120"/>
              </a:rPr>
              <a:t>PGY-1 discussant: [name]</a:t>
            </a:r>
            <a:endParaRPr lang="en-US" sz="1250" dirty="0"/>
          </a:p>
          <a:p>
            <a:pPr marL="342900" indent="-342900">
              <a:spcAft>
                <a:spcPts val="600"/>
              </a:spcAft>
              <a:buSzPct val="100000"/>
              <a:buChar char="•"/>
            </a:pPr>
            <a:r>
              <a:rPr lang="en-US" sz="1250" dirty="0">
                <a:solidFill>
                  <a:srgbClr val="D7E2EC"/>
                </a:solidFill>
                <a:latin typeface="Calibri" pitchFamily="34" charset="0"/>
                <a:ea typeface="Calibri" pitchFamily="34" charset="-122"/>
                <a:cs typeface="Calibri" pitchFamily="34" charset="-120"/>
              </a:rPr>
              <a:t>Senior discussant: [name]</a:t>
            </a:r>
            <a:endParaRPr lang="en-US" sz="1250" dirty="0"/>
          </a:p>
          <a:p>
            <a:pPr marL="342900" indent="-342900">
              <a:spcAft>
                <a:spcPts val="600"/>
              </a:spcAft>
              <a:buSzPct val="100000"/>
              <a:buChar char="•"/>
            </a:pPr>
            <a:r>
              <a:rPr lang="en-US" sz="1250" dirty="0">
                <a:solidFill>
                  <a:srgbClr val="D7E2EC"/>
                </a:solidFill>
                <a:latin typeface="Calibri" pitchFamily="34" charset="0"/>
                <a:ea typeface="Calibri" pitchFamily="34" charset="-122"/>
                <a:cs typeface="Calibri" pitchFamily="34" charset="-120"/>
              </a:rPr>
              <a:t>Faculty: [name]</a:t>
            </a:r>
            <a:endParaRPr lang="en-US" sz="1250" dirty="0"/>
          </a:p>
          <a:p>
            <a:pPr marL="342900" indent="-342900">
              <a:spcAft>
                <a:spcPts val="600"/>
              </a:spcAft>
              <a:buSzPct val="100000"/>
              <a:buChar char="•"/>
            </a:pPr>
            <a:r>
              <a:rPr lang="en-US" sz="1250" dirty="0">
                <a:solidFill>
                  <a:srgbClr val="D7E2EC"/>
                </a:solidFill>
                <a:latin typeface="Calibri" pitchFamily="34" charset="0"/>
                <a:ea typeface="Calibri" pitchFamily="34" charset="-122"/>
                <a:cs typeface="Calibri" pitchFamily="34" charset="-120"/>
              </a:rPr>
              <a:t>Facilitator: [name]</a:t>
            </a:r>
            <a:endParaRPr lang="en-US" sz="1250" dirty="0"/>
          </a:p>
        </p:txBody>
      </p:sp>
      <p:sp>
        <p:nvSpPr>
          <p:cNvPr id="11" name="Shape 9"/>
          <p:cNvSpPr/>
          <p:nvPr/>
        </p:nvSpPr>
        <p:spPr>
          <a:xfrm>
            <a:off x="1207008" y="4937760"/>
            <a:ext cx="4846320" cy="640080"/>
          </a:xfrm>
          <a:prstGeom prst="roundRect">
            <a:avLst>
              <a:gd name="adj" fmla="val 11429"/>
            </a:avLst>
          </a:prstGeom>
          <a:solidFill>
            <a:srgbClr val="24405E"/>
          </a:solidFill>
          <a:ln w="12700">
            <a:solidFill>
              <a:srgbClr val="24405E"/>
            </a:solidFill>
            <a:prstDash val="solid"/>
          </a:ln>
        </p:spPr>
      </p:sp>
      <p:sp>
        <p:nvSpPr>
          <p:cNvPr id="12" name="Text 10"/>
          <p:cNvSpPr/>
          <p:nvPr/>
        </p:nvSpPr>
        <p:spPr>
          <a:xfrm>
            <a:off x="1389888" y="4937760"/>
            <a:ext cx="4480560" cy="640080"/>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No PHI. No MRN. No dates of service. No burned-in identifiers on images.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8229600" cy="27432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TEMPLATE 2 — THE HOOK  ·  TEMPLATES 4 &amp; 6 — THE PAUSE</a:t>
            </a:r>
            <a:endParaRPr lang="en-US" sz="1100" dirty="0"/>
          </a:p>
        </p:txBody>
      </p:sp>
      <p:sp>
        <p:nvSpPr>
          <p:cNvPr id="3" name="Shape 1"/>
          <p:cNvSpPr/>
          <p:nvPr/>
        </p:nvSpPr>
        <p:spPr>
          <a:xfrm>
            <a:off x="566928" y="777240"/>
            <a:ext cx="5394960" cy="3035808"/>
          </a:xfrm>
          <a:prstGeom prst="rect">
            <a:avLst/>
          </a:prstGeom>
          <a:solidFill>
            <a:srgbClr val="FFFFFF"/>
          </a:solidFill>
          <a:ln w="12700">
            <a:solidFill>
              <a:srgbClr val="9AA7B4"/>
            </a:solidFill>
            <a:prstDash val="solid"/>
          </a:ln>
        </p:spPr>
      </p:sp>
      <p:sp>
        <p:nvSpPr>
          <p:cNvPr id="4" name="Text 2"/>
          <p:cNvSpPr/>
          <p:nvPr/>
        </p:nvSpPr>
        <p:spPr>
          <a:xfrm>
            <a:off x="841248" y="960120"/>
            <a:ext cx="3657600" cy="274320"/>
          </a:xfrm>
          <a:prstGeom prst="rect">
            <a:avLst/>
          </a:prstGeom>
          <a:noFill/>
          <a:ln/>
        </p:spPr>
        <p:txBody>
          <a:bodyPr wrap="square" lIns="0" tIns="0" rIns="0" bIns="0" rtlCol="0" anchor="ctr"/>
          <a:lstStyle/>
          <a:p>
            <a:pPr indent="0" marL="0">
              <a:buNone/>
            </a:pPr>
            <a:r>
              <a:rPr lang="en-US" sz="1000" b="1" spc="200" kern="0" dirty="0">
                <a:solidFill>
                  <a:srgbClr val="2E7D8F"/>
                </a:solidFill>
                <a:latin typeface="Calibri" pitchFamily="34" charset="0"/>
                <a:ea typeface="Calibri" pitchFamily="34" charset="-122"/>
                <a:cs typeface="Calibri" pitchFamily="34" charset="-120"/>
              </a:rPr>
              <a:t>THE HOOK</a:t>
            </a:r>
            <a:endParaRPr lang="en-US" sz="1000" dirty="0"/>
          </a:p>
        </p:txBody>
      </p:sp>
      <p:sp>
        <p:nvSpPr>
          <p:cNvPr id="5" name="Text 3"/>
          <p:cNvSpPr/>
          <p:nvPr/>
        </p:nvSpPr>
        <p:spPr>
          <a:xfrm>
            <a:off x="841248" y="1280160"/>
            <a:ext cx="4846320" cy="1005840"/>
          </a:xfrm>
          <a:prstGeom prst="rect">
            <a:avLst/>
          </a:prstGeom>
          <a:noFill/>
          <a:ln/>
        </p:spPr>
        <p:txBody>
          <a:bodyPr wrap="square" lIns="0" tIns="0" rIns="0" bIns="0" rtlCol="0" anchor="ctr"/>
          <a:lstStyle/>
          <a:p>
            <a:pPr indent="0" marL="0">
              <a:lnSpc>
                <a:spcPts val="2300"/>
              </a:lnSpc>
              <a:buNone/>
            </a:pPr>
            <a:r>
              <a:rPr lang="en-US" sz="1700" b="1" dirty="0">
                <a:solidFill>
                  <a:srgbClr val="16283C"/>
                </a:solidFill>
                <a:latin typeface="Cambria" pitchFamily="34" charset="0"/>
                <a:ea typeface="Cambria" pitchFamily="34" charset="-122"/>
                <a:cs typeface="Cambria" pitchFamily="34" charset="-120"/>
              </a:rPr>
              <a:t>[Age] [sex] with [relevant background]</a:t>
            </a:r>
            <a:endParaRPr lang="en-US" sz="1700" dirty="0"/>
          </a:p>
          <a:p>
            <a:pPr indent="0" marL="0">
              <a:lnSpc>
                <a:spcPts val="2300"/>
              </a:lnSpc>
              <a:buNone/>
            </a:pPr>
            <a:r>
              <a:rPr lang="en-US" sz="1700" b="1" dirty="0">
                <a:solidFill>
                  <a:srgbClr val="16283C"/>
                </a:solidFill>
                <a:latin typeface="Cambria" pitchFamily="34" charset="0"/>
                <a:ea typeface="Cambria" pitchFamily="34" charset="-122"/>
                <a:cs typeface="Cambria" pitchFamily="34" charset="-120"/>
              </a:rPr>
              <a:t>presents with [chief complaint] for [duration].</a:t>
            </a:r>
            <a:endParaRPr lang="en-US" sz="1700" dirty="0"/>
          </a:p>
        </p:txBody>
      </p:sp>
      <p:sp>
        <p:nvSpPr>
          <p:cNvPr id="6" name="Shape 4"/>
          <p:cNvSpPr/>
          <p:nvPr/>
        </p:nvSpPr>
        <p:spPr>
          <a:xfrm>
            <a:off x="841248" y="2331720"/>
            <a:ext cx="4846320" cy="822960"/>
          </a:xfrm>
          <a:prstGeom prst="roundRect">
            <a:avLst>
              <a:gd name="adj" fmla="val 8889"/>
            </a:avLst>
          </a:prstGeom>
          <a:solidFill>
            <a:srgbClr val="FBF0DE"/>
          </a:solidFill>
          <a:ln w="12700">
            <a:solidFill>
              <a:srgbClr val="FBF0DE"/>
            </a:solidFill>
            <a:prstDash val="solid"/>
          </a:ln>
        </p:spPr>
      </p:sp>
      <p:sp>
        <p:nvSpPr>
          <p:cNvPr id="7" name="Text 5"/>
          <p:cNvSpPr/>
          <p:nvPr/>
        </p:nvSpPr>
        <p:spPr>
          <a:xfrm>
            <a:off x="1024128" y="2331720"/>
            <a:ext cx="4480560" cy="822960"/>
          </a:xfrm>
          <a:prstGeom prst="rect">
            <a:avLst/>
          </a:prstGeom>
          <a:noFill/>
          <a:ln/>
        </p:spPr>
        <p:txBody>
          <a:bodyPr wrap="square" lIns="0" tIns="0" rIns="0" bIns="0" rtlCol="0" anchor="ctr"/>
          <a:lstStyle/>
          <a:p>
            <a:pPr indent="0" marL="0">
              <a:buNone/>
            </a:pPr>
            <a:r>
              <a:rPr lang="en-US" sz="1200" i="1" dirty="0">
                <a:solidFill>
                  <a:srgbClr val="4A3520"/>
                </a:solidFill>
                <a:latin typeface="Calibri" pitchFamily="34" charset="0"/>
                <a:ea typeface="Calibri" pitchFamily="34" charset="-122"/>
                <a:cs typeface="Calibri" pitchFamily="34" charset="-120"/>
              </a:rPr>
              <a:t>[One provocative datum: the vital sign, the exam finding, or the image that made this case worth an hour]</a:t>
            </a:r>
            <a:endParaRPr lang="en-US" sz="1200" dirty="0"/>
          </a:p>
        </p:txBody>
      </p:sp>
      <p:sp>
        <p:nvSpPr>
          <p:cNvPr id="8" name="Text 6"/>
          <p:cNvSpPr/>
          <p:nvPr/>
        </p:nvSpPr>
        <p:spPr>
          <a:xfrm>
            <a:off x="841248" y="3273552"/>
            <a:ext cx="3657600" cy="320040"/>
          </a:xfrm>
          <a:prstGeom prst="rect">
            <a:avLst/>
          </a:prstGeom>
          <a:noFill/>
          <a:ln/>
        </p:spPr>
        <p:txBody>
          <a:bodyPr wrap="square" lIns="0" tIns="0" rIns="0" bIns="0" rtlCol="0" anchor="ctr"/>
          <a:lstStyle/>
          <a:p>
            <a:pPr indent="0" marL="0">
              <a:buNone/>
            </a:pPr>
            <a:r>
              <a:rPr lang="en-US" sz="1200" b="1" dirty="0">
                <a:solidFill>
                  <a:srgbClr val="B23A48"/>
                </a:solidFill>
                <a:latin typeface="Calibri" pitchFamily="34" charset="0"/>
                <a:ea typeface="Calibri" pitchFamily="34" charset="-122"/>
                <a:cs typeface="Calibri" pitchFamily="34" charset="-120"/>
              </a:rPr>
              <a:t>Then stop talking.</a:t>
            </a:r>
            <a:endParaRPr lang="en-US" sz="1200" dirty="0"/>
          </a:p>
        </p:txBody>
      </p:sp>
      <p:sp>
        <p:nvSpPr>
          <p:cNvPr id="9" name="Shape 7"/>
          <p:cNvSpPr/>
          <p:nvPr/>
        </p:nvSpPr>
        <p:spPr>
          <a:xfrm>
            <a:off x="6236208" y="777240"/>
            <a:ext cx="5385816" cy="3035808"/>
          </a:xfrm>
          <a:prstGeom prst="rect">
            <a:avLst/>
          </a:prstGeom>
          <a:solidFill>
            <a:srgbClr val="16283C"/>
          </a:solidFill>
          <a:ln w="12700">
            <a:solidFill>
              <a:srgbClr val="9AA7B4"/>
            </a:solidFill>
            <a:prstDash val="solid"/>
          </a:ln>
        </p:spPr>
      </p:sp>
      <p:sp>
        <p:nvSpPr>
          <p:cNvPr id="10" name="Text 8"/>
          <p:cNvSpPr/>
          <p:nvPr/>
        </p:nvSpPr>
        <p:spPr>
          <a:xfrm>
            <a:off x="6236208" y="1234440"/>
            <a:ext cx="5385816" cy="685800"/>
          </a:xfrm>
          <a:prstGeom prst="rect">
            <a:avLst/>
          </a:prstGeom>
          <a:noFill/>
          <a:ln/>
        </p:spPr>
        <p:txBody>
          <a:bodyPr wrap="square" lIns="0" tIns="0" rIns="0" bIns="0" rtlCol="0" anchor="ctr"/>
          <a:lstStyle/>
          <a:p>
            <a:pPr algn="ctr" indent="0" marL="0">
              <a:buNone/>
            </a:pPr>
            <a:r>
              <a:rPr lang="en-US" sz="4000" b="1" dirty="0">
                <a:solidFill>
                  <a:srgbClr val="E8A33D"/>
                </a:solidFill>
                <a:latin typeface="Cambria" pitchFamily="34" charset="0"/>
                <a:ea typeface="Cambria" pitchFamily="34" charset="-122"/>
                <a:cs typeface="Cambria" pitchFamily="34" charset="-120"/>
              </a:rPr>
              <a:t>PAUSE</a:t>
            </a:r>
            <a:endParaRPr lang="en-US" sz="4000" dirty="0"/>
          </a:p>
        </p:txBody>
      </p:sp>
      <p:sp>
        <p:nvSpPr>
          <p:cNvPr id="11" name="Text 9"/>
          <p:cNvSpPr/>
          <p:nvPr/>
        </p:nvSpPr>
        <p:spPr>
          <a:xfrm>
            <a:off x="6236208" y="2011680"/>
            <a:ext cx="5385816" cy="1097280"/>
          </a:xfrm>
          <a:prstGeom prst="rect">
            <a:avLst/>
          </a:prstGeom>
          <a:noFill/>
          <a:ln/>
        </p:spPr>
        <p:txBody>
          <a:bodyPr wrap="square" lIns="0" tIns="0" rIns="0" bIns="0" rtlCol="0" anchor="ctr"/>
          <a:lstStyle/>
          <a:p>
            <a:pPr algn="ctr" indent="0" marL="0">
              <a:lnSpc>
                <a:spcPts val="2400"/>
              </a:lnSpc>
              <a:buNone/>
            </a:pPr>
            <a:r>
              <a:rPr lang="en-US" sz="1500" dirty="0">
                <a:solidFill>
                  <a:srgbClr val="FFFFFF"/>
                </a:solidFill>
                <a:latin typeface="Calibri" pitchFamily="34" charset="0"/>
                <a:ea typeface="Calibri" pitchFamily="34" charset="-122"/>
                <a:cs typeface="Calibri" pitchFamily="34" charset="-120"/>
              </a:rPr>
              <a:t>What is the problem representation?</a:t>
            </a:r>
            <a:endParaRPr lang="en-US" sz="1500" dirty="0"/>
          </a:p>
          <a:p>
            <a:pPr algn="ctr" indent="0" marL="0">
              <a:lnSpc>
                <a:spcPts val="2400"/>
              </a:lnSpc>
              <a:buNone/>
            </a:pPr>
            <a:r>
              <a:rPr lang="en-US" sz="1500" dirty="0">
                <a:solidFill>
                  <a:srgbClr val="FFFFFF"/>
                </a:solidFill>
                <a:latin typeface="Calibri" pitchFamily="34" charset="0"/>
                <a:ea typeface="Calibri" pitchFamily="34" charset="-122"/>
                <a:cs typeface="Calibri" pitchFamily="34" charset="-120"/>
              </a:rPr>
              <a:t>What is on your list?</a:t>
            </a:r>
            <a:endParaRPr lang="en-US" sz="1500" dirty="0"/>
          </a:p>
          <a:p>
            <a:pPr algn="ctr" indent="0" marL="0">
              <a:lnSpc>
                <a:spcPts val="2400"/>
              </a:lnSpc>
              <a:buNone/>
            </a:pPr>
            <a:r>
              <a:rPr lang="en-US" sz="1500" dirty="0">
                <a:solidFill>
                  <a:srgbClr val="FFFFFF"/>
                </a:solidFill>
                <a:latin typeface="Calibri" pitchFamily="34" charset="0"/>
                <a:ea typeface="Calibri" pitchFamily="34" charset="-122"/>
                <a:cs typeface="Calibri" pitchFamily="34" charset="-120"/>
              </a:rPr>
              <a:t>What is the can't-miss?</a:t>
            </a:r>
            <a:endParaRPr lang="en-US" sz="1500" dirty="0"/>
          </a:p>
        </p:txBody>
      </p:sp>
      <p:sp>
        <p:nvSpPr>
          <p:cNvPr id="12" name="Text 10"/>
          <p:cNvSpPr/>
          <p:nvPr/>
        </p:nvSpPr>
        <p:spPr>
          <a:xfrm>
            <a:off x="6236208" y="3154680"/>
            <a:ext cx="5385816" cy="320040"/>
          </a:xfrm>
          <a:prstGeom prst="rect">
            <a:avLst/>
          </a:prstGeom>
          <a:noFill/>
          <a:ln/>
        </p:spPr>
        <p:txBody>
          <a:bodyPr wrap="square" lIns="0" tIns="0" rIns="0" bIns="0" rtlCol="0" anchor="ctr"/>
          <a:lstStyle/>
          <a:p>
            <a:pPr algn="ctr" indent="0" marL="0">
              <a:buNone/>
            </a:pPr>
            <a:r>
              <a:rPr lang="en-US" sz="1100" i="1" dirty="0">
                <a:solidFill>
                  <a:srgbClr val="8EA3B8"/>
                </a:solidFill>
                <a:latin typeface="Calibri" pitchFamily="34" charset="0"/>
                <a:ea typeface="Calibri" pitchFamily="34" charset="-122"/>
                <a:cs typeface="Calibri" pitchFamily="34" charset="-120"/>
              </a:rPr>
              <a:t>→ share moves to the whiteboard</a:t>
            </a:r>
            <a:endParaRPr lang="en-US" sz="1100" dirty="0"/>
          </a:p>
        </p:txBody>
      </p:sp>
      <p:sp>
        <p:nvSpPr>
          <p:cNvPr id="13" name="Shape 11"/>
          <p:cNvSpPr/>
          <p:nvPr/>
        </p:nvSpPr>
        <p:spPr>
          <a:xfrm>
            <a:off x="566928" y="4069080"/>
            <a:ext cx="11055096" cy="2331720"/>
          </a:xfrm>
          <a:prstGeom prst="roundRect">
            <a:avLst>
              <a:gd name="adj" fmla="val 3137"/>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4" name="Text 12"/>
          <p:cNvSpPr/>
          <p:nvPr/>
        </p:nvSpPr>
        <p:spPr>
          <a:xfrm>
            <a:off x="868680" y="4224528"/>
            <a:ext cx="5486400" cy="365760"/>
          </a:xfrm>
          <a:prstGeom prst="rect">
            <a:avLst/>
          </a:prstGeom>
          <a:noFill/>
          <a:ln/>
        </p:spPr>
        <p:txBody>
          <a:bodyPr wrap="square" lIns="0" tIns="0" rIns="0" bIns="0" rtlCol="0" anchor="ctr"/>
          <a:lstStyle/>
          <a:p>
            <a:pPr indent="0" marL="0">
              <a:buNone/>
            </a:pPr>
            <a:r>
              <a:rPr lang="en-US" sz="1700" b="1" dirty="0">
                <a:solidFill>
                  <a:srgbClr val="16283C"/>
                </a:solidFill>
                <a:latin typeface="Cambria" pitchFamily="34" charset="0"/>
                <a:ea typeface="Cambria" pitchFamily="34" charset="-122"/>
                <a:cs typeface="Cambria" pitchFamily="34" charset="-120"/>
              </a:rPr>
              <a:t>How to use these two</a:t>
            </a:r>
            <a:endParaRPr lang="en-US" sz="1700" dirty="0"/>
          </a:p>
        </p:txBody>
      </p:sp>
      <p:sp>
        <p:nvSpPr>
          <p:cNvPr id="15" name="Text 13"/>
          <p:cNvSpPr/>
          <p:nvPr/>
        </p:nvSpPr>
        <p:spPr>
          <a:xfrm>
            <a:off x="868680" y="4617720"/>
            <a:ext cx="10424160" cy="17373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The hook is a story device, not a summary. Drop the group into the most challenging moment of the patient's narrative — the ED call, the abnormal gas, the child who looked well an hour ago.</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History and exam still come before the first pass. The intern cannot build a problem representation without an age, a tempo, and an exam. What changes is the delivery: one focused block, not a front-to-back recitation of every negative.</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What actually gets withheld is the diagnostic data. Labs, imaging, and micro wait for block 2, after the intern has committed — that is what makes the commitment worth anything.</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The pause slide is deliberately content-free. Its only job is to make the handoff to the board unambiguous and to buy ten seconds of silence. Let it run, and do not let faculty fill it.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8229600" cy="27432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TEMPLATE 3 &amp; 5 — DATA BLOCKS  ·  TEMPLATE 7 — REVEAL</a:t>
            </a:r>
            <a:endParaRPr lang="en-US" sz="1100" dirty="0"/>
          </a:p>
        </p:txBody>
      </p:sp>
      <p:sp>
        <p:nvSpPr>
          <p:cNvPr id="3" name="Shape 1"/>
          <p:cNvSpPr/>
          <p:nvPr/>
        </p:nvSpPr>
        <p:spPr>
          <a:xfrm>
            <a:off x="566928" y="777240"/>
            <a:ext cx="5394960" cy="3246120"/>
          </a:xfrm>
          <a:prstGeom prst="rect">
            <a:avLst/>
          </a:prstGeom>
          <a:solidFill>
            <a:srgbClr val="FFFFFF"/>
          </a:solidFill>
          <a:ln w="12700">
            <a:solidFill>
              <a:srgbClr val="9AA7B4"/>
            </a:solidFill>
            <a:prstDash val="solid"/>
          </a:ln>
        </p:spPr>
      </p:sp>
      <p:sp>
        <p:nvSpPr>
          <p:cNvPr id="4" name="Text 2"/>
          <p:cNvSpPr/>
          <p:nvPr/>
        </p:nvSpPr>
        <p:spPr>
          <a:xfrm>
            <a:off x="841248" y="960120"/>
            <a:ext cx="4846320" cy="320040"/>
          </a:xfrm>
          <a:prstGeom prst="rect">
            <a:avLst/>
          </a:prstGeom>
          <a:noFill/>
          <a:ln/>
        </p:spPr>
        <p:txBody>
          <a:bodyPr wrap="square" lIns="0" tIns="0" rIns="0" bIns="0" rtlCol="0" anchor="ctr"/>
          <a:lstStyle/>
          <a:p>
            <a:pPr indent="0" marL="0">
              <a:buNone/>
            </a:pPr>
            <a:r>
              <a:rPr lang="en-US" sz="1600" b="1" dirty="0">
                <a:solidFill>
                  <a:srgbClr val="16283C"/>
                </a:solidFill>
                <a:latin typeface="Cambria" pitchFamily="34" charset="0"/>
                <a:ea typeface="Cambria" pitchFamily="34" charset="-122"/>
                <a:cs typeface="Cambria" pitchFamily="34" charset="-120"/>
              </a:rPr>
              <a:t>DATA BLOCK — [History + Exam]  or  [Labs + Imaging]</a:t>
            </a:r>
            <a:endParaRPr lang="en-US" sz="1600" dirty="0"/>
          </a:p>
        </p:txBody>
      </p:sp>
      <p:sp>
        <p:nvSpPr>
          <p:cNvPr id="5" name="Shape 3"/>
          <p:cNvSpPr/>
          <p:nvPr/>
        </p:nvSpPr>
        <p:spPr>
          <a:xfrm>
            <a:off x="841248" y="1371600"/>
            <a:ext cx="4846320" cy="475488"/>
          </a:xfrm>
          <a:prstGeom prst="rect">
            <a:avLst/>
          </a:prstGeom>
          <a:solidFill>
            <a:srgbClr val="FFFFFF"/>
          </a:solidFill>
          <a:ln w="6350">
            <a:solidFill>
              <a:srgbClr val="E4E9EE"/>
            </a:solidFill>
            <a:prstDash val="solid"/>
          </a:ln>
        </p:spPr>
      </p:sp>
      <p:sp>
        <p:nvSpPr>
          <p:cNvPr id="6" name="Text 4"/>
          <p:cNvSpPr/>
          <p:nvPr/>
        </p:nvSpPr>
        <p:spPr>
          <a:xfrm>
            <a:off x="960120" y="1371600"/>
            <a:ext cx="1051560" cy="475488"/>
          </a:xfrm>
          <a:prstGeom prst="rect">
            <a:avLst/>
          </a:prstGeom>
          <a:noFill/>
          <a:ln/>
        </p:spPr>
        <p:txBody>
          <a:bodyPr wrap="square" lIns="0" tIns="0" rIns="0" bIns="0" rtlCol="0" anchor="ctr"/>
          <a:lstStyle/>
          <a:p>
            <a:pPr indent="0" marL="0">
              <a:buNone/>
            </a:pPr>
            <a:r>
              <a:rPr lang="en-US" sz="1100" b="1" dirty="0">
                <a:solidFill>
                  <a:srgbClr val="2E7D8F"/>
                </a:solidFill>
                <a:latin typeface="Calibri" pitchFamily="34" charset="0"/>
                <a:ea typeface="Calibri" pitchFamily="34" charset="-122"/>
                <a:cs typeface="Calibri" pitchFamily="34" charset="-120"/>
              </a:rPr>
              <a:t>Vitals</a:t>
            </a:r>
            <a:endParaRPr lang="en-US" sz="1100" dirty="0"/>
          </a:p>
        </p:txBody>
      </p:sp>
      <p:sp>
        <p:nvSpPr>
          <p:cNvPr id="7" name="Text 5"/>
          <p:cNvSpPr/>
          <p:nvPr/>
        </p:nvSpPr>
        <p:spPr>
          <a:xfrm>
            <a:off x="2057400" y="1371600"/>
            <a:ext cx="3520440" cy="475488"/>
          </a:xfrm>
          <a:prstGeom prst="rect">
            <a:avLst/>
          </a:prstGeom>
          <a:noFill/>
          <a:ln/>
        </p:spPr>
        <p:txBody>
          <a:bodyPr wrap="square" lIns="0" tIns="0" rIns="0" bIns="0" rtlCol="0" anchor="ctr"/>
          <a:lstStyle/>
          <a:p>
            <a:pPr indent="0" marL="0">
              <a:buNone/>
            </a:pPr>
            <a:r>
              <a:rPr lang="en-US" sz="1050" dirty="0">
                <a:solidFill>
                  <a:srgbClr val="3D4855"/>
                </a:solidFill>
                <a:latin typeface="Calibri" pitchFamily="34" charset="0"/>
                <a:ea typeface="Calibri" pitchFamily="34" charset="-122"/>
                <a:cs typeface="Calibri" pitchFamily="34" charset="-120"/>
              </a:rPr>
              <a:t>T __  HR __  RR __  BP __  SpO2 __</a:t>
            </a:r>
            <a:endParaRPr lang="en-US" sz="1050" dirty="0"/>
          </a:p>
        </p:txBody>
      </p:sp>
      <p:sp>
        <p:nvSpPr>
          <p:cNvPr id="8" name="Shape 6"/>
          <p:cNvSpPr/>
          <p:nvPr/>
        </p:nvSpPr>
        <p:spPr>
          <a:xfrm>
            <a:off x="841248" y="1847088"/>
            <a:ext cx="4846320" cy="475488"/>
          </a:xfrm>
          <a:prstGeom prst="rect">
            <a:avLst/>
          </a:prstGeom>
          <a:solidFill>
            <a:srgbClr val="F7F9FB"/>
          </a:solidFill>
          <a:ln w="6350">
            <a:solidFill>
              <a:srgbClr val="E4E9EE"/>
            </a:solidFill>
            <a:prstDash val="solid"/>
          </a:ln>
        </p:spPr>
      </p:sp>
      <p:sp>
        <p:nvSpPr>
          <p:cNvPr id="9" name="Text 7"/>
          <p:cNvSpPr/>
          <p:nvPr/>
        </p:nvSpPr>
        <p:spPr>
          <a:xfrm>
            <a:off x="960120" y="1847088"/>
            <a:ext cx="1051560" cy="475488"/>
          </a:xfrm>
          <a:prstGeom prst="rect">
            <a:avLst/>
          </a:prstGeom>
          <a:noFill/>
          <a:ln/>
        </p:spPr>
        <p:txBody>
          <a:bodyPr wrap="square" lIns="0" tIns="0" rIns="0" bIns="0" rtlCol="0" anchor="ctr"/>
          <a:lstStyle/>
          <a:p>
            <a:pPr indent="0" marL="0">
              <a:buNone/>
            </a:pPr>
            <a:r>
              <a:rPr lang="en-US" sz="1100" b="1" dirty="0">
                <a:solidFill>
                  <a:srgbClr val="2E7D8F"/>
                </a:solidFill>
                <a:latin typeface="Calibri" pitchFamily="34" charset="0"/>
                <a:ea typeface="Calibri" pitchFamily="34" charset="-122"/>
                <a:cs typeface="Calibri" pitchFamily="34" charset="-120"/>
              </a:rPr>
              <a:t>Growth</a:t>
            </a:r>
            <a:endParaRPr lang="en-US" sz="1100" dirty="0"/>
          </a:p>
        </p:txBody>
      </p:sp>
      <p:sp>
        <p:nvSpPr>
          <p:cNvPr id="10" name="Text 8"/>
          <p:cNvSpPr/>
          <p:nvPr/>
        </p:nvSpPr>
        <p:spPr>
          <a:xfrm>
            <a:off x="2057400" y="1847088"/>
            <a:ext cx="3520440" cy="475488"/>
          </a:xfrm>
          <a:prstGeom prst="rect">
            <a:avLst/>
          </a:prstGeom>
          <a:noFill/>
          <a:ln/>
        </p:spPr>
        <p:txBody>
          <a:bodyPr wrap="square" lIns="0" tIns="0" rIns="0" bIns="0" rtlCol="0" anchor="ctr"/>
          <a:lstStyle/>
          <a:p>
            <a:pPr indent="0" marL="0">
              <a:buNone/>
            </a:pPr>
            <a:r>
              <a:rPr lang="en-US" sz="1050" dirty="0">
                <a:solidFill>
                  <a:srgbClr val="3D4855"/>
                </a:solidFill>
                <a:latin typeface="Calibri" pitchFamily="34" charset="0"/>
                <a:ea typeface="Calibri" pitchFamily="34" charset="-122"/>
                <a:cs typeface="Calibri" pitchFamily="34" charset="-120"/>
              </a:rPr>
              <a:t>Wt __ (__%)  Ht __ (__%)</a:t>
            </a:r>
            <a:endParaRPr lang="en-US" sz="1050" dirty="0"/>
          </a:p>
        </p:txBody>
      </p:sp>
      <p:sp>
        <p:nvSpPr>
          <p:cNvPr id="11" name="Shape 9"/>
          <p:cNvSpPr/>
          <p:nvPr/>
        </p:nvSpPr>
        <p:spPr>
          <a:xfrm>
            <a:off x="841248" y="2322576"/>
            <a:ext cx="4846320" cy="475488"/>
          </a:xfrm>
          <a:prstGeom prst="rect">
            <a:avLst/>
          </a:prstGeom>
          <a:solidFill>
            <a:srgbClr val="FFFFFF"/>
          </a:solidFill>
          <a:ln w="6350">
            <a:solidFill>
              <a:srgbClr val="E4E9EE"/>
            </a:solidFill>
            <a:prstDash val="solid"/>
          </a:ln>
        </p:spPr>
      </p:sp>
      <p:sp>
        <p:nvSpPr>
          <p:cNvPr id="12" name="Text 10"/>
          <p:cNvSpPr/>
          <p:nvPr/>
        </p:nvSpPr>
        <p:spPr>
          <a:xfrm>
            <a:off x="960120" y="2322576"/>
            <a:ext cx="1051560" cy="475488"/>
          </a:xfrm>
          <a:prstGeom prst="rect">
            <a:avLst/>
          </a:prstGeom>
          <a:noFill/>
          <a:ln/>
        </p:spPr>
        <p:txBody>
          <a:bodyPr wrap="square" lIns="0" tIns="0" rIns="0" bIns="0" rtlCol="0" anchor="ctr"/>
          <a:lstStyle/>
          <a:p>
            <a:pPr indent="0" marL="0">
              <a:buNone/>
            </a:pPr>
            <a:r>
              <a:rPr lang="en-US" sz="1100" b="1" dirty="0">
                <a:solidFill>
                  <a:srgbClr val="2E7D8F"/>
                </a:solidFill>
                <a:latin typeface="Calibri" pitchFamily="34" charset="0"/>
                <a:ea typeface="Calibri" pitchFamily="34" charset="-122"/>
                <a:cs typeface="Calibri" pitchFamily="34" charset="-120"/>
              </a:rPr>
              <a:t>Pertinent +</a:t>
            </a:r>
            <a:endParaRPr lang="en-US" sz="1100" dirty="0"/>
          </a:p>
        </p:txBody>
      </p:sp>
      <p:sp>
        <p:nvSpPr>
          <p:cNvPr id="13" name="Text 11"/>
          <p:cNvSpPr/>
          <p:nvPr/>
        </p:nvSpPr>
        <p:spPr>
          <a:xfrm>
            <a:off x="2057400" y="2322576"/>
            <a:ext cx="3520440" cy="475488"/>
          </a:xfrm>
          <a:prstGeom prst="rect">
            <a:avLst/>
          </a:prstGeom>
          <a:noFill/>
          <a:ln/>
        </p:spPr>
        <p:txBody>
          <a:bodyPr wrap="square" lIns="0" tIns="0" rIns="0" bIns="0" rtlCol="0" anchor="ctr"/>
          <a:lstStyle/>
          <a:p>
            <a:pPr indent="0" marL="0">
              <a:buNone/>
            </a:pPr>
            <a:r>
              <a:rPr lang="en-US" sz="1050" dirty="0">
                <a:solidFill>
                  <a:srgbClr val="3D4855"/>
                </a:solidFill>
                <a:latin typeface="Calibri" pitchFamily="34" charset="0"/>
                <a:ea typeface="Calibri" pitchFamily="34" charset="-122"/>
                <a:cs typeface="Calibri" pitchFamily="34" charset="-120"/>
              </a:rPr>
              <a:t>[findings]</a:t>
            </a:r>
            <a:endParaRPr lang="en-US" sz="1050" dirty="0"/>
          </a:p>
        </p:txBody>
      </p:sp>
      <p:sp>
        <p:nvSpPr>
          <p:cNvPr id="14" name="Shape 12"/>
          <p:cNvSpPr/>
          <p:nvPr/>
        </p:nvSpPr>
        <p:spPr>
          <a:xfrm>
            <a:off x="841248" y="2798064"/>
            <a:ext cx="4846320" cy="475488"/>
          </a:xfrm>
          <a:prstGeom prst="rect">
            <a:avLst/>
          </a:prstGeom>
          <a:solidFill>
            <a:srgbClr val="F7F9FB"/>
          </a:solidFill>
          <a:ln w="6350">
            <a:solidFill>
              <a:srgbClr val="E4E9EE"/>
            </a:solidFill>
            <a:prstDash val="solid"/>
          </a:ln>
        </p:spPr>
      </p:sp>
      <p:sp>
        <p:nvSpPr>
          <p:cNvPr id="15" name="Text 13"/>
          <p:cNvSpPr/>
          <p:nvPr/>
        </p:nvSpPr>
        <p:spPr>
          <a:xfrm>
            <a:off x="960120" y="2798064"/>
            <a:ext cx="1051560" cy="475488"/>
          </a:xfrm>
          <a:prstGeom prst="rect">
            <a:avLst/>
          </a:prstGeom>
          <a:noFill/>
          <a:ln/>
        </p:spPr>
        <p:txBody>
          <a:bodyPr wrap="square" lIns="0" tIns="0" rIns="0" bIns="0" rtlCol="0" anchor="ctr"/>
          <a:lstStyle/>
          <a:p>
            <a:pPr indent="0" marL="0">
              <a:buNone/>
            </a:pPr>
            <a:r>
              <a:rPr lang="en-US" sz="1100" b="1" dirty="0">
                <a:solidFill>
                  <a:srgbClr val="2E7D8F"/>
                </a:solidFill>
                <a:latin typeface="Calibri" pitchFamily="34" charset="0"/>
                <a:ea typeface="Calibri" pitchFamily="34" charset="-122"/>
                <a:cs typeface="Calibri" pitchFamily="34" charset="-120"/>
              </a:rPr>
              <a:t>Pertinent −</a:t>
            </a:r>
            <a:endParaRPr lang="en-US" sz="1100" dirty="0"/>
          </a:p>
        </p:txBody>
      </p:sp>
      <p:sp>
        <p:nvSpPr>
          <p:cNvPr id="16" name="Text 14"/>
          <p:cNvSpPr/>
          <p:nvPr/>
        </p:nvSpPr>
        <p:spPr>
          <a:xfrm>
            <a:off x="2057400" y="2798064"/>
            <a:ext cx="3520440" cy="475488"/>
          </a:xfrm>
          <a:prstGeom prst="rect">
            <a:avLst/>
          </a:prstGeom>
          <a:noFill/>
          <a:ln/>
        </p:spPr>
        <p:txBody>
          <a:bodyPr wrap="square" lIns="0" tIns="0" rIns="0" bIns="0" rtlCol="0" anchor="ctr"/>
          <a:lstStyle/>
          <a:p>
            <a:pPr indent="0" marL="0">
              <a:buNone/>
            </a:pPr>
            <a:r>
              <a:rPr lang="en-US" sz="1050" dirty="0">
                <a:solidFill>
                  <a:srgbClr val="3D4855"/>
                </a:solidFill>
                <a:latin typeface="Calibri" pitchFamily="34" charset="0"/>
                <a:ea typeface="Calibri" pitchFamily="34" charset="-122"/>
                <a:cs typeface="Calibri" pitchFamily="34" charset="-120"/>
              </a:rPr>
              <a:t>[findings]</a:t>
            </a:r>
            <a:endParaRPr lang="en-US" sz="1050" dirty="0"/>
          </a:p>
        </p:txBody>
      </p:sp>
      <p:sp>
        <p:nvSpPr>
          <p:cNvPr id="17" name="Shape 15"/>
          <p:cNvSpPr/>
          <p:nvPr/>
        </p:nvSpPr>
        <p:spPr>
          <a:xfrm>
            <a:off x="841248" y="3273552"/>
            <a:ext cx="4846320" cy="475488"/>
          </a:xfrm>
          <a:prstGeom prst="rect">
            <a:avLst/>
          </a:prstGeom>
          <a:solidFill>
            <a:srgbClr val="FFFFFF"/>
          </a:solidFill>
          <a:ln w="6350">
            <a:solidFill>
              <a:srgbClr val="E4E9EE"/>
            </a:solidFill>
            <a:prstDash val="solid"/>
          </a:ln>
        </p:spPr>
      </p:sp>
      <p:sp>
        <p:nvSpPr>
          <p:cNvPr id="18" name="Text 16"/>
          <p:cNvSpPr/>
          <p:nvPr/>
        </p:nvSpPr>
        <p:spPr>
          <a:xfrm>
            <a:off x="960120" y="3273552"/>
            <a:ext cx="1051560" cy="475488"/>
          </a:xfrm>
          <a:prstGeom prst="rect">
            <a:avLst/>
          </a:prstGeom>
          <a:noFill/>
          <a:ln/>
        </p:spPr>
        <p:txBody>
          <a:bodyPr wrap="square" lIns="0" tIns="0" rIns="0" bIns="0" rtlCol="0" anchor="ctr"/>
          <a:lstStyle/>
          <a:p>
            <a:pPr indent="0" marL="0">
              <a:buNone/>
            </a:pPr>
            <a:r>
              <a:rPr lang="en-US" sz="1100" b="1" dirty="0">
                <a:solidFill>
                  <a:srgbClr val="2E7D8F"/>
                </a:solidFill>
                <a:latin typeface="Calibri" pitchFamily="34" charset="0"/>
                <a:ea typeface="Calibri" pitchFamily="34" charset="-122"/>
                <a:cs typeface="Calibri" pitchFamily="34" charset="-120"/>
              </a:rPr>
              <a:t>Labs</a:t>
            </a:r>
            <a:endParaRPr lang="en-US" sz="1100" dirty="0"/>
          </a:p>
        </p:txBody>
      </p:sp>
      <p:sp>
        <p:nvSpPr>
          <p:cNvPr id="19" name="Text 17"/>
          <p:cNvSpPr/>
          <p:nvPr/>
        </p:nvSpPr>
        <p:spPr>
          <a:xfrm>
            <a:off x="2057400" y="3273552"/>
            <a:ext cx="3520440" cy="475488"/>
          </a:xfrm>
          <a:prstGeom prst="rect">
            <a:avLst/>
          </a:prstGeom>
          <a:noFill/>
          <a:ln/>
        </p:spPr>
        <p:txBody>
          <a:bodyPr wrap="square" lIns="0" tIns="0" rIns="0" bIns="0" rtlCol="0" anchor="ctr"/>
          <a:lstStyle/>
          <a:p>
            <a:pPr indent="0" marL="0">
              <a:buNone/>
            </a:pPr>
            <a:r>
              <a:rPr lang="en-US" sz="1050" dirty="0">
                <a:solidFill>
                  <a:srgbClr val="3D4855"/>
                </a:solidFill>
                <a:latin typeface="Calibri" pitchFamily="34" charset="0"/>
                <a:ea typeface="Calibri" pitchFamily="34" charset="-122"/>
                <a:cs typeface="Calibri" pitchFamily="34" charset="-120"/>
              </a:rPr>
              <a:t>[only what you would actually have had at this point]</a:t>
            </a:r>
            <a:endParaRPr lang="en-US" sz="1050" dirty="0"/>
          </a:p>
        </p:txBody>
      </p:sp>
      <p:sp>
        <p:nvSpPr>
          <p:cNvPr id="20" name="Text 18"/>
          <p:cNvSpPr/>
          <p:nvPr/>
        </p:nvSpPr>
        <p:spPr>
          <a:xfrm>
            <a:off x="841248" y="3730752"/>
            <a:ext cx="4846320" cy="274320"/>
          </a:xfrm>
          <a:prstGeom prst="rect">
            <a:avLst/>
          </a:prstGeom>
          <a:noFill/>
          <a:ln/>
        </p:spPr>
        <p:txBody>
          <a:bodyPr wrap="square" lIns="0" tIns="0" rIns="0" bIns="0" rtlCol="0" anchor="ctr"/>
          <a:lstStyle/>
          <a:p>
            <a:pPr indent="0" marL="0">
              <a:buNone/>
            </a:pPr>
            <a:r>
              <a:rPr lang="en-US" sz="1000" i="1" dirty="0">
                <a:solidFill>
                  <a:srgbClr val="5F6B78"/>
                </a:solidFill>
                <a:latin typeface="Calibri" pitchFamily="34" charset="0"/>
                <a:ea typeface="Calibri" pitchFamily="34" charset="-122"/>
                <a:cs typeface="Calibri" pitchFamily="34" charset="-120"/>
              </a:rPr>
              <a:t>One screen. If it needs two, it belongs in the second data block.</a:t>
            </a:r>
            <a:endParaRPr lang="en-US" sz="1000" dirty="0"/>
          </a:p>
        </p:txBody>
      </p:sp>
      <p:sp>
        <p:nvSpPr>
          <p:cNvPr id="21" name="Shape 19"/>
          <p:cNvSpPr/>
          <p:nvPr/>
        </p:nvSpPr>
        <p:spPr>
          <a:xfrm>
            <a:off x="6236208" y="777240"/>
            <a:ext cx="5385816" cy="3246120"/>
          </a:xfrm>
          <a:prstGeom prst="rect">
            <a:avLst/>
          </a:prstGeom>
          <a:solidFill>
            <a:srgbClr val="FFFFFF"/>
          </a:solidFill>
          <a:ln w="12700">
            <a:solidFill>
              <a:srgbClr val="9AA7B4"/>
            </a:solidFill>
            <a:prstDash val="solid"/>
          </a:ln>
        </p:spPr>
      </p:sp>
      <p:sp>
        <p:nvSpPr>
          <p:cNvPr id="22" name="Shape 20"/>
          <p:cNvSpPr/>
          <p:nvPr/>
        </p:nvSpPr>
        <p:spPr>
          <a:xfrm>
            <a:off x="6236208" y="777240"/>
            <a:ext cx="5385816" cy="685800"/>
          </a:xfrm>
          <a:prstGeom prst="rect">
            <a:avLst/>
          </a:prstGeom>
          <a:solidFill>
            <a:srgbClr val="2E7D8F"/>
          </a:solidFill>
          <a:ln w="12700">
            <a:solidFill>
              <a:srgbClr val="2E7D8F"/>
            </a:solidFill>
            <a:prstDash val="solid"/>
          </a:ln>
        </p:spPr>
      </p:sp>
      <p:sp>
        <p:nvSpPr>
          <p:cNvPr id="23" name="Text 21"/>
          <p:cNvSpPr/>
          <p:nvPr/>
        </p:nvSpPr>
        <p:spPr>
          <a:xfrm>
            <a:off x="6510528" y="777240"/>
            <a:ext cx="4846320" cy="6858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DIAGNOSIS WAS…</a:t>
            </a:r>
            <a:endParaRPr lang="en-US" sz="1800" dirty="0"/>
          </a:p>
        </p:txBody>
      </p:sp>
      <p:sp>
        <p:nvSpPr>
          <p:cNvPr id="24" name="Text 22"/>
          <p:cNvSpPr/>
          <p:nvPr/>
        </p:nvSpPr>
        <p:spPr>
          <a:xfrm>
            <a:off x="6510528" y="1627632"/>
            <a:ext cx="484632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[Final diagnosis and how it was confirmed]</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[Hospital course in three lines]</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[What the team got right early]</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[What was missed, and the reasoning error that explains it — name it plainly]</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[Outcome / follow-up]</a:t>
            </a:r>
            <a:endParaRPr lang="en-US" sz="1200" dirty="0"/>
          </a:p>
        </p:txBody>
      </p:sp>
      <p:sp>
        <p:nvSpPr>
          <p:cNvPr id="25" name="Shape 23"/>
          <p:cNvSpPr/>
          <p:nvPr/>
        </p:nvSpPr>
        <p:spPr>
          <a:xfrm>
            <a:off x="566928" y="4251960"/>
            <a:ext cx="11055096" cy="1874520"/>
          </a:xfrm>
          <a:prstGeom prst="roundRect">
            <a:avLst>
              <a:gd name="adj" fmla="val 3902"/>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26" name="Text 24"/>
          <p:cNvSpPr/>
          <p:nvPr/>
        </p:nvSpPr>
        <p:spPr>
          <a:xfrm>
            <a:off x="868680" y="4434840"/>
            <a:ext cx="7315200" cy="365760"/>
          </a:xfrm>
          <a:prstGeom prst="rect">
            <a:avLst/>
          </a:prstGeom>
          <a:noFill/>
          <a:ln/>
        </p:spPr>
        <p:txBody>
          <a:bodyPr wrap="square" lIns="0" tIns="0" rIns="0" bIns="0" rtlCol="0" anchor="ctr"/>
          <a:lstStyle/>
          <a:p>
            <a:pPr indent="0" marL="0">
              <a:buNone/>
            </a:pPr>
            <a:r>
              <a:rPr lang="en-US" sz="1700" b="1" dirty="0">
                <a:solidFill>
                  <a:srgbClr val="8A6014"/>
                </a:solidFill>
                <a:latin typeface="Cambria" pitchFamily="34" charset="0"/>
                <a:ea typeface="Cambria" pitchFamily="34" charset="-122"/>
                <a:cs typeface="Cambria" pitchFamily="34" charset="-120"/>
              </a:rPr>
              <a:t>The reveal slide is where the format earns its keep.</a:t>
            </a:r>
            <a:endParaRPr lang="en-US" sz="1700" dirty="0"/>
          </a:p>
        </p:txBody>
      </p:sp>
      <p:sp>
        <p:nvSpPr>
          <p:cNvPr id="27" name="Text 25"/>
          <p:cNvSpPr/>
          <p:nvPr/>
        </p:nvSpPr>
        <p:spPr>
          <a:xfrm>
            <a:off x="868680" y="4846320"/>
            <a:ext cx="10424160" cy="1005840"/>
          </a:xfrm>
          <a:prstGeom prst="rect">
            <a:avLst/>
          </a:prstGeom>
          <a:noFill/>
          <a:ln/>
        </p:spPr>
        <p:txBody>
          <a:bodyPr wrap="square" lIns="0" tIns="0" rIns="0" bIns="0" rtlCol="0" anchor="ctr"/>
          <a:lstStyle/>
          <a:p>
            <a:pPr indent="0" marL="0">
              <a:lnSpc>
                <a:spcPts val="1900"/>
              </a:lnSpc>
              <a:buNone/>
            </a:pPr>
            <a:r>
              <a:rPr lang="en-US" sz="1300" dirty="0">
                <a:solidFill>
                  <a:srgbClr val="4A3520"/>
                </a:solidFill>
                <a:latin typeface="Calibri" pitchFamily="34" charset="0"/>
                <a:ea typeface="Calibri" pitchFamily="34" charset="-122"/>
                <a:cs typeface="Calibri" pitchFamily="34" charset="-120"/>
              </a:rPr>
              <a:t>Put the board back on screen beside it. Ask the group what they would have needed to see, at minute 11, to have crossed off the wrong answer. That question — not the diagnosis — is the thing residents carry to the next patient. At 25 minutes there is no time for a full round — ask two people, by name.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8229600" cy="27432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TEMPLATE 8 — CONSOLIDATION  ·  THE LAST MINUTE</a:t>
            </a:r>
            <a:endParaRPr lang="en-US" sz="1100" dirty="0"/>
          </a:p>
        </p:txBody>
      </p:sp>
      <p:sp>
        <p:nvSpPr>
          <p:cNvPr id="3" name="Shape 1"/>
          <p:cNvSpPr/>
          <p:nvPr/>
        </p:nvSpPr>
        <p:spPr>
          <a:xfrm>
            <a:off x="566928" y="777240"/>
            <a:ext cx="11055096" cy="3977640"/>
          </a:xfrm>
          <a:prstGeom prst="rect">
            <a:avLst/>
          </a:prstGeom>
          <a:solidFill>
            <a:srgbClr val="FFFFFF"/>
          </a:solidFill>
          <a:ln w="12700">
            <a:solidFill>
              <a:srgbClr val="9AA7B4"/>
            </a:solidFill>
            <a:prstDash val="solid"/>
          </a:ln>
        </p:spPr>
      </p:sp>
      <p:sp>
        <p:nvSpPr>
          <p:cNvPr id="4" name="Text 2"/>
          <p:cNvSpPr/>
          <p:nvPr/>
        </p:nvSpPr>
        <p:spPr>
          <a:xfrm>
            <a:off x="868680" y="960120"/>
            <a:ext cx="5486400" cy="411480"/>
          </a:xfrm>
          <a:prstGeom prst="rect">
            <a:avLst/>
          </a:prstGeom>
          <a:noFill/>
          <a:ln/>
        </p:spPr>
        <p:txBody>
          <a:bodyPr wrap="square" lIns="0" tIns="0" rIns="0" bIns="0" rtlCol="0" anchor="ctr"/>
          <a:lstStyle/>
          <a:p>
            <a:pPr indent="0" marL="0">
              <a:buNone/>
            </a:pPr>
            <a:r>
              <a:rPr lang="en-US" sz="2200" b="1" dirty="0">
                <a:solidFill>
                  <a:srgbClr val="16283C"/>
                </a:solidFill>
                <a:latin typeface="Cambria" pitchFamily="34" charset="0"/>
                <a:ea typeface="Cambria" pitchFamily="34" charset="-122"/>
                <a:cs typeface="Cambria" pitchFamily="34" charset="-120"/>
              </a:rPr>
              <a:t>Take-home points</a:t>
            </a:r>
            <a:endParaRPr lang="en-US" sz="2200" dirty="0"/>
          </a:p>
        </p:txBody>
      </p:sp>
      <p:sp>
        <p:nvSpPr>
          <p:cNvPr id="5" name="Shape 3"/>
          <p:cNvSpPr/>
          <p:nvPr/>
        </p:nvSpPr>
        <p:spPr>
          <a:xfrm>
            <a:off x="868680" y="1600200"/>
            <a:ext cx="420624" cy="420624"/>
          </a:xfrm>
          <a:prstGeom prst="ellipse">
            <a:avLst/>
          </a:prstGeom>
          <a:solidFill>
            <a:srgbClr val="E8A33D"/>
          </a:solidFill>
          <a:ln w="12700">
            <a:solidFill>
              <a:srgbClr val="E8A33D"/>
            </a:solidFill>
            <a:prstDash val="solid"/>
          </a:ln>
        </p:spPr>
      </p:sp>
      <p:sp>
        <p:nvSpPr>
          <p:cNvPr id="6" name="Text 4"/>
          <p:cNvSpPr/>
          <p:nvPr/>
        </p:nvSpPr>
        <p:spPr>
          <a:xfrm>
            <a:off x="868680" y="16002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1600200"/>
            <a:ext cx="4572000" cy="420624"/>
          </a:xfrm>
          <a:prstGeom prst="rect">
            <a:avLst/>
          </a:prstGeom>
          <a:noFill/>
          <a:ln/>
        </p:spPr>
        <p:txBody>
          <a:bodyPr wrap="square" lIns="0" tIns="0" rIns="0" bIns="0" rtlCol="0" anchor="ctr"/>
          <a:lstStyle/>
          <a:p>
            <a:pPr indent="0" marL="0">
              <a:buNone/>
            </a:pPr>
            <a:r>
              <a:rPr lang="en-US" sz="1350" dirty="0">
                <a:solidFill>
                  <a:srgbClr val="2B3440"/>
                </a:solidFill>
                <a:latin typeface="Calibri" pitchFamily="34" charset="0"/>
                <a:ea typeface="Calibri" pitchFamily="34" charset="-122"/>
                <a:cs typeface="Calibri" pitchFamily="34" charset="-120"/>
              </a:rPr>
              <a:t>[Point 1 — tied to the stated objective]</a:t>
            </a:r>
            <a:endParaRPr lang="en-US" sz="1350" dirty="0"/>
          </a:p>
        </p:txBody>
      </p:sp>
      <p:sp>
        <p:nvSpPr>
          <p:cNvPr id="8" name="Shape 6"/>
          <p:cNvSpPr/>
          <p:nvPr/>
        </p:nvSpPr>
        <p:spPr>
          <a:xfrm>
            <a:off x="868680" y="2331720"/>
            <a:ext cx="420624" cy="420624"/>
          </a:xfrm>
          <a:prstGeom prst="ellipse">
            <a:avLst/>
          </a:prstGeom>
          <a:solidFill>
            <a:srgbClr val="E8A33D"/>
          </a:solidFill>
          <a:ln w="12700">
            <a:solidFill>
              <a:srgbClr val="E8A33D"/>
            </a:solidFill>
            <a:prstDash val="solid"/>
          </a:ln>
        </p:spPr>
      </p:sp>
      <p:sp>
        <p:nvSpPr>
          <p:cNvPr id="9" name="Text 7"/>
          <p:cNvSpPr/>
          <p:nvPr/>
        </p:nvSpPr>
        <p:spPr>
          <a:xfrm>
            <a:off x="868680" y="23317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463040" y="2331720"/>
            <a:ext cx="4572000" cy="420624"/>
          </a:xfrm>
          <a:prstGeom prst="rect">
            <a:avLst/>
          </a:prstGeom>
          <a:noFill/>
          <a:ln/>
        </p:spPr>
        <p:txBody>
          <a:bodyPr wrap="square" lIns="0" tIns="0" rIns="0" bIns="0" rtlCol="0" anchor="ctr"/>
          <a:lstStyle/>
          <a:p>
            <a:pPr indent="0" marL="0">
              <a:buNone/>
            </a:pPr>
            <a:r>
              <a:rPr lang="en-US" sz="1350" dirty="0">
                <a:solidFill>
                  <a:srgbClr val="2B3440"/>
                </a:solidFill>
                <a:latin typeface="Calibri" pitchFamily="34" charset="0"/>
                <a:ea typeface="Calibri" pitchFamily="34" charset="-122"/>
                <a:cs typeface="Calibri" pitchFamily="34" charset="-120"/>
              </a:rPr>
              <a:t>[Point 2 — the reasoning lesson, not the fact]</a:t>
            </a:r>
            <a:endParaRPr lang="en-US" sz="1350" dirty="0"/>
          </a:p>
        </p:txBody>
      </p:sp>
      <p:sp>
        <p:nvSpPr>
          <p:cNvPr id="11" name="Shape 9"/>
          <p:cNvSpPr/>
          <p:nvPr/>
        </p:nvSpPr>
        <p:spPr>
          <a:xfrm>
            <a:off x="868680" y="3063240"/>
            <a:ext cx="420624" cy="420624"/>
          </a:xfrm>
          <a:prstGeom prst="ellipse">
            <a:avLst/>
          </a:prstGeom>
          <a:solidFill>
            <a:srgbClr val="E8A33D"/>
          </a:solidFill>
          <a:ln w="12700">
            <a:solidFill>
              <a:srgbClr val="E8A33D"/>
            </a:solidFill>
            <a:prstDash val="solid"/>
          </a:ln>
        </p:spPr>
      </p:sp>
      <p:sp>
        <p:nvSpPr>
          <p:cNvPr id="12" name="Text 10"/>
          <p:cNvSpPr/>
          <p:nvPr/>
        </p:nvSpPr>
        <p:spPr>
          <a:xfrm>
            <a:off x="868680" y="30632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463040" y="3063240"/>
            <a:ext cx="4572000" cy="420624"/>
          </a:xfrm>
          <a:prstGeom prst="rect">
            <a:avLst/>
          </a:prstGeom>
          <a:noFill/>
          <a:ln/>
        </p:spPr>
        <p:txBody>
          <a:bodyPr wrap="square" lIns="0" tIns="0" rIns="0" bIns="0" rtlCol="0" anchor="ctr"/>
          <a:lstStyle/>
          <a:p>
            <a:pPr indent="0" marL="0">
              <a:buNone/>
            </a:pPr>
            <a:r>
              <a:rPr lang="en-US" sz="1350" dirty="0">
                <a:solidFill>
                  <a:srgbClr val="2B3440"/>
                </a:solidFill>
                <a:latin typeface="Calibri" pitchFamily="34" charset="0"/>
                <a:ea typeface="Calibri" pitchFamily="34" charset="-122"/>
                <a:cs typeface="Calibri" pitchFamily="34" charset="-120"/>
              </a:rPr>
              <a:t>[Point 3 — optional, big picture only]</a:t>
            </a:r>
            <a:endParaRPr lang="en-US" sz="1350" dirty="0"/>
          </a:p>
        </p:txBody>
      </p:sp>
      <p:sp>
        <p:nvSpPr>
          <p:cNvPr id="14" name="Shape 12"/>
          <p:cNvSpPr/>
          <p:nvPr/>
        </p:nvSpPr>
        <p:spPr>
          <a:xfrm>
            <a:off x="868680" y="3611880"/>
            <a:ext cx="5166360" cy="18288"/>
          </a:xfrm>
          <a:prstGeom prst="rect">
            <a:avLst/>
          </a:prstGeom>
          <a:solidFill>
            <a:srgbClr val="DDE4EA"/>
          </a:solidFill>
          <a:ln w="12700">
            <a:solidFill>
              <a:srgbClr val="DDE4EA"/>
            </a:solidFill>
            <a:prstDash val="solid"/>
          </a:ln>
        </p:spPr>
      </p:sp>
      <p:sp>
        <p:nvSpPr>
          <p:cNvPr id="15" name="Text 13"/>
          <p:cNvSpPr/>
          <p:nvPr/>
        </p:nvSpPr>
        <p:spPr>
          <a:xfrm>
            <a:off x="868680" y="3794760"/>
            <a:ext cx="5166360" cy="320040"/>
          </a:xfrm>
          <a:prstGeom prst="rect">
            <a:avLst/>
          </a:prstGeom>
          <a:noFill/>
          <a:ln/>
        </p:spPr>
        <p:txBody>
          <a:bodyPr wrap="square" lIns="0" tIns="0" rIns="0" bIns="0" rtlCol="0" anchor="ctr"/>
          <a:lstStyle/>
          <a:p>
            <a:pPr indent="0" marL="0">
              <a:buNone/>
            </a:pPr>
            <a:r>
              <a:rPr lang="en-US" sz="1100" i="1" dirty="0">
                <a:solidFill>
                  <a:srgbClr val="5F6B78"/>
                </a:solidFill>
                <a:latin typeface="Calibri" pitchFamily="34" charset="0"/>
                <a:ea typeface="Calibri" pitchFamily="34" charset="-122"/>
                <a:cs typeface="Calibri" pitchFamily="34" charset="-120"/>
              </a:rPr>
              <a:t>References: [2–3 citations, linked]</a:t>
            </a:r>
            <a:endParaRPr lang="en-US" sz="1100" dirty="0"/>
          </a:p>
        </p:txBody>
      </p:sp>
      <p:sp>
        <p:nvSpPr>
          <p:cNvPr id="16" name="Shape 14"/>
          <p:cNvSpPr/>
          <p:nvPr/>
        </p:nvSpPr>
        <p:spPr>
          <a:xfrm>
            <a:off x="6400800" y="960120"/>
            <a:ext cx="4937760" cy="3520440"/>
          </a:xfrm>
          <a:prstGeom prst="rect">
            <a:avLst/>
          </a:prstGeom>
          <a:solidFill>
            <a:srgbClr val="EEF2F5"/>
          </a:solidFill>
          <a:ln w="12700">
            <a:solidFill>
              <a:srgbClr val="EEF2F5"/>
            </a:solidFill>
            <a:prstDash val="solid"/>
          </a:ln>
        </p:spPr>
      </p:sp>
      <p:sp>
        <p:nvSpPr>
          <p:cNvPr id="17" name="Text 15"/>
          <p:cNvSpPr/>
          <p:nvPr/>
        </p:nvSpPr>
        <p:spPr>
          <a:xfrm>
            <a:off x="6675120" y="1143000"/>
            <a:ext cx="4389120" cy="274320"/>
          </a:xfrm>
          <a:prstGeom prst="rect">
            <a:avLst/>
          </a:prstGeom>
          <a:noFill/>
          <a:ln/>
        </p:spPr>
        <p:txBody>
          <a:bodyPr wrap="square" lIns="0" tIns="0" rIns="0" bIns="0" rtlCol="0" anchor="ctr"/>
          <a:lstStyle/>
          <a:p>
            <a:pPr indent="0" marL="0">
              <a:buNone/>
            </a:pPr>
            <a:r>
              <a:rPr lang="en-US" sz="1050" b="1" spc="200" kern="0" dirty="0">
                <a:solidFill>
                  <a:srgbClr val="2E7D8F"/>
                </a:solidFill>
                <a:latin typeface="Calibri" pitchFamily="34" charset="0"/>
                <a:ea typeface="Calibri" pitchFamily="34" charset="-122"/>
                <a:cs typeface="Calibri" pitchFamily="34" charset="-120"/>
              </a:rPr>
              <a:t>BOARD-STYLE QUESTION</a:t>
            </a:r>
            <a:endParaRPr lang="en-US" sz="1050" dirty="0"/>
          </a:p>
        </p:txBody>
      </p:sp>
      <p:sp>
        <p:nvSpPr>
          <p:cNvPr id="18" name="Text 16"/>
          <p:cNvSpPr/>
          <p:nvPr/>
        </p:nvSpPr>
        <p:spPr>
          <a:xfrm>
            <a:off x="6675120" y="1463040"/>
            <a:ext cx="4389120" cy="685800"/>
          </a:xfrm>
          <a:prstGeom prst="rect">
            <a:avLst/>
          </a:prstGeom>
          <a:noFill/>
          <a:ln/>
        </p:spPr>
        <p:txBody>
          <a:bodyPr wrap="square" lIns="0" tIns="0" rIns="0" bIns="0" rtlCol="0" anchor="ctr"/>
          <a:lstStyle/>
          <a:p>
            <a:pPr indent="0" marL="0">
              <a:lnSpc>
                <a:spcPts val="1700"/>
              </a:lnSpc>
              <a:buNone/>
            </a:pPr>
            <a:r>
              <a:rPr lang="en-US" sz="1250" b="1" dirty="0">
                <a:solidFill>
                  <a:srgbClr val="16283C"/>
                </a:solidFill>
                <a:latin typeface="Calibri" pitchFamily="34" charset="0"/>
                <a:ea typeface="Calibri" pitchFamily="34" charset="-122"/>
                <a:cs typeface="Calibri" pitchFamily="34" charset="-120"/>
              </a:rPr>
              <a:t>[Stem — a different patient, same reasoning]</a:t>
            </a:r>
            <a:endParaRPr lang="en-US" sz="1250" dirty="0"/>
          </a:p>
        </p:txBody>
      </p:sp>
      <p:sp>
        <p:nvSpPr>
          <p:cNvPr id="19" name="Text 17"/>
          <p:cNvSpPr/>
          <p:nvPr/>
        </p:nvSpPr>
        <p:spPr>
          <a:xfrm>
            <a:off x="6675120" y="2240280"/>
            <a:ext cx="43891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A. ______________</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B. ______________</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C. ______________</a:t>
            </a:r>
            <a:endParaRPr lang="en-US" sz="1200" dirty="0"/>
          </a:p>
          <a:p>
            <a:pPr marL="342900" indent="-342900">
              <a:spcAft>
                <a:spcPts val="600"/>
              </a:spcAft>
              <a:buSzPct val="100000"/>
              <a:buChar char="•"/>
            </a:pPr>
            <a:r>
              <a:rPr lang="en-US" sz="1200" dirty="0">
                <a:solidFill>
                  <a:srgbClr val="2B3440"/>
                </a:solidFill>
                <a:latin typeface="Calibri" pitchFamily="34" charset="0"/>
                <a:ea typeface="Calibri" pitchFamily="34" charset="-122"/>
                <a:cs typeface="Calibri" pitchFamily="34" charset="-120"/>
              </a:rPr>
              <a:t>D. ______________</a:t>
            </a:r>
            <a:endParaRPr lang="en-US" sz="1200" dirty="0"/>
          </a:p>
        </p:txBody>
      </p:sp>
      <p:sp>
        <p:nvSpPr>
          <p:cNvPr id="20" name="Text 18"/>
          <p:cNvSpPr/>
          <p:nvPr/>
        </p:nvSpPr>
        <p:spPr>
          <a:xfrm>
            <a:off x="6675120" y="3703320"/>
            <a:ext cx="4389120" cy="502920"/>
          </a:xfrm>
          <a:prstGeom prst="rect">
            <a:avLst/>
          </a:prstGeom>
          <a:noFill/>
          <a:ln/>
        </p:spPr>
        <p:txBody>
          <a:bodyPr wrap="square" lIns="0" tIns="0" rIns="0" bIns="0" rtlCol="0" anchor="ctr"/>
          <a:lstStyle/>
          <a:p>
            <a:pPr indent="0" marL="0">
              <a:buNone/>
            </a:pPr>
            <a:r>
              <a:rPr lang="en-US" sz="1050" i="1" dirty="0">
                <a:solidFill>
                  <a:srgbClr val="5F6B78"/>
                </a:solidFill>
                <a:latin typeface="Calibri" pitchFamily="34" charset="0"/>
                <a:ea typeface="Calibri" pitchFamily="34" charset="-122"/>
                <a:cs typeface="Calibri" pitchFamily="34" charset="-120"/>
              </a:rPr>
              <a:t>Not run live at 25 minutes. Posted in the channel with the board export.</a:t>
            </a:r>
            <a:endParaRPr lang="en-US" sz="1050" dirty="0"/>
          </a:p>
        </p:txBody>
      </p:sp>
      <p:sp>
        <p:nvSpPr>
          <p:cNvPr id="21" name="Shape 19"/>
          <p:cNvSpPr/>
          <p:nvPr/>
        </p:nvSpPr>
        <p:spPr>
          <a:xfrm>
            <a:off x="566928" y="4983480"/>
            <a:ext cx="11055096" cy="1234440"/>
          </a:xfrm>
          <a:prstGeom prst="roundRect">
            <a:avLst>
              <a:gd name="adj" fmla="val 5926"/>
            </a:avLst>
          </a:prstGeom>
          <a:solidFill>
            <a:srgbClr val="16283C"/>
          </a:solidFill>
          <a:ln w="12700">
            <a:solidFill>
              <a:srgbClr val="16283C"/>
            </a:solidFill>
            <a:prstDash val="solid"/>
          </a:ln>
          <a:effectLst>
            <a:outerShdw sx="100000" sy="100000" kx="0" ky="0" algn="bl" rotWithShape="0" blurRad="101600" dist="25400" dir="5400000">
              <a:srgbClr val="9AA7B4">
                <a:alpha val="28000"/>
              </a:srgbClr>
            </a:outerShdw>
          </a:effectLst>
        </p:spPr>
      </p:sp>
      <p:sp>
        <p:nvSpPr>
          <p:cNvPr id="22" name="Text 20"/>
          <p:cNvSpPr/>
          <p:nvPr/>
        </p:nvSpPr>
        <p:spPr>
          <a:xfrm>
            <a:off x="868680" y="5138928"/>
            <a:ext cx="10424160" cy="365760"/>
          </a:xfrm>
          <a:prstGeom prst="rect">
            <a:avLst/>
          </a:prstGeom>
          <a:noFill/>
          <a:ln/>
        </p:spPr>
        <p:txBody>
          <a:bodyPr wrap="square" lIns="0" tIns="0" rIns="0" bIns="0" rtlCol="0" anchor="ctr"/>
          <a:lstStyle/>
          <a:p>
            <a:pPr indent="0" marL="0">
              <a:buNone/>
            </a:pPr>
            <a:r>
              <a:rPr lang="en-US" sz="1700" b="1" dirty="0">
                <a:solidFill>
                  <a:srgbClr val="E8A33D"/>
                </a:solidFill>
                <a:latin typeface="Cambria" pitchFamily="34" charset="0"/>
                <a:ea typeface="Cambria" pitchFamily="34" charset="-122"/>
                <a:cs typeface="Cambria" pitchFamily="34" charset="-120"/>
              </a:rPr>
              <a:t>Never introduce new content in the last three minutes.</a:t>
            </a:r>
            <a:endParaRPr lang="en-US" sz="1700" dirty="0"/>
          </a:p>
        </p:txBody>
      </p:sp>
      <p:sp>
        <p:nvSpPr>
          <p:cNvPr id="23" name="Text 21"/>
          <p:cNvSpPr/>
          <p:nvPr/>
        </p:nvSpPr>
        <p:spPr>
          <a:xfrm>
            <a:off x="868680" y="5532120"/>
            <a:ext cx="10424160" cy="502920"/>
          </a:xfrm>
          <a:prstGeom prst="rect">
            <a:avLst/>
          </a:prstGeom>
          <a:noFill/>
          <a:ln/>
        </p:spPr>
        <p:txBody>
          <a:bodyPr wrap="square" lIns="0" tIns="0" rIns="0" bIns="0" rtlCol="0" anchor="ctr"/>
          <a:lstStyle/>
          <a:p>
            <a:pPr indent="0" marL="0">
              <a:buNone/>
            </a:pPr>
            <a:r>
              <a:rPr lang="en-US" sz="1250" dirty="0">
                <a:solidFill>
                  <a:srgbClr val="D7E2EC"/>
                </a:solidFill>
                <a:latin typeface="Calibri" pitchFamily="34" charset="0"/>
                <a:ea typeface="Calibri" pitchFamily="34" charset="-122"/>
                <a:cs typeface="Calibri" pitchFamily="34" charset="-120"/>
              </a:rPr>
              <a:t>Repetition and application are what consolidate knowledge. A new pearl dropped at minute 23 costs the group everything taught before it.</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LEARNING CLIMATE</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Ground rules we are committing to</a:t>
            </a:r>
            <a:endParaRPr lang="en-US" sz="3200" dirty="0"/>
          </a:p>
        </p:txBody>
      </p:sp>
      <p:sp>
        <p:nvSpPr>
          <p:cNvPr id="4" name="Shape 2"/>
          <p:cNvSpPr/>
          <p:nvPr/>
        </p:nvSpPr>
        <p:spPr>
          <a:xfrm>
            <a:off x="566928" y="1572768"/>
            <a:ext cx="3566160"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5" name="Text 3"/>
          <p:cNvSpPr/>
          <p:nvPr/>
        </p:nvSpPr>
        <p:spPr>
          <a:xfrm>
            <a:off x="822960" y="1801368"/>
            <a:ext cx="3063240" cy="5943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Names, every time</a:t>
            </a:r>
            <a:endParaRPr lang="en-US" sz="1500" dirty="0"/>
          </a:p>
        </p:txBody>
      </p:sp>
      <p:sp>
        <p:nvSpPr>
          <p:cNvPr id="6" name="Text 4"/>
          <p:cNvSpPr/>
          <p:nvPr/>
        </p:nvSpPr>
        <p:spPr>
          <a:xfrm>
            <a:off x="822960" y="2441448"/>
            <a:ext cx="3063240" cy="1051560"/>
          </a:xfrm>
          <a:prstGeom prst="rect">
            <a:avLst/>
          </a:prstGeom>
          <a:noFill/>
          <a:ln/>
        </p:spPr>
        <p:txBody>
          <a:bodyPr wrap="square" lIns="0" tIns="0" rIns="0" bIns="0" rtlCol="0" anchor="ctr"/>
          <a:lstStyle/>
          <a:p>
            <a:pPr indent="0" marL="0">
              <a:lnSpc>
                <a:spcPts val="1600"/>
              </a:lnSpc>
              <a:buNone/>
            </a:pPr>
            <a:r>
              <a:rPr lang="en-US" sz="1150" dirty="0">
                <a:solidFill>
                  <a:srgbClr val="3D4855"/>
                </a:solidFill>
                <a:latin typeface="Calibri" pitchFamily="34" charset="0"/>
                <a:ea typeface="Calibri" pitchFamily="34" charset="-122"/>
                <a:cs typeface="Calibri" pitchFamily="34" charset="-120"/>
              </a:rPr>
              <a:t>Address people by name when calling on them and when crediting an idea. It is the cheapest signal that participation is valued.</a:t>
            </a:r>
            <a:endParaRPr lang="en-US" sz="1150" dirty="0"/>
          </a:p>
        </p:txBody>
      </p:sp>
      <p:sp>
        <p:nvSpPr>
          <p:cNvPr id="7" name="Shape 5"/>
          <p:cNvSpPr/>
          <p:nvPr/>
        </p:nvSpPr>
        <p:spPr>
          <a:xfrm>
            <a:off x="4315968" y="1572768"/>
            <a:ext cx="3566160"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8" name="Text 6"/>
          <p:cNvSpPr/>
          <p:nvPr/>
        </p:nvSpPr>
        <p:spPr>
          <a:xfrm>
            <a:off x="4572000" y="1801368"/>
            <a:ext cx="3063240" cy="5943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Wrong out loud is the point</a:t>
            </a:r>
            <a:endParaRPr lang="en-US" sz="1500" dirty="0"/>
          </a:p>
        </p:txBody>
      </p:sp>
      <p:sp>
        <p:nvSpPr>
          <p:cNvPr id="9" name="Text 7"/>
          <p:cNvSpPr/>
          <p:nvPr/>
        </p:nvSpPr>
        <p:spPr>
          <a:xfrm>
            <a:off x="4572000" y="2441448"/>
            <a:ext cx="3063240" cy="1051560"/>
          </a:xfrm>
          <a:prstGeom prst="rect">
            <a:avLst/>
          </a:prstGeom>
          <a:noFill/>
          <a:ln/>
        </p:spPr>
        <p:txBody>
          <a:bodyPr wrap="square" lIns="0" tIns="0" rIns="0" bIns="0" rtlCol="0" anchor="ctr"/>
          <a:lstStyle/>
          <a:p>
            <a:pPr indent="0" marL="0">
              <a:lnSpc>
                <a:spcPts val="1600"/>
              </a:lnSpc>
              <a:buNone/>
            </a:pPr>
            <a:r>
              <a:rPr lang="en-US" sz="1150" dirty="0">
                <a:solidFill>
                  <a:srgbClr val="3D4855"/>
                </a:solidFill>
                <a:latin typeface="Calibri" pitchFamily="34" charset="0"/>
                <a:ea typeface="Calibri" pitchFamily="34" charset="-122"/>
                <a:cs typeface="Calibri" pitchFamily="34" charset="-120"/>
              </a:rPr>
              <a:t>The PGY-1 role only works if being wrong costs nothing. Nobody rescues, corrects, or finishes an intern's sentence.</a:t>
            </a:r>
            <a:endParaRPr lang="en-US" sz="1150" dirty="0"/>
          </a:p>
        </p:txBody>
      </p:sp>
      <p:sp>
        <p:nvSpPr>
          <p:cNvPr id="10" name="Shape 8"/>
          <p:cNvSpPr/>
          <p:nvPr/>
        </p:nvSpPr>
        <p:spPr>
          <a:xfrm>
            <a:off x="8065008" y="1572768"/>
            <a:ext cx="3566160"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1" name="Text 9"/>
          <p:cNvSpPr/>
          <p:nvPr/>
        </p:nvSpPr>
        <p:spPr>
          <a:xfrm>
            <a:off x="8321040" y="1801368"/>
            <a:ext cx="3063240" cy="5943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"I don't know" gets modeled from the top</a:t>
            </a:r>
            <a:endParaRPr lang="en-US" sz="1500" dirty="0"/>
          </a:p>
        </p:txBody>
      </p:sp>
      <p:sp>
        <p:nvSpPr>
          <p:cNvPr id="12" name="Text 10"/>
          <p:cNvSpPr/>
          <p:nvPr/>
        </p:nvSpPr>
        <p:spPr>
          <a:xfrm>
            <a:off x="8321040" y="2441448"/>
            <a:ext cx="3063240" cy="1051560"/>
          </a:xfrm>
          <a:prstGeom prst="rect">
            <a:avLst/>
          </a:prstGeom>
          <a:noFill/>
          <a:ln/>
        </p:spPr>
        <p:txBody>
          <a:bodyPr wrap="square" lIns="0" tIns="0" rIns="0" bIns="0" rtlCol="0" anchor="ctr"/>
          <a:lstStyle/>
          <a:p>
            <a:pPr indent="0" marL="0">
              <a:lnSpc>
                <a:spcPts val="1600"/>
              </a:lnSpc>
              <a:buNone/>
            </a:pPr>
            <a:r>
              <a:rPr lang="en-US" sz="1150" dirty="0">
                <a:solidFill>
                  <a:srgbClr val="3D4855"/>
                </a:solidFill>
                <a:latin typeface="Calibri" pitchFamily="34" charset="0"/>
                <a:ea typeface="Calibri" pitchFamily="34" charset="-122"/>
                <a:cs typeface="Calibri" pitchFamily="34" charset="-120"/>
              </a:rPr>
              <a:t>Facilitator and faculty say it first and assign someone to look it up during the session.</a:t>
            </a:r>
            <a:endParaRPr lang="en-US" sz="1150" dirty="0"/>
          </a:p>
        </p:txBody>
      </p:sp>
      <p:sp>
        <p:nvSpPr>
          <p:cNvPr id="13" name="Shape 11"/>
          <p:cNvSpPr/>
          <p:nvPr/>
        </p:nvSpPr>
        <p:spPr>
          <a:xfrm>
            <a:off x="566928" y="3813048"/>
            <a:ext cx="3566160"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4" name="Text 12"/>
          <p:cNvSpPr/>
          <p:nvPr/>
        </p:nvSpPr>
        <p:spPr>
          <a:xfrm>
            <a:off x="822960" y="4041648"/>
            <a:ext cx="3063240" cy="5943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Hug the case</a:t>
            </a:r>
            <a:endParaRPr lang="en-US" sz="1500" dirty="0"/>
          </a:p>
        </p:txBody>
      </p:sp>
      <p:sp>
        <p:nvSpPr>
          <p:cNvPr id="15" name="Text 13"/>
          <p:cNvSpPr/>
          <p:nvPr/>
        </p:nvSpPr>
        <p:spPr>
          <a:xfrm>
            <a:off x="822960" y="4681728"/>
            <a:ext cx="3063240" cy="1051560"/>
          </a:xfrm>
          <a:prstGeom prst="rect">
            <a:avLst/>
          </a:prstGeom>
          <a:noFill/>
          <a:ln/>
        </p:spPr>
        <p:txBody>
          <a:bodyPr wrap="square" lIns="0" tIns="0" rIns="0" bIns="0" rtlCol="0" anchor="ctr"/>
          <a:lstStyle/>
          <a:p>
            <a:pPr indent="0" marL="0">
              <a:lnSpc>
                <a:spcPts val="1600"/>
              </a:lnSpc>
              <a:buNone/>
            </a:pPr>
            <a:r>
              <a:rPr lang="en-US" sz="1150" dirty="0">
                <a:solidFill>
                  <a:srgbClr val="3D4855"/>
                </a:solidFill>
                <a:latin typeface="Calibri" pitchFamily="34" charset="0"/>
                <a:ea typeface="Calibri" pitchFamily="34" charset="-122"/>
                <a:cs typeface="Calibri" pitchFamily="34" charset="-120"/>
              </a:rPr>
              <a:t>Tangents are redirected back to this patient. Case-based learning is what makes any of this stick.</a:t>
            </a:r>
            <a:endParaRPr lang="en-US" sz="1150" dirty="0"/>
          </a:p>
        </p:txBody>
      </p:sp>
      <p:sp>
        <p:nvSpPr>
          <p:cNvPr id="16" name="Shape 14"/>
          <p:cNvSpPr/>
          <p:nvPr/>
        </p:nvSpPr>
        <p:spPr>
          <a:xfrm>
            <a:off x="4315968" y="3813048"/>
            <a:ext cx="3566160"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7" name="Text 15"/>
          <p:cNvSpPr/>
          <p:nvPr/>
        </p:nvSpPr>
        <p:spPr>
          <a:xfrm>
            <a:off x="4572000" y="4041648"/>
            <a:ext cx="3063240" cy="5943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Start on time, end on time</a:t>
            </a:r>
            <a:endParaRPr lang="en-US" sz="1500" dirty="0"/>
          </a:p>
        </p:txBody>
      </p:sp>
      <p:sp>
        <p:nvSpPr>
          <p:cNvPr id="18" name="Text 16"/>
          <p:cNvSpPr/>
          <p:nvPr/>
        </p:nvSpPr>
        <p:spPr>
          <a:xfrm>
            <a:off x="4572000" y="4681728"/>
            <a:ext cx="3063240" cy="1051560"/>
          </a:xfrm>
          <a:prstGeom prst="rect">
            <a:avLst/>
          </a:prstGeom>
          <a:noFill/>
          <a:ln/>
        </p:spPr>
        <p:txBody>
          <a:bodyPr wrap="square" lIns="0" tIns="0" rIns="0" bIns="0" rtlCol="0" anchor="ctr"/>
          <a:lstStyle/>
          <a:p>
            <a:pPr indent="0" marL="0">
              <a:lnSpc>
                <a:spcPts val="1600"/>
              </a:lnSpc>
              <a:buNone/>
            </a:pPr>
            <a:r>
              <a:rPr lang="en-US" sz="1150" dirty="0">
                <a:solidFill>
                  <a:srgbClr val="3D4855"/>
                </a:solidFill>
                <a:latin typeface="Calibri" pitchFamily="34" charset="0"/>
                <a:ea typeface="Calibri" pitchFamily="34" charset="-122"/>
                <a:cs typeface="Calibri" pitchFamily="34" charset="-120"/>
              </a:rPr>
              <a:t>Prime early arrivals with the board question; late arrivals miss the question, not the case.</a:t>
            </a:r>
            <a:endParaRPr lang="en-US" sz="1150" dirty="0"/>
          </a:p>
        </p:txBody>
      </p:sp>
      <p:sp>
        <p:nvSpPr>
          <p:cNvPr id="19" name="Shape 17"/>
          <p:cNvSpPr/>
          <p:nvPr/>
        </p:nvSpPr>
        <p:spPr>
          <a:xfrm>
            <a:off x="8065008" y="3813048"/>
            <a:ext cx="3566160" cy="2103120"/>
          </a:xfrm>
          <a:prstGeom prst="roundRect">
            <a:avLst>
              <a:gd name="adj" fmla="val 3478"/>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0" name="Text 18"/>
          <p:cNvSpPr/>
          <p:nvPr/>
        </p:nvSpPr>
        <p:spPr>
          <a:xfrm>
            <a:off x="8321040" y="4041648"/>
            <a:ext cx="3063240" cy="594360"/>
          </a:xfrm>
          <a:prstGeom prst="rect">
            <a:avLst/>
          </a:prstGeom>
          <a:noFill/>
          <a:ln/>
        </p:spPr>
        <p:txBody>
          <a:bodyPr wrap="square" lIns="0" tIns="0" rIns="0" bIns="0" rtlCol="0" anchor="ctr"/>
          <a:lstStyle/>
          <a:p>
            <a:pPr indent="0" marL="0">
              <a:buNone/>
            </a:pPr>
            <a:r>
              <a:rPr lang="en-US" sz="1500" b="1" dirty="0">
                <a:solidFill>
                  <a:srgbClr val="16283C"/>
                </a:solidFill>
                <a:latin typeface="Cambria" pitchFamily="34" charset="0"/>
                <a:ea typeface="Cambria" pitchFamily="34" charset="-122"/>
                <a:cs typeface="Cambria" pitchFamily="34" charset="-120"/>
              </a:rPr>
              <a:t>Equity is part of the case</a:t>
            </a:r>
            <a:endParaRPr lang="en-US" sz="1500" dirty="0"/>
          </a:p>
        </p:txBody>
      </p:sp>
      <p:sp>
        <p:nvSpPr>
          <p:cNvPr id="21" name="Text 19"/>
          <p:cNvSpPr/>
          <p:nvPr/>
        </p:nvSpPr>
        <p:spPr>
          <a:xfrm>
            <a:off x="8321040" y="4681728"/>
            <a:ext cx="3063240" cy="1051560"/>
          </a:xfrm>
          <a:prstGeom prst="rect">
            <a:avLst/>
          </a:prstGeom>
          <a:noFill/>
          <a:ln/>
        </p:spPr>
        <p:txBody>
          <a:bodyPr wrap="square" lIns="0" tIns="0" rIns="0" bIns="0" rtlCol="0" anchor="ctr"/>
          <a:lstStyle/>
          <a:p>
            <a:pPr indent="0" marL="0">
              <a:lnSpc>
                <a:spcPts val="1600"/>
              </a:lnSpc>
              <a:buNone/>
            </a:pPr>
            <a:r>
              <a:rPr lang="en-US" sz="1150" dirty="0">
                <a:solidFill>
                  <a:srgbClr val="3D4855"/>
                </a:solidFill>
                <a:latin typeface="Calibri" pitchFamily="34" charset="0"/>
                <a:ea typeface="Calibri" pitchFamily="34" charset="-122"/>
                <a:cs typeface="Calibri" pitchFamily="34" charset="-120"/>
              </a:rPr>
              <a:t>Name the social determinants and access barriers in the case when they are driving the presentation.</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83C"/>
        </a:solidFill>
      </p:bgPr>
    </p:bg>
    <p:spTree>
      <p:nvGrpSpPr>
        <p:cNvPr id="1" name=""/>
        <p:cNvGrpSpPr/>
        <p:nvPr/>
      </p:nvGrpSpPr>
      <p:grpSpPr>
        <a:xfrm>
          <a:off x="0" y="0"/>
          <a:ext cx="0" cy="0"/>
          <a:chOff x="0" y="0"/>
          <a:chExt cx="0" cy="0"/>
        </a:xfrm>
      </p:grpSpPr>
      <p:sp>
        <p:nvSpPr>
          <p:cNvPr id="2" name="Text 0"/>
          <p:cNvSpPr/>
          <p:nvPr/>
        </p:nvSpPr>
        <p:spPr>
          <a:xfrm>
            <a:off x="566928" y="502920"/>
            <a:ext cx="7315200" cy="274320"/>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MAKING IT STICK</a:t>
            </a:r>
            <a:endParaRPr lang="en-US" sz="1100" dirty="0"/>
          </a:p>
        </p:txBody>
      </p:sp>
      <p:sp>
        <p:nvSpPr>
          <p:cNvPr id="3" name="Text 1"/>
          <p:cNvSpPr/>
          <p:nvPr/>
        </p:nvSpPr>
        <p:spPr>
          <a:xfrm>
            <a:off x="566928" y="82296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Rollout and evaluation</a:t>
            </a:r>
            <a:endParaRPr lang="en-US" sz="3200" dirty="0"/>
          </a:p>
        </p:txBody>
      </p:sp>
      <p:sp>
        <p:nvSpPr>
          <p:cNvPr id="4" name="Shape 2"/>
          <p:cNvSpPr/>
          <p:nvPr/>
        </p:nvSpPr>
        <p:spPr>
          <a:xfrm>
            <a:off x="566928" y="1828800"/>
            <a:ext cx="3566160" cy="2331720"/>
          </a:xfrm>
          <a:prstGeom prst="roundRect">
            <a:avLst>
              <a:gd name="adj" fmla="val 3137"/>
            </a:avLst>
          </a:prstGeom>
          <a:solidFill>
            <a:srgbClr val="24405E"/>
          </a:solidFill>
          <a:ln w="12700">
            <a:solidFill>
              <a:srgbClr val="24405E"/>
            </a:solidFill>
            <a:prstDash val="solid"/>
          </a:ln>
        </p:spPr>
      </p:sp>
      <p:sp>
        <p:nvSpPr>
          <p:cNvPr id="5" name="Text 3"/>
          <p:cNvSpPr/>
          <p:nvPr/>
        </p:nvSpPr>
        <p:spPr>
          <a:xfrm>
            <a:off x="841248" y="2011680"/>
            <a:ext cx="301752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Weeks 1–2</a:t>
            </a:r>
            <a:endParaRPr lang="en-US" sz="1100" dirty="0"/>
          </a:p>
        </p:txBody>
      </p:sp>
      <p:sp>
        <p:nvSpPr>
          <p:cNvPr id="6" name="Text 4"/>
          <p:cNvSpPr/>
          <p:nvPr/>
        </p:nvSpPr>
        <p:spPr>
          <a:xfrm>
            <a:off x="841248" y="2286000"/>
            <a:ext cx="301752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Pilot</a:t>
            </a:r>
            <a:endParaRPr lang="en-US" sz="2000" dirty="0"/>
          </a:p>
        </p:txBody>
      </p:sp>
      <p:sp>
        <p:nvSpPr>
          <p:cNvPr id="7" name="Text 5"/>
          <p:cNvSpPr/>
          <p:nvPr/>
        </p:nvSpPr>
        <p:spPr>
          <a:xfrm>
            <a:off x="841248" y="2788920"/>
            <a:ext cx="301752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Two sessions per week in the new format</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Chiefs run facilitator role for all sessions</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One off-hours tech rehearsal of the share handoff</a:t>
            </a:r>
            <a:endParaRPr lang="en-US" sz="1150" dirty="0"/>
          </a:p>
        </p:txBody>
      </p:sp>
      <p:sp>
        <p:nvSpPr>
          <p:cNvPr id="8" name="Shape 6"/>
          <p:cNvSpPr/>
          <p:nvPr/>
        </p:nvSpPr>
        <p:spPr>
          <a:xfrm>
            <a:off x="4315968" y="1828800"/>
            <a:ext cx="3566160" cy="2331720"/>
          </a:xfrm>
          <a:prstGeom prst="roundRect">
            <a:avLst>
              <a:gd name="adj" fmla="val 3137"/>
            </a:avLst>
          </a:prstGeom>
          <a:solidFill>
            <a:srgbClr val="24405E"/>
          </a:solidFill>
          <a:ln w="12700">
            <a:solidFill>
              <a:srgbClr val="24405E"/>
            </a:solidFill>
            <a:prstDash val="solid"/>
          </a:ln>
        </p:spPr>
      </p:sp>
      <p:sp>
        <p:nvSpPr>
          <p:cNvPr id="9" name="Text 7"/>
          <p:cNvSpPr/>
          <p:nvPr/>
        </p:nvSpPr>
        <p:spPr>
          <a:xfrm>
            <a:off x="4590288" y="2011680"/>
            <a:ext cx="301752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Weeks 3–6</a:t>
            </a:r>
            <a:endParaRPr lang="en-US" sz="1100" dirty="0"/>
          </a:p>
        </p:txBody>
      </p:sp>
      <p:sp>
        <p:nvSpPr>
          <p:cNvPr id="10" name="Text 8"/>
          <p:cNvSpPr/>
          <p:nvPr/>
        </p:nvSpPr>
        <p:spPr>
          <a:xfrm>
            <a:off x="4590288" y="2286000"/>
            <a:ext cx="301752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Hand off</a:t>
            </a:r>
            <a:endParaRPr lang="en-US" sz="2000" dirty="0"/>
          </a:p>
        </p:txBody>
      </p:sp>
      <p:sp>
        <p:nvSpPr>
          <p:cNvPr id="11" name="Text 9"/>
          <p:cNvSpPr/>
          <p:nvPr/>
        </p:nvSpPr>
        <p:spPr>
          <a:xfrm>
            <a:off x="4590288" y="2788920"/>
            <a:ext cx="301752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Senior residents rotate into facilitator</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Role sign-up grid posted a month ahead</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Faculty priming email goes out automatically</a:t>
            </a:r>
            <a:endParaRPr lang="en-US" sz="1150" dirty="0"/>
          </a:p>
        </p:txBody>
      </p:sp>
      <p:sp>
        <p:nvSpPr>
          <p:cNvPr id="12" name="Shape 10"/>
          <p:cNvSpPr/>
          <p:nvPr/>
        </p:nvSpPr>
        <p:spPr>
          <a:xfrm>
            <a:off x="8065008" y="1828800"/>
            <a:ext cx="3566160" cy="2331720"/>
          </a:xfrm>
          <a:prstGeom prst="roundRect">
            <a:avLst>
              <a:gd name="adj" fmla="val 3137"/>
            </a:avLst>
          </a:prstGeom>
          <a:solidFill>
            <a:srgbClr val="24405E"/>
          </a:solidFill>
          <a:ln w="12700">
            <a:solidFill>
              <a:srgbClr val="24405E"/>
            </a:solidFill>
            <a:prstDash val="solid"/>
          </a:ln>
        </p:spPr>
      </p:sp>
      <p:sp>
        <p:nvSpPr>
          <p:cNvPr id="13" name="Text 11"/>
          <p:cNvSpPr/>
          <p:nvPr/>
        </p:nvSpPr>
        <p:spPr>
          <a:xfrm>
            <a:off x="8339328" y="2011680"/>
            <a:ext cx="301752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Week 8</a:t>
            </a:r>
            <a:endParaRPr lang="en-US" sz="1100" dirty="0"/>
          </a:p>
        </p:txBody>
      </p:sp>
      <p:sp>
        <p:nvSpPr>
          <p:cNvPr id="14" name="Text 12"/>
          <p:cNvSpPr/>
          <p:nvPr/>
        </p:nvSpPr>
        <p:spPr>
          <a:xfrm>
            <a:off x="8339328" y="2286000"/>
            <a:ext cx="301752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Decide</a:t>
            </a:r>
            <a:endParaRPr lang="en-US" sz="2000" dirty="0"/>
          </a:p>
        </p:txBody>
      </p:sp>
      <p:sp>
        <p:nvSpPr>
          <p:cNvPr id="15" name="Text 13"/>
          <p:cNvSpPr/>
          <p:nvPr/>
        </p:nvSpPr>
        <p:spPr>
          <a:xfrm>
            <a:off x="8339328" y="2788920"/>
            <a:ext cx="301752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Review the four metrics below</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Adjust timing blocks, not roles</a:t>
            </a:r>
            <a:endParaRPr lang="en-US" sz="1150" dirty="0"/>
          </a:p>
          <a:p>
            <a:pPr marL="342900" indent="-342900">
              <a:spcAft>
                <a:spcPts val="600"/>
              </a:spcAft>
              <a:buSzPct val="100000"/>
              <a:buChar char="•"/>
            </a:pPr>
            <a:r>
              <a:rPr lang="en-US" sz="1150" dirty="0">
                <a:solidFill>
                  <a:srgbClr val="D7E2EC"/>
                </a:solidFill>
                <a:latin typeface="Calibri" pitchFamily="34" charset="0"/>
                <a:ea typeface="Calibri" pitchFamily="34" charset="-122"/>
                <a:cs typeface="Calibri" pitchFamily="34" charset="-120"/>
              </a:rPr>
              <a:t>Keep, modify, or revert — stated in advance</a:t>
            </a:r>
            <a:endParaRPr lang="en-US" sz="1150" dirty="0"/>
          </a:p>
        </p:txBody>
      </p:sp>
      <p:sp>
        <p:nvSpPr>
          <p:cNvPr id="16" name="Text 14"/>
          <p:cNvSpPr/>
          <p:nvPr/>
        </p:nvSpPr>
        <p:spPr>
          <a:xfrm>
            <a:off x="566928" y="4434840"/>
            <a:ext cx="5486400" cy="365760"/>
          </a:xfrm>
          <a:prstGeom prst="rect">
            <a:avLst/>
          </a:prstGeom>
          <a:noFill/>
          <a:ln/>
        </p:spPr>
        <p:txBody>
          <a:bodyPr wrap="square" lIns="0" tIns="0" rIns="0" bIns="0" rtlCol="0" anchor="ctr"/>
          <a:lstStyle/>
          <a:p>
            <a:pPr indent="0" marL="0">
              <a:buNone/>
            </a:pPr>
            <a:r>
              <a:rPr lang="en-US" sz="1700" b="1" dirty="0">
                <a:solidFill>
                  <a:srgbClr val="E8A33D"/>
                </a:solidFill>
                <a:latin typeface="Cambria" pitchFamily="34" charset="0"/>
                <a:ea typeface="Cambria" pitchFamily="34" charset="-122"/>
                <a:cs typeface="Cambria" pitchFamily="34" charset="-120"/>
              </a:rPr>
              <a:t>What we will measure</a:t>
            </a:r>
            <a:endParaRPr lang="en-US" sz="1700" dirty="0"/>
          </a:p>
        </p:txBody>
      </p:sp>
      <p:sp>
        <p:nvSpPr>
          <p:cNvPr id="17" name="Text 15"/>
          <p:cNvSpPr/>
          <p:nvPr/>
        </p:nvSpPr>
        <p:spPr>
          <a:xfrm>
            <a:off x="566928" y="4892040"/>
            <a:ext cx="2743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 of sessions</a:t>
            </a:r>
            <a:endParaRPr lang="en-US" sz="1900" dirty="0"/>
          </a:p>
        </p:txBody>
      </p:sp>
      <p:sp>
        <p:nvSpPr>
          <p:cNvPr id="18" name="Text 16"/>
          <p:cNvSpPr/>
          <p:nvPr/>
        </p:nvSpPr>
        <p:spPr>
          <a:xfrm>
            <a:off x="566928" y="5257800"/>
            <a:ext cx="2743200" cy="548640"/>
          </a:xfrm>
          <a:prstGeom prst="rect">
            <a:avLst/>
          </a:prstGeom>
          <a:noFill/>
          <a:ln/>
        </p:spPr>
        <p:txBody>
          <a:bodyPr wrap="square" lIns="0" tIns="0" rIns="0" bIns="0" rtlCol="0" anchor="ctr"/>
          <a:lstStyle/>
          <a:p>
            <a:pPr indent="0" marL="0">
              <a:lnSpc>
                <a:spcPts val="1500"/>
              </a:lnSpc>
              <a:buNone/>
            </a:pPr>
            <a:r>
              <a:rPr lang="en-US" sz="1150" dirty="0">
                <a:solidFill>
                  <a:srgbClr val="9FB4C8"/>
                </a:solidFill>
                <a:latin typeface="Calibri" pitchFamily="34" charset="0"/>
                <a:ea typeface="Calibri" pitchFamily="34" charset="-122"/>
                <a:cs typeface="Calibri" pitchFamily="34" charset="-120"/>
              </a:rPr>
              <a:t>with a completed board export</a:t>
            </a:r>
            <a:endParaRPr lang="en-US" sz="1150" dirty="0"/>
          </a:p>
        </p:txBody>
      </p:sp>
      <p:sp>
        <p:nvSpPr>
          <p:cNvPr id="19" name="Text 17"/>
          <p:cNvSpPr/>
          <p:nvPr/>
        </p:nvSpPr>
        <p:spPr>
          <a:xfrm>
            <a:off x="3447288" y="4892040"/>
            <a:ext cx="2743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 unique voices</a:t>
            </a:r>
            <a:endParaRPr lang="en-US" sz="1900" dirty="0"/>
          </a:p>
        </p:txBody>
      </p:sp>
      <p:sp>
        <p:nvSpPr>
          <p:cNvPr id="20" name="Text 18"/>
          <p:cNvSpPr/>
          <p:nvPr/>
        </p:nvSpPr>
        <p:spPr>
          <a:xfrm>
            <a:off x="3447288" y="5257800"/>
            <a:ext cx="2743200" cy="548640"/>
          </a:xfrm>
          <a:prstGeom prst="rect">
            <a:avLst/>
          </a:prstGeom>
          <a:noFill/>
          <a:ln/>
        </p:spPr>
        <p:txBody>
          <a:bodyPr wrap="square" lIns="0" tIns="0" rIns="0" bIns="0" rtlCol="0" anchor="ctr"/>
          <a:lstStyle/>
          <a:p>
            <a:pPr indent="0" marL="0">
              <a:lnSpc>
                <a:spcPts val="1500"/>
              </a:lnSpc>
              <a:buNone/>
            </a:pPr>
            <a:r>
              <a:rPr lang="en-US" sz="1150" dirty="0">
                <a:solidFill>
                  <a:srgbClr val="9FB4C8"/>
                </a:solidFill>
                <a:latin typeface="Calibri" pitchFamily="34" charset="0"/>
                <a:ea typeface="Calibri" pitchFamily="34" charset="-122"/>
                <a:cs typeface="Calibri" pitchFamily="34" charset="-120"/>
              </a:rPr>
              <a:t>heard per session</a:t>
            </a:r>
            <a:endParaRPr lang="en-US" sz="1150" dirty="0"/>
          </a:p>
        </p:txBody>
      </p:sp>
      <p:sp>
        <p:nvSpPr>
          <p:cNvPr id="21" name="Text 19"/>
          <p:cNvSpPr/>
          <p:nvPr/>
        </p:nvSpPr>
        <p:spPr>
          <a:xfrm>
            <a:off x="6327648" y="4892040"/>
            <a:ext cx="2743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Minutes</a:t>
            </a:r>
            <a:endParaRPr lang="en-US" sz="1900" dirty="0"/>
          </a:p>
        </p:txBody>
      </p:sp>
      <p:sp>
        <p:nvSpPr>
          <p:cNvPr id="22" name="Text 20"/>
          <p:cNvSpPr/>
          <p:nvPr/>
        </p:nvSpPr>
        <p:spPr>
          <a:xfrm>
            <a:off x="6327648" y="5257800"/>
            <a:ext cx="2743200" cy="548640"/>
          </a:xfrm>
          <a:prstGeom prst="rect">
            <a:avLst/>
          </a:prstGeom>
          <a:noFill/>
          <a:ln/>
        </p:spPr>
        <p:txBody>
          <a:bodyPr wrap="square" lIns="0" tIns="0" rIns="0" bIns="0" rtlCol="0" anchor="ctr"/>
          <a:lstStyle/>
          <a:p>
            <a:pPr indent="0" marL="0">
              <a:lnSpc>
                <a:spcPts val="1500"/>
              </a:lnSpc>
              <a:buNone/>
            </a:pPr>
            <a:r>
              <a:rPr lang="en-US" sz="1150" dirty="0">
                <a:solidFill>
                  <a:srgbClr val="9FB4C8"/>
                </a:solidFill>
                <a:latin typeface="Calibri" pitchFamily="34" charset="0"/>
                <a:ea typeface="Calibri" pitchFamily="34" charset="-122"/>
                <a:cs typeface="Calibri" pitchFamily="34" charset="-120"/>
              </a:rPr>
              <a:t>before first faculty comment</a:t>
            </a:r>
            <a:endParaRPr lang="en-US" sz="1150" dirty="0"/>
          </a:p>
        </p:txBody>
      </p:sp>
      <p:sp>
        <p:nvSpPr>
          <p:cNvPr id="23" name="Text 21"/>
          <p:cNvSpPr/>
          <p:nvPr/>
        </p:nvSpPr>
        <p:spPr>
          <a:xfrm>
            <a:off x="9208008" y="4892040"/>
            <a:ext cx="2743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Resident rating</a:t>
            </a:r>
            <a:endParaRPr lang="en-US" sz="1900" dirty="0"/>
          </a:p>
        </p:txBody>
      </p:sp>
      <p:sp>
        <p:nvSpPr>
          <p:cNvPr id="24" name="Text 22"/>
          <p:cNvSpPr/>
          <p:nvPr/>
        </p:nvSpPr>
        <p:spPr>
          <a:xfrm>
            <a:off x="9208008" y="5257800"/>
            <a:ext cx="2743200" cy="548640"/>
          </a:xfrm>
          <a:prstGeom prst="rect">
            <a:avLst/>
          </a:prstGeom>
          <a:noFill/>
          <a:ln/>
        </p:spPr>
        <p:txBody>
          <a:bodyPr wrap="square" lIns="0" tIns="0" rIns="0" bIns="0" rtlCol="0" anchor="ctr"/>
          <a:lstStyle/>
          <a:p>
            <a:pPr indent="0" marL="0">
              <a:lnSpc>
                <a:spcPts val="1500"/>
              </a:lnSpc>
              <a:buNone/>
            </a:pPr>
            <a:r>
              <a:rPr lang="en-US" sz="1150" dirty="0">
                <a:solidFill>
                  <a:srgbClr val="9FB4C8"/>
                </a:solidFill>
                <a:latin typeface="Calibri" pitchFamily="34" charset="0"/>
                <a:ea typeface="Calibri" pitchFamily="34" charset="-122"/>
                <a:cs typeface="Calibri" pitchFamily="34" charset="-120"/>
              </a:rPr>
              <a:t>3-item post-session pulse</a:t>
            </a:r>
            <a:endParaRPr lang="en-US" sz="1150" dirty="0"/>
          </a:p>
        </p:txBody>
      </p:sp>
      <p:sp>
        <p:nvSpPr>
          <p:cNvPr id="25" name="Text 23"/>
          <p:cNvSpPr/>
          <p:nvPr/>
        </p:nvSpPr>
        <p:spPr>
          <a:xfrm>
            <a:off x="566928" y="6172200"/>
            <a:ext cx="11055096" cy="320040"/>
          </a:xfrm>
          <a:prstGeom prst="rect">
            <a:avLst/>
          </a:prstGeom>
          <a:noFill/>
          <a:ln/>
        </p:spPr>
        <p:txBody>
          <a:bodyPr wrap="square" lIns="0" tIns="0" rIns="0" bIns="0" rtlCol="0" anchor="ctr"/>
          <a:lstStyle/>
          <a:p>
            <a:pPr indent="0" marL="0">
              <a:buNone/>
            </a:pPr>
            <a:r>
              <a:rPr lang="en-US" sz="950" dirty="0">
                <a:solidFill>
                  <a:srgbClr val="6F8399"/>
                </a:solidFill>
                <a:latin typeface="Calibri" pitchFamily="34" charset="0"/>
                <a:ea typeface="Calibri" pitchFamily="34" charset="-122"/>
                <a:cs typeface="Calibri" pitchFamily="34" charset="-120"/>
              </a:rPr>
              <a:t>Elisseou S, Holt SR. Effective Strategies for Planning and Facilitating Morning Report. J Grad Med Educ. 2022;14(3):260-264. doi:10.4300/JGME-D-21-01084.1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2026-08-18T05:38:55Z</dcterms:created>
  <dcterms:modified xsi:type="dcterms:W3CDTF">2026-08-18T05:38:55Z</dcterms:modified>
</cp:coreProperties>
</file>